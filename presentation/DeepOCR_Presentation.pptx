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1F2CF65-7668-18BE-F6DA-AAB9B76C976B}">
          <p14:sldIdLst>
            <p14:sldId id="256"/>
            <p14:sldId id="257"/>
            <p14:sldId id="258"/>
          </p14:sldIdLst>
        </p14:section>
        <p14:section name="System" id="{49BA8AD3-D3B7-C0D0-EFA9-59A775DF463D}">
          <p14:sldIdLst>
            <p14:sldId id="259"/>
            <p14:sldId id="260"/>
            <p14:sldId id="261"/>
          </p14:sldIdLst>
        </p14:section>
        <p14:section name="Models" id="{9E6DC98F-9AFB-4EAC-D6D7-16A635C09E6A}">
          <p14:sldIdLst>
            <p14:sldId id="262"/>
            <p14:sldId id="263"/>
          </p14:sldIdLst>
        </p14:section>
        <p14:section name="Consensus" id="{F2B7AC40-F022-51D5-0053-3CFDA3ADA7EA}">
          <p14:sldIdLst>
            <p14:sldId id="264"/>
          </p14:sldIdLst>
        </p14:section>
        <p14:section name="Results" id="{B437ACE6-1857-311B-D223-701DE920E26D}">
          <p14:sldIdLst>
            <p14:sldId id="265"/>
            <p14:sldId id="266"/>
            <p14:sldId id="267"/>
          </p14:sldIdLst>
        </p14:section>
        <p14:section name="Application" id="{2B42C9CE-3FD7-E59B-69D8-5DF4F9043702}">
          <p14:sldIdLst>
            <p14:sldId id="268"/>
            <p14:sldId id="269"/>
          </p14:sldIdLst>
        </p14:section>
        <p14:section name="Conclusion" id="{F1FDA12C-739F-E878-1376-FF845EF4EF48}">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01828"/>
                </a:solidFill>
                <a:latin typeface="+mn-lt"/>
              </a:defRPr>
            </a:pPr>
            <a:r>
              <a:rPr sz="1300" b="0" i="0" u="none" strike="noStrike">
                <a:solidFill>
                  <a:srgbClr val="101828"/>
                </a:solidFill>
                <a:latin typeface="+mn-lt"/>
              </a:rPr>
              <a:t>Validation CER (%) per epoch</a:t>
            </a:r>
          </a:p>
        </c:rich>
      </c:tx>
      <c:overlay val="0"/>
    </c:title>
    <c:autoTitleDeleted val="0"/>
    <c:plotArea>
      <c:layout/>
      <c:lineChart>
        <c:grouping val="standard"/>
        <c:varyColors val="0"/>
        <c:ser>
          <c:idx val="0"/>
          <c:order val="0"/>
          <c:tx>
            <c:strRef>
              <c:f>Sheet1!$B$1</c:f>
              <c:strCache>
                <c:ptCount val="1"/>
                <c:pt idx="0">
                  <c:v>CNN-BiLSTM</c:v>
                </c:pt>
              </c:strCache>
            </c:strRef>
          </c:tx>
          <c:spPr>
            <a:ln w="31750" cap="flat">
              <a:solidFill>
                <a:srgbClr val="0BA5EC"/>
              </a:solidFill>
              <a:prstDash val="solid"/>
              <a:round/>
            </a:ln>
            <a:effectLst/>
          </c:spPr>
          <c:marker>
            <c:symbol val="circle"/>
            <c:size val="6"/>
            <c:spPr>
              <a:solidFill>
                <a:srgbClr val="0BA5EC"/>
              </a:solidFill>
              <a:ln w="9525" cap="flat">
                <a:solidFill>
                  <a:srgbClr val="0BA5EC"/>
                </a:solidFill>
                <a:prstDash val="solid"/>
                <a:round/>
              </a:ln>
              <a:effectLst/>
            </c:spPr>
          </c:marker>
          <c:cat>
            <c:strRef>
              <c:f>Sheet1!$A$2:$A$12</c:f>
              <c:strCache>
                <c:ptCount val="11"/>
                <c:pt idx="0">
                  <c:v>1</c:v>
                </c:pt>
                <c:pt idx="1">
                  <c:v>2</c:v>
                </c:pt>
                <c:pt idx="2">
                  <c:v>3</c:v>
                </c:pt>
                <c:pt idx="3">
                  <c:v>4</c:v>
                </c:pt>
                <c:pt idx="4">
                  <c:v>5</c:v>
                </c:pt>
                <c:pt idx="5">
                  <c:v>6</c:v>
                </c:pt>
                <c:pt idx="6">
                  <c:v>7</c:v>
                </c:pt>
                <c:pt idx="7">
                  <c:v>8</c:v>
                </c:pt>
                <c:pt idx="8">
                  <c:v>9</c:v>
                </c:pt>
                <c:pt idx="9">
                  <c:v>10</c:v>
                </c:pt>
                <c:pt idx="10">
                  <c:v>11</c:v>
                </c:pt>
              </c:strCache>
            </c:strRef>
          </c:cat>
          <c:val>
            <c:numRef>
              <c:f>Sheet1!$B$2:$B$12</c:f>
              <c:numCache>
                <c:formatCode>General</c:formatCode>
                <c:ptCount val="11"/>
                <c:pt idx="0">
                  <c:v>78.2</c:v>
                </c:pt>
                <c:pt idx="1">
                  <c:v>32.200000000000003</c:v>
                </c:pt>
                <c:pt idx="2">
                  <c:v>22</c:v>
                </c:pt>
                <c:pt idx="3">
                  <c:v>20.2</c:v>
                </c:pt>
                <c:pt idx="4">
                  <c:v>17.7</c:v>
                </c:pt>
                <c:pt idx="5">
                  <c:v>16.2</c:v>
                </c:pt>
                <c:pt idx="6">
                  <c:v>12.9</c:v>
                </c:pt>
                <c:pt idx="7">
                  <c:v>12.4</c:v>
                </c:pt>
                <c:pt idx="8">
                  <c:v>12.7</c:v>
                </c:pt>
                <c:pt idx="9">
                  <c:v>12</c:v>
                </c:pt>
                <c:pt idx="10">
                  <c:v>11.8</c:v>
                </c:pt>
              </c:numCache>
            </c:numRef>
          </c:val>
          <c:smooth val="0"/>
          <c:extLst>
            <c:ext xmlns:c16="http://schemas.microsoft.com/office/drawing/2014/chart" uri="{C3380CC4-5D6E-409C-BE32-E72D297353CC}">
              <c16:uniqueId val="{00000000-66CF-4F4D-86B2-8F31959E7918}"/>
            </c:ext>
          </c:extLst>
        </c:ser>
        <c:ser>
          <c:idx val="1"/>
          <c:order val="1"/>
          <c:tx>
            <c:strRef>
              <c:f>Sheet1!$C$1</c:f>
              <c:strCache>
                <c:ptCount val="1"/>
                <c:pt idx="0">
                  <c:v>CRNN</c:v>
                </c:pt>
              </c:strCache>
            </c:strRef>
          </c:tx>
          <c:spPr>
            <a:ln w="31750" cap="flat">
              <a:solidFill>
                <a:srgbClr val="7A5AF8"/>
              </a:solidFill>
              <a:prstDash val="solid"/>
              <a:round/>
            </a:ln>
            <a:effectLst/>
          </c:spPr>
          <c:marker>
            <c:symbol val="circle"/>
            <c:size val="6"/>
            <c:spPr>
              <a:solidFill>
                <a:srgbClr val="7A5AF8"/>
              </a:solidFill>
              <a:ln w="9525" cap="flat">
                <a:solidFill>
                  <a:srgbClr val="7A5AF8"/>
                </a:solidFill>
                <a:prstDash val="solid"/>
                <a:round/>
              </a:ln>
              <a:effectLst/>
            </c:spPr>
          </c:marker>
          <c:cat>
            <c:strRef>
              <c:f>Sheet1!$A$2:$A$12</c:f>
              <c:strCache>
                <c:ptCount val="11"/>
                <c:pt idx="0">
                  <c:v>1</c:v>
                </c:pt>
                <c:pt idx="1">
                  <c:v>2</c:v>
                </c:pt>
                <c:pt idx="2">
                  <c:v>3</c:v>
                </c:pt>
                <c:pt idx="3">
                  <c:v>4</c:v>
                </c:pt>
                <c:pt idx="4">
                  <c:v>5</c:v>
                </c:pt>
                <c:pt idx="5">
                  <c:v>6</c:v>
                </c:pt>
                <c:pt idx="6">
                  <c:v>7</c:v>
                </c:pt>
                <c:pt idx="7">
                  <c:v>8</c:v>
                </c:pt>
                <c:pt idx="8">
                  <c:v>9</c:v>
                </c:pt>
                <c:pt idx="9">
                  <c:v>10</c:v>
                </c:pt>
                <c:pt idx="10">
                  <c:v>11</c:v>
                </c:pt>
              </c:strCache>
            </c:strRef>
          </c:cat>
          <c:val>
            <c:numRef>
              <c:f>Sheet1!$C$2:$C$12</c:f>
              <c:numCache>
                <c:formatCode>General</c:formatCode>
                <c:ptCount val="11"/>
                <c:pt idx="0">
                  <c:v>85.9</c:v>
                </c:pt>
                <c:pt idx="1">
                  <c:v>51.2</c:v>
                </c:pt>
                <c:pt idx="2">
                  <c:v>29.1</c:v>
                </c:pt>
                <c:pt idx="3">
                  <c:v>19.600000000000001</c:v>
                </c:pt>
                <c:pt idx="4">
                  <c:v>16.600000000000001</c:v>
                </c:pt>
                <c:pt idx="5">
                  <c:v>15</c:v>
                </c:pt>
                <c:pt idx="6">
                  <c:v>13.8</c:v>
                </c:pt>
                <c:pt idx="7">
                  <c:v>12.2</c:v>
                </c:pt>
                <c:pt idx="8">
                  <c:v>12.4</c:v>
                </c:pt>
              </c:numCache>
            </c:numRef>
          </c:val>
          <c:smooth val="0"/>
          <c:extLst>
            <c:ext xmlns:c16="http://schemas.microsoft.com/office/drawing/2014/chart" uri="{C3380CC4-5D6E-409C-BE32-E72D297353CC}">
              <c16:uniqueId val="{00000001-66CF-4F4D-86B2-8F31959E791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67085"/>
                    </a:solidFill>
                    <a:latin typeface="Arial"/>
                  </a:defRPr>
                </a:pPr>
                <a:r>
                  <a:rPr sz="1100" b="0" i="0" u="none" strike="noStrike">
                    <a:solidFill>
                      <a:srgbClr val="667085"/>
                    </a:solidFill>
                    <a:latin typeface="Arial"/>
                  </a:rPr>
                  <a:t>Epoch</a:t>
                </a:r>
              </a:p>
            </c:rich>
          </c:tx>
          <c:overlay val="0"/>
        </c:title>
        <c:numFmt formatCode="General" sourceLinked="1"/>
        <c:majorTickMark val="out"/>
        <c:minorTickMark val="none"/>
        <c:tickLblPos val="low"/>
        <c:spPr>
          <a:ln w="12700" cap="flat">
            <a:noFill/>
            <a:prstDash val="solid"/>
            <a:round/>
          </a:ln>
        </c:spPr>
        <c:txPr>
          <a:bodyPr/>
          <a:lstStyle/>
          <a:p>
            <a:pPr>
              <a:defRPr sz="1100" b="0" i="0" u="none" strike="noStrike">
                <a:solidFill>
                  <a:srgbClr val="667085"/>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4E7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67085"/>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47546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01828"/>
                </a:solidFill>
                <a:latin typeface="+mn-lt"/>
              </a:defRPr>
            </a:pPr>
            <a:r>
              <a:rPr sz="1300" b="0" i="0" u="none" strike="noStrike">
                <a:solidFill>
                  <a:srgbClr val="101828"/>
                </a:solidFill>
                <a:latin typeface="+mn-lt"/>
              </a:rPr>
              <a:t>TrOCR validation CER (%) by step</a:t>
            </a:r>
          </a:p>
        </c:rich>
      </c:tx>
      <c:overlay val="0"/>
    </c:title>
    <c:autoTitleDeleted val="0"/>
    <c:plotArea>
      <c:layout/>
      <c:lineChart>
        <c:grouping val="standard"/>
        <c:varyColors val="0"/>
        <c:ser>
          <c:idx val="0"/>
          <c:order val="0"/>
          <c:tx>
            <c:strRef>
              <c:f>Sheet1!$B$1</c:f>
              <c:strCache>
                <c:ptCount val="1"/>
                <c:pt idx="0">
                  <c:v>Printed &amp; degraded</c:v>
                </c:pt>
              </c:strCache>
            </c:strRef>
          </c:tx>
          <c:spPr>
            <a:ln w="31750" cap="flat">
              <a:solidFill>
                <a:srgbClr val="F79009"/>
              </a:solidFill>
              <a:prstDash val="solid"/>
              <a:round/>
            </a:ln>
            <a:effectLst/>
          </c:spPr>
          <c:marker>
            <c:symbol val="circle"/>
            <c:size val="6"/>
            <c:spPr>
              <a:solidFill>
                <a:srgbClr val="F79009"/>
              </a:solidFill>
              <a:ln w="9525" cap="flat">
                <a:solidFill>
                  <a:srgbClr val="F79009"/>
                </a:solidFill>
                <a:prstDash val="solid"/>
                <a:round/>
              </a:ln>
              <a:effectLst/>
            </c:spPr>
          </c:marker>
          <c:cat>
            <c:strRef>
              <c:f>Sheet1!$A$2:$A$6</c:f>
              <c:strCache>
                <c:ptCount val="5"/>
                <c:pt idx="0">
                  <c:v>0</c:v>
                </c:pt>
                <c:pt idx="1">
                  <c:v>75</c:v>
                </c:pt>
                <c:pt idx="2">
                  <c:v>150</c:v>
                </c:pt>
                <c:pt idx="3">
                  <c:v>225</c:v>
                </c:pt>
                <c:pt idx="4">
                  <c:v>300</c:v>
                </c:pt>
              </c:strCache>
            </c:strRef>
          </c:cat>
          <c:val>
            <c:numRef>
              <c:f>Sheet1!$B$2:$B$6</c:f>
              <c:numCache>
                <c:formatCode>General</c:formatCode>
                <c:ptCount val="5"/>
                <c:pt idx="0">
                  <c:v>23</c:v>
                </c:pt>
                <c:pt idx="1">
                  <c:v>3.7</c:v>
                </c:pt>
                <c:pt idx="2">
                  <c:v>3.3</c:v>
                </c:pt>
                <c:pt idx="3">
                  <c:v>4</c:v>
                </c:pt>
                <c:pt idx="4">
                  <c:v>2.5</c:v>
                </c:pt>
              </c:numCache>
            </c:numRef>
          </c:val>
          <c:smooth val="0"/>
          <c:extLst>
            <c:ext xmlns:c16="http://schemas.microsoft.com/office/drawing/2014/chart" uri="{C3380CC4-5D6E-409C-BE32-E72D297353CC}">
              <c16:uniqueId val="{00000000-C466-47CD-8626-BBBF236E25AC}"/>
            </c:ext>
          </c:extLst>
        </c:ser>
        <c:ser>
          <c:idx val="1"/>
          <c:order val="1"/>
          <c:tx>
            <c:strRef>
              <c:f>Sheet1!$C$1</c:f>
              <c:strCache>
                <c:ptCount val="1"/>
                <c:pt idx="0">
                  <c:v>Handwriting</c:v>
                </c:pt>
              </c:strCache>
            </c:strRef>
          </c:tx>
          <c:spPr>
            <a:ln w="31750" cap="flat">
              <a:solidFill>
                <a:srgbClr val="16B364"/>
              </a:solidFill>
              <a:prstDash val="solid"/>
              <a:round/>
            </a:ln>
            <a:effectLst/>
          </c:spPr>
          <c:marker>
            <c:symbol val="circle"/>
            <c:size val="6"/>
            <c:spPr>
              <a:solidFill>
                <a:srgbClr val="16B364"/>
              </a:solidFill>
              <a:ln w="9525" cap="flat">
                <a:solidFill>
                  <a:srgbClr val="16B364"/>
                </a:solidFill>
                <a:prstDash val="solid"/>
                <a:round/>
              </a:ln>
              <a:effectLst/>
            </c:spPr>
          </c:marker>
          <c:cat>
            <c:strRef>
              <c:f>Sheet1!$A$2:$A$6</c:f>
              <c:strCache>
                <c:ptCount val="5"/>
                <c:pt idx="0">
                  <c:v>0</c:v>
                </c:pt>
                <c:pt idx="1">
                  <c:v>75</c:v>
                </c:pt>
                <c:pt idx="2">
                  <c:v>150</c:v>
                </c:pt>
                <c:pt idx="3">
                  <c:v>225</c:v>
                </c:pt>
                <c:pt idx="4">
                  <c:v>300</c:v>
                </c:pt>
              </c:strCache>
            </c:strRef>
          </c:cat>
          <c:val>
            <c:numRef>
              <c:f>Sheet1!$C$2:$C$6</c:f>
              <c:numCache>
                <c:formatCode>General</c:formatCode>
                <c:ptCount val="5"/>
                <c:pt idx="0">
                  <c:v>3.3</c:v>
                </c:pt>
                <c:pt idx="1">
                  <c:v>7.4</c:v>
                </c:pt>
                <c:pt idx="2">
                  <c:v>6.5</c:v>
                </c:pt>
                <c:pt idx="3">
                  <c:v>4.4000000000000004</c:v>
                </c:pt>
                <c:pt idx="4">
                  <c:v>4.3</c:v>
                </c:pt>
              </c:numCache>
            </c:numRef>
          </c:val>
          <c:smooth val="0"/>
          <c:extLst>
            <c:ext xmlns:c16="http://schemas.microsoft.com/office/drawing/2014/chart" uri="{C3380CC4-5D6E-409C-BE32-E72D297353CC}">
              <c16:uniqueId val="{00000001-C466-47CD-8626-BBBF236E25A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67085"/>
                </a:solidFill>
                <a:latin typeface="+mn-lt"/>
              </a:defRPr>
            </a:pPr>
            <a:endParaRPr lang="en-US"/>
          </a:p>
        </c:txPr>
        <c:crossAx val="2094734552"/>
        <c:crosses val="autoZero"/>
        <c:auto val="1"/>
        <c:lblAlgn val="ctr"/>
        <c:lblOffset val="100"/>
        <c:noMultiLvlLbl val="1"/>
      </c:catAx>
      <c:valAx>
        <c:axId val="2094734552"/>
        <c:scaling>
          <c:orientation val="minMax"/>
          <c:max val="25"/>
          <c:min val="0"/>
        </c:scaling>
        <c:delete val="0"/>
        <c:axPos val="l"/>
        <c:majorGridlines>
          <c:spPr>
            <a:ln w="9525" cap="flat">
              <a:solidFill>
                <a:srgbClr val="E4E7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67085"/>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47546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01828"/>
                </a:solidFill>
                <a:latin typeface="+mn-lt"/>
              </a:defRPr>
            </a:pPr>
            <a:r>
              <a:rPr sz="1300" b="0" i="0" u="none" strike="noStrike">
                <a:solidFill>
                  <a:srgbClr val="101828"/>
                </a:solidFill>
                <a:latin typeface="+mn-lt"/>
              </a:rPr>
              <a:t>Character error rate by engine (lower is better)</a:t>
            </a:r>
          </a:p>
        </c:rich>
      </c:tx>
      <c:overlay val="0"/>
    </c:title>
    <c:autoTitleDeleted val="0"/>
    <c:plotArea>
      <c:layout/>
      <c:barChart>
        <c:barDir val="bar"/>
        <c:grouping val="clustered"/>
        <c:varyColors val="0"/>
        <c:ser>
          <c:idx val="0"/>
          <c:order val="0"/>
          <c:tx>
            <c:strRef>
              <c:f>Sheet1!$B$1</c:f>
              <c:strCache>
                <c:ptCount val="1"/>
                <c:pt idx="0">
                  <c:v>Handwriting CER (%)</c:v>
                </c:pt>
              </c:strCache>
            </c:strRef>
          </c:tx>
          <c:spPr>
            <a:solidFill>
              <a:srgbClr val="4F46E5"/>
            </a:solidFill>
            <a:effectLst/>
          </c:spPr>
          <c:invertIfNegative val="0"/>
          <c:dLbls>
            <c:numFmt formatCode="0.0" sourceLinked="0"/>
            <c:spPr>
              <a:noFill/>
              <a:ln>
                <a:noFill/>
              </a:ln>
              <a:effectLst/>
            </c:spPr>
            <c:txPr>
              <a:bodyPr/>
              <a:lstStyle/>
              <a:p>
                <a:pPr>
                  <a:defRPr sz="1000" b="0" i="0" u="none" strike="noStrike">
                    <a:solidFill>
                      <a:srgbClr val="34405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Consensus vote</c:v>
                </c:pt>
                <c:pt idx="1">
                  <c:v>TrOCR (fine-tuned)</c:v>
                </c:pt>
                <c:pt idx="2">
                  <c:v>TrOCR (pretrained)</c:v>
                </c:pt>
                <c:pt idx="3">
                  <c:v>CRNN</c:v>
                </c:pt>
                <c:pt idx="4">
                  <c:v>CNN-BiLSTM</c:v>
                </c:pt>
                <c:pt idx="5">
                  <c:v>PaddleOCR</c:v>
                </c:pt>
              </c:strCache>
            </c:strRef>
          </c:cat>
          <c:val>
            <c:numRef>
              <c:f>Sheet1!$B$2:$B$7</c:f>
              <c:numCache>
                <c:formatCode>General</c:formatCode>
                <c:ptCount val="6"/>
                <c:pt idx="0">
                  <c:v>5.7</c:v>
                </c:pt>
                <c:pt idx="1">
                  <c:v>6.7</c:v>
                </c:pt>
                <c:pt idx="2">
                  <c:v>7</c:v>
                </c:pt>
                <c:pt idx="3">
                  <c:v>21.7</c:v>
                </c:pt>
                <c:pt idx="4">
                  <c:v>21.8</c:v>
                </c:pt>
                <c:pt idx="5">
                  <c:v>28.8</c:v>
                </c:pt>
              </c:numCache>
            </c:numRef>
          </c:val>
          <c:extLst>
            <c:ext xmlns:c16="http://schemas.microsoft.com/office/drawing/2014/chart" uri="{C3380CC4-5D6E-409C-BE32-E72D297353CC}">
              <c16:uniqueId val="{00000000-CDEA-4A1C-8E85-3B900368524F}"/>
            </c:ext>
          </c:extLst>
        </c:ser>
        <c:ser>
          <c:idx val="1"/>
          <c:order val="1"/>
          <c:tx>
            <c:strRef>
              <c:f>Sheet1!$C$1</c:f>
              <c:strCache>
                <c:ptCount val="1"/>
                <c:pt idx="0">
                  <c:v>Printed CER (%)</c:v>
                </c:pt>
              </c:strCache>
            </c:strRef>
          </c:tx>
          <c:spPr>
            <a:solidFill>
              <a:srgbClr val="F79009"/>
            </a:solidFill>
            <a:effectLst/>
          </c:spPr>
          <c:invertIfNegative val="0"/>
          <c:dLbls>
            <c:numFmt formatCode="0.0" sourceLinked="0"/>
            <c:spPr>
              <a:noFill/>
              <a:ln>
                <a:noFill/>
              </a:ln>
              <a:effectLst/>
            </c:spPr>
            <c:txPr>
              <a:bodyPr/>
              <a:lstStyle/>
              <a:p>
                <a:pPr>
                  <a:defRPr sz="1000" b="0" i="0" u="none" strike="noStrike">
                    <a:solidFill>
                      <a:srgbClr val="34405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Consensus vote</c:v>
                </c:pt>
                <c:pt idx="1">
                  <c:v>TrOCR (fine-tuned)</c:v>
                </c:pt>
                <c:pt idx="2">
                  <c:v>TrOCR (pretrained)</c:v>
                </c:pt>
                <c:pt idx="3">
                  <c:v>CRNN</c:v>
                </c:pt>
                <c:pt idx="4">
                  <c:v>CNN-BiLSTM</c:v>
                </c:pt>
                <c:pt idx="5">
                  <c:v>PaddleOCR</c:v>
                </c:pt>
              </c:strCache>
            </c:strRef>
          </c:cat>
          <c:val>
            <c:numRef>
              <c:f>Sheet1!$C$2:$C$7</c:f>
              <c:numCache>
                <c:formatCode>General</c:formatCode>
                <c:ptCount val="6"/>
                <c:pt idx="0">
                  <c:v>2.2999999999999998</c:v>
                </c:pt>
                <c:pt idx="1">
                  <c:v>2.6</c:v>
                </c:pt>
                <c:pt idx="2">
                  <c:v>20.399999999999999</c:v>
                </c:pt>
                <c:pt idx="3">
                  <c:v>5.3</c:v>
                </c:pt>
                <c:pt idx="4">
                  <c:v>4.8</c:v>
                </c:pt>
                <c:pt idx="5">
                  <c:v>3.9</c:v>
                </c:pt>
              </c:numCache>
            </c:numRef>
          </c:val>
          <c:extLst>
            <c:ext xmlns:c16="http://schemas.microsoft.com/office/drawing/2014/chart" uri="{C3380CC4-5D6E-409C-BE32-E72D297353CC}">
              <c16:uniqueId val="{00000001-CDEA-4A1C-8E85-3B900368524F}"/>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01828"/>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solidFill>
                <a:srgbClr val="47546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Best single model</c:v>
                </c:pt>
              </c:strCache>
            </c:strRef>
          </c:tx>
          <c:spPr>
            <a:solidFill>
              <a:srgbClr val="98A2B3"/>
            </a:solidFill>
            <a:effectLst/>
          </c:spPr>
          <c:invertIfNegative val="0"/>
          <c:dLbls>
            <c:numFmt formatCode="0.0" sourceLinked="0"/>
            <c:spPr>
              <a:noFill/>
              <a:ln>
                <a:noFill/>
              </a:ln>
              <a:effectLst/>
            </c:spPr>
            <c:txPr>
              <a:bodyPr/>
              <a:lstStyle/>
              <a:p>
                <a:pPr>
                  <a:defRPr sz="1000" b="0" i="0" u="none" strike="noStrike">
                    <a:solidFill>
                      <a:srgbClr val="34405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Handwriting CER</c:v>
                </c:pt>
                <c:pt idx="1">
                  <c:v>Handwriting WER</c:v>
                </c:pt>
                <c:pt idx="2">
                  <c:v>Print CER</c:v>
                </c:pt>
                <c:pt idx="3">
                  <c:v>Print WER</c:v>
                </c:pt>
              </c:strCache>
            </c:strRef>
          </c:cat>
          <c:val>
            <c:numRef>
              <c:f>Sheet1!$B$2:$B$5</c:f>
              <c:numCache>
                <c:formatCode>General</c:formatCode>
                <c:ptCount val="4"/>
                <c:pt idx="0">
                  <c:v>6.7</c:v>
                </c:pt>
                <c:pt idx="1">
                  <c:v>16.8</c:v>
                </c:pt>
                <c:pt idx="2">
                  <c:v>2.6</c:v>
                </c:pt>
                <c:pt idx="3">
                  <c:v>10.8</c:v>
                </c:pt>
              </c:numCache>
            </c:numRef>
          </c:val>
          <c:extLst>
            <c:ext xmlns:c16="http://schemas.microsoft.com/office/drawing/2014/chart" uri="{C3380CC4-5D6E-409C-BE32-E72D297353CC}">
              <c16:uniqueId val="{00000000-127C-4396-B058-4288A00F917D}"/>
            </c:ext>
          </c:extLst>
        </c:ser>
        <c:ser>
          <c:idx val="1"/>
          <c:order val="1"/>
          <c:tx>
            <c:strRef>
              <c:f>Sheet1!$C$1</c:f>
              <c:strCache>
                <c:ptCount val="1"/>
                <c:pt idx="0">
                  <c:v>Consensus vote</c:v>
                </c:pt>
              </c:strCache>
            </c:strRef>
          </c:tx>
          <c:spPr>
            <a:solidFill>
              <a:srgbClr val="4F46E5"/>
            </a:solidFill>
            <a:effectLst/>
          </c:spPr>
          <c:invertIfNegative val="0"/>
          <c:dLbls>
            <c:numFmt formatCode="0.0" sourceLinked="0"/>
            <c:spPr>
              <a:noFill/>
              <a:ln>
                <a:noFill/>
              </a:ln>
              <a:effectLst/>
            </c:spPr>
            <c:txPr>
              <a:bodyPr/>
              <a:lstStyle/>
              <a:p>
                <a:pPr>
                  <a:defRPr sz="1000" b="0" i="0" u="none" strike="noStrike">
                    <a:solidFill>
                      <a:srgbClr val="34405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Handwriting CER</c:v>
                </c:pt>
                <c:pt idx="1">
                  <c:v>Handwriting WER</c:v>
                </c:pt>
                <c:pt idx="2">
                  <c:v>Print CER</c:v>
                </c:pt>
                <c:pt idx="3">
                  <c:v>Print WER</c:v>
                </c:pt>
              </c:strCache>
            </c:strRef>
          </c:cat>
          <c:val>
            <c:numRef>
              <c:f>Sheet1!$C$2:$C$5</c:f>
              <c:numCache>
                <c:formatCode>General</c:formatCode>
                <c:ptCount val="4"/>
                <c:pt idx="0">
                  <c:v>5.7</c:v>
                </c:pt>
                <c:pt idx="1">
                  <c:v>14.2</c:v>
                </c:pt>
                <c:pt idx="2">
                  <c:v>2.2999999999999998</c:v>
                </c:pt>
                <c:pt idx="3">
                  <c:v>5.9</c:v>
                </c:pt>
              </c:numCache>
            </c:numRef>
          </c:val>
          <c:extLst>
            <c:ext xmlns:c16="http://schemas.microsoft.com/office/drawing/2014/chart" uri="{C3380CC4-5D6E-409C-BE32-E72D297353CC}">
              <c16:uniqueId val="{00000001-127C-4396-B058-4288A00F917D}"/>
            </c:ext>
          </c:extLst>
        </c:ser>
        <c:ser>
          <c:idx val="2"/>
          <c:order val="2"/>
          <c:tx>
            <c:strRef>
              <c:f>Sheet1!$D$1</c:f>
              <c:strCache>
                <c:ptCount val="1"/>
                <c:pt idx="0">
                  <c:v>Oracle ceiling</c:v>
                </c:pt>
              </c:strCache>
            </c:strRef>
          </c:tx>
          <c:spPr>
            <a:solidFill>
              <a:srgbClr val="D0D5DD"/>
            </a:solidFill>
            <a:effectLst/>
          </c:spPr>
          <c:invertIfNegative val="0"/>
          <c:dLbls>
            <c:numFmt formatCode="0.0" sourceLinked="0"/>
            <c:spPr>
              <a:noFill/>
              <a:ln>
                <a:noFill/>
              </a:ln>
              <a:effectLst/>
            </c:spPr>
            <c:txPr>
              <a:bodyPr/>
              <a:lstStyle/>
              <a:p>
                <a:pPr>
                  <a:defRPr sz="1000" b="0" i="0" u="none" strike="noStrike">
                    <a:solidFill>
                      <a:srgbClr val="34405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Handwriting CER</c:v>
                </c:pt>
                <c:pt idx="1">
                  <c:v>Handwriting WER</c:v>
                </c:pt>
                <c:pt idx="2">
                  <c:v>Print CER</c:v>
                </c:pt>
                <c:pt idx="3">
                  <c:v>Print WER</c:v>
                </c:pt>
              </c:strCache>
            </c:strRef>
          </c:cat>
          <c:val>
            <c:numRef>
              <c:f>Sheet1!$D$2:$D$5</c:f>
              <c:numCache>
                <c:formatCode>General</c:formatCode>
                <c:ptCount val="4"/>
                <c:pt idx="0">
                  <c:v>4.3</c:v>
                </c:pt>
                <c:pt idx="1">
                  <c:v>12.2</c:v>
                </c:pt>
                <c:pt idx="2">
                  <c:v>0.5</c:v>
                </c:pt>
                <c:pt idx="3">
                  <c:v>2.2999999999999998</c:v>
                </c:pt>
              </c:numCache>
            </c:numRef>
          </c:val>
          <c:extLst>
            <c:ext xmlns:c16="http://schemas.microsoft.com/office/drawing/2014/chart" uri="{C3380CC4-5D6E-409C-BE32-E72D297353CC}">
              <c16:uniqueId val="{00000002-127C-4396-B058-4288A00F917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67085"/>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r"/>
      <c:overlay val="0"/>
      <c:txPr>
        <a:bodyPr/>
        <a:lstStyle/>
        <a:p>
          <a:pPr>
            <a:defRPr sz="1100">
              <a:solidFill>
                <a:srgbClr val="47546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01828"/>
                </a:solidFill>
                <a:latin typeface="+mn-lt"/>
              </a:defRPr>
            </a:pPr>
            <a:r>
              <a:rPr sz="1300" b="0" i="0" u="none" strike="noStrike">
                <a:solidFill>
                  <a:srgbClr val="101828"/>
                </a:solidFill>
                <a:latin typeface="+mn-lt"/>
              </a:rPr>
              <a:t>CER (%) as the text tilts (80 IAM test lines)</a:t>
            </a:r>
          </a:p>
        </c:rich>
      </c:tx>
      <c:overlay val="0"/>
    </c:title>
    <c:autoTitleDeleted val="0"/>
    <c:plotArea>
      <c:layout/>
      <c:lineChart>
        <c:grouping val="standard"/>
        <c:varyColors val="0"/>
        <c:ser>
          <c:idx val="0"/>
          <c:order val="0"/>
          <c:tx>
            <c:strRef>
              <c:f>Sheet1!$B$1</c:f>
              <c:strCache>
                <c:ptCount val="1"/>
                <c:pt idx="0">
                  <c:v>CNN-BiLSTM, no deskew</c:v>
                </c:pt>
              </c:strCache>
            </c:strRef>
          </c:tx>
          <c:spPr>
            <a:ln w="31750" cap="flat">
              <a:solidFill>
                <a:srgbClr val="F04438"/>
              </a:solidFill>
              <a:prstDash val="solid"/>
              <a:round/>
            </a:ln>
            <a:effectLst/>
          </c:spPr>
          <c:marker>
            <c:symbol val="circle"/>
            <c:size val="6"/>
            <c:spPr>
              <a:solidFill>
                <a:srgbClr val="F04438"/>
              </a:solidFill>
              <a:ln w="9525" cap="flat">
                <a:solidFill>
                  <a:srgbClr val="F04438"/>
                </a:solidFill>
                <a:prstDash val="solid"/>
                <a:round/>
              </a:ln>
              <a:effectLst/>
            </c:spPr>
          </c:marker>
          <c:cat>
            <c:strRef>
              <c:f>Sheet1!$A$2:$A$5</c:f>
              <c:strCache>
                <c:ptCount val="4"/>
                <c:pt idx="0">
                  <c:v>0°</c:v>
                </c:pt>
                <c:pt idx="1">
                  <c:v>2°</c:v>
                </c:pt>
                <c:pt idx="2">
                  <c:v>5°</c:v>
                </c:pt>
                <c:pt idx="3">
                  <c:v>8°</c:v>
                </c:pt>
              </c:strCache>
            </c:strRef>
          </c:cat>
          <c:val>
            <c:numRef>
              <c:f>Sheet1!$B$2:$B$5</c:f>
              <c:numCache>
                <c:formatCode>General</c:formatCode>
                <c:ptCount val="4"/>
                <c:pt idx="0">
                  <c:v>19.64</c:v>
                </c:pt>
                <c:pt idx="1">
                  <c:v>26.2</c:v>
                </c:pt>
                <c:pt idx="2">
                  <c:v>49.31</c:v>
                </c:pt>
                <c:pt idx="3">
                  <c:v>65.489999999999995</c:v>
                </c:pt>
              </c:numCache>
            </c:numRef>
          </c:val>
          <c:smooth val="0"/>
          <c:extLst>
            <c:ext xmlns:c16="http://schemas.microsoft.com/office/drawing/2014/chart" uri="{C3380CC4-5D6E-409C-BE32-E72D297353CC}">
              <c16:uniqueId val="{00000000-87D3-4EF5-9155-FBBAA1A68D15}"/>
            </c:ext>
          </c:extLst>
        </c:ser>
        <c:ser>
          <c:idx val="1"/>
          <c:order val="1"/>
          <c:tx>
            <c:strRef>
              <c:f>Sheet1!$C$1</c:f>
              <c:strCache>
                <c:ptCount val="1"/>
                <c:pt idx="0">
                  <c:v>CNN-BiLSTM + our deskew</c:v>
                </c:pt>
              </c:strCache>
            </c:strRef>
          </c:tx>
          <c:spPr>
            <a:ln w="31750" cap="flat">
              <a:solidFill>
                <a:srgbClr val="4F46E5"/>
              </a:solidFill>
              <a:prstDash val="solid"/>
              <a:round/>
            </a:ln>
            <a:effectLst/>
          </c:spPr>
          <c:marker>
            <c:symbol val="circle"/>
            <c:size val="6"/>
            <c:spPr>
              <a:solidFill>
                <a:srgbClr val="4F46E5"/>
              </a:solidFill>
              <a:ln w="9525" cap="flat">
                <a:solidFill>
                  <a:srgbClr val="4F46E5"/>
                </a:solidFill>
                <a:prstDash val="solid"/>
                <a:round/>
              </a:ln>
              <a:effectLst/>
            </c:spPr>
          </c:marker>
          <c:cat>
            <c:strRef>
              <c:f>Sheet1!$A$2:$A$5</c:f>
              <c:strCache>
                <c:ptCount val="4"/>
                <c:pt idx="0">
                  <c:v>0°</c:v>
                </c:pt>
                <c:pt idx="1">
                  <c:v>2°</c:v>
                </c:pt>
                <c:pt idx="2">
                  <c:v>5°</c:v>
                </c:pt>
                <c:pt idx="3">
                  <c:v>8°</c:v>
                </c:pt>
              </c:strCache>
            </c:strRef>
          </c:cat>
          <c:val>
            <c:numRef>
              <c:f>Sheet1!$C$2:$C$5</c:f>
              <c:numCache>
                <c:formatCode>General</c:formatCode>
                <c:ptCount val="4"/>
                <c:pt idx="0">
                  <c:v>19.64</c:v>
                </c:pt>
                <c:pt idx="1">
                  <c:v>19.14</c:v>
                </c:pt>
                <c:pt idx="2">
                  <c:v>19.170000000000002</c:v>
                </c:pt>
                <c:pt idx="3">
                  <c:v>18.87</c:v>
                </c:pt>
              </c:numCache>
            </c:numRef>
          </c:val>
          <c:smooth val="0"/>
          <c:extLst>
            <c:ext xmlns:c16="http://schemas.microsoft.com/office/drawing/2014/chart" uri="{C3380CC4-5D6E-409C-BE32-E72D297353CC}">
              <c16:uniqueId val="{00000001-87D3-4EF5-9155-FBBAA1A68D15}"/>
            </c:ext>
          </c:extLst>
        </c:ser>
        <c:ser>
          <c:idx val="2"/>
          <c:order val="2"/>
          <c:tx>
            <c:strRef>
              <c:f>Sheet1!$D$1</c:f>
              <c:strCache>
                <c:ptCount val="1"/>
                <c:pt idx="0">
                  <c:v>PaddleOCR, no deskew</c:v>
                </c:pt>
              </c:strCache>
            </c:strRef>
          </c:tx>
          <c:spPr>
            <a:ln w="31750" cap="flat">
              <a:solidFill>
                <a:srgbClr val="FDA29B"/>
              </a:solidFill>
              <a:prstDash val="solid"/>
              <a:round/>
            </a:ln>
            <a:effectLst/>
          </c:spPr>
          <c:marker>
            <c:symbol val="circle"/>
            <c:size val="6"/>
            <c:spPr>
              <a:solidFill>
                <a:srgbClr val="FDA29B"/>
              </a:solidFill>
              <a:ln w="9525" cap="flat">
                <a:solidFill>
                  <a:srgbClr val="FDA29B"/>
                </a:solidFill>
                <a:prstDash val="solid"/>
                <a:round/>
              </a:ln>
              <a:effectLst/>
            </c:spPr>
          </c:marker>
          <c:cat>
            <c:strRef>
              <c:f>Sheet1!$A$2:$A$5</c:f>
              <c:strCache>
                <c:ptCount val="4"/>
                <c:pt idx="0">
                  <c:v>0°</c:v>
                </c:pt>
                <c:pt idx="1">
                  <c:v>2°</c:v>
                </c:pt>
                <c:pt idx="2">
                  <c:v>5°</c:v>
                </c:pt>
                <c:pt idx="3">
                  <c:v>8°</c:v>
                </c:pt>
              </c:strCache>
            </c:strRef>
          </c:cat>
          <c:val>
            <c:numRef>
              <c:f>Sheet1!$D$2:$D$5</c:f>
              <c:numCache>
                <c:formatCode>General</c:formatCode>
                <c:ptCount val="4"/>
                <c:pt idx="0">
                  <c:v>27.81</c:v>
                </c:pt>
                <c:pt idx="1">
                  <c:v>41.1</c:v>
                </c:pt>
                <c:pt idx="2">
                  <c:v>74.89</c:v>
                </c:pt>
                <c:pt idx="3">
                  <c:v>80.84</c:v>
                </c:pt>
              </c:numCache>
            </c:numRef>
          </c:val>
          <c:smooth val="0"/>
          <c:extLst>
            <c:ext xmlns:c16="http://schemas.microsoft.com/office/drawing/2014/chart" uri="{C3380CC4-5D6E-409C-BE32-E72D297353CC}">
              <c16:uniqueId val="{00000002-87D3-4EF5-9155-FBBAA1A68D15}"/>
            </c:ext>
          </c:extLst>
        </c:ser>
        <c:ser>
          <c:idx val="3"/>
          <c:order val="3"/>
          <c:tx>
            <c:strRef>
              <c:f>Sheet1!$E$1</c:f>
              <c:strCache>
                <c:ptCount val="1"/>
                <c:pt idx="0">
                  <c:v>PaddleOCR + our deskew</c:v>
                </c:pt>
              </c:strCache>
            </c:strRef>
          </c:tx>
          <c:spPr>
            <a:ln w="31750" cap="flat">
              <a:solidFill>
                <a:srgbClr val="A5B4FC"/>
              </a:solidFill>
              <a:prstDash val="solid"/>
              <a:round/>
            </a:ln>
            <a:effectLst/>
          </c:spPr>
          <c:marker>
            <c:symbol val="circle"/>
            <c:size val="6"/>
            <c:spPr>
              <a:solidFill>
                <a:srgbClr val="A5B4FC"/>
              </a:solidFill>
              <a:ln w="9525" cap="flat">
                <a:solidFill>
                  <a:srgbClr val="A5B4FC"/>
                </a:solidFill>
                <a:prstDash val="solid"/>
                <a:round/>
              </a:ln>
              <a:effectLst/>
            </c:spPr>
          </c:marker>
          <c:cat>
            <c:strRef>
              <c:f>Sheet1!$A$2:$A$5</c:f>
              <c:strCache>
                <c:ptCount val="4"/>
                <c:pt idx="0">
                  <c:v>0°</c:v>
                </c:pt>
                <c:pt idx="1">
                  <c:v>2°</c:v>
                </c:pt>
                <c:pt idx="2">
                  <c:v>5°</c:v>
                </c:pt>
                <c:pt idx="3">
                  <c:v>8°</c:v>
                </c:pt>
              </c:strCache>
            </c:strRef>
          </c:cat>
          <c:val>
            <c:numRef>
              <c:f>Sheet1!$E$2:$E$5</c:f>
              <c:numCache>
                <c:formatCode>General</c:formatCode>
                <c:ptCount val="4"/>
                <c:pt idx="0">
                  <c:v>27.81</c:v>
                </c:pt>
                <c:pt idx="1">
                  <c:v>28.78</c:v>
                </c:pt>
                <c:pt idx="2">
                  <c:v>28.22</c:v>
                </c:pt>
                <c:pt idx="3">
                  <c:v>28.47</c:v>
                </c:pt>
              </c:numCache>
            </c:numRef>
          </c:val>
          <c:smooth val="0"/>
          <c:extLst>
            <c:ext xmlns:c16="http://schemas.microsoft.com/office/drawing/2014/chart" uri="{C3380CC4-5D6E-409C-BE32-E72D297353CC}">
              <c16:uniqueId val="{00000003-87D3-4EF5-9155-FBBAA1A68D15}"/>
            </c:ext>
          </c:extLst>
        </c:ser>
        <c:ser>
          <c:idx val="4"/>
          <c:order val="4"/>
          <c:tx>
            <c:strRef>
              <c:f>Sheet1!$F$1</c:f>
              <c:strCache>
                <c:ptCount val="1"/>
                <c:pt idx="0">
                  <c:v>TrOCR, no deskew</c:v>
                </c:pt>
              </c:strCache>
            </c:strRef>
          </c:tx>
          <c:spPr>
            <a:ln w="31750" cap="flat">
              <a:solidFill>
                <a:srgbClr val="16B364"/>
              </a:solidFill>
              <a:prstDash val="solid"/>
              <a:round/>
            </a:ln>
            <a:effectLst/>
          </c:spPr>
          <c:marker>
            <c:symbol val="circle"/>
            <c:size val="6"/>
            <c:spPr>
              <a:solidFill>
                <a:srgbClr val="16B364"/>
              </a:solidFill>
              <a:ln w="9525" cap="flat">
                <a:solidFill>
                  <a:srgbClr val="16B364"/>
                </a:solidFill>
                <a:prstDash val="solid"/>
                <a:round/>
              </a:ln>
              <a:effectLst/>
            </c:spPr>
          </c:marker>
          <c:cat>
            <c:strRef>
              <c:f>Sheet1!$A$2:$A$5</c:f>
              <c:strCache>
                <c:ptCount val="4"/>
                <c:pt idx="0">
                  <c:v>0°</c:v>
                </c:pt>
                <c:pt idx="1">
                  <c:v>2°</c:v>
                </c:pt>
                <c:pt idx="2">
                  <c:v>5°</c:v>
                </c:pt>
                <c:pt idx="3">
                  <c:v>8°</c:v>
                </c:pt>
              </c:strCache>
            </c:strRef>
          </c:cat>
          <c:val>
            <c:numRef>
              <c:f>Sheet1!$F$2:$F$5</c:f>
              <c:numCache>
                <c:formatCode>General</c:formatCode>
                <c:ptCount val="4"/>
                <c:pt idx="0">
                  <c:v>4.5999999999999996</c:v>
                </c:pt>
                <c:pt idx="1">
                  <c:v>5.38</c:v>
                </c:pt>
                <c:pt idx="2">
                  <c:v>5.77</c:v>
                </c:pt>
                <c:pt idx="3">
                  <c:v>6.55</c:v>
                </c:pt>
              </c:numCache>
            </c:numRef>
          </c:val>
          <c:smooth val="0"/>
          <c:extLst>
            <c:ext xmlns:c16="http://schemas.microsoft.com/office/drawing/2014/chart" uri="{C3380CC4-5D6E-409C-BE32-E72D297353CC}">
              <c16:uniqueId val="{00000004-87D3-4EF5-9155-FBBAA1A68D1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67085"/>
                </a:solidFill>
                <a:latin typeface="+mn-lt"/>
              </a:defRPr>
            </a:pPr>
            <a:endParaRPr lang="en-US"/>
          </a:p>
        </c:txPr>
        <c:crossAx val="2094734552"/>
        <c:crosses val="autoZero"/>
        <c:auto val="1"/>
        <c:lblAlgn val="ctr"/>
        <c:lblOffset val="100"/>
        <c:noMultiLvlLbl val="1"/>
      </c:catAx>
      <c:valAx>
        <c:axId val="2094734552"/>
        <c:scaling>
          <c:orientation val="minMax"/>
          <c:max val="90"/>
          <c:min val="0"/>
        </c:scaling>
        <c:delete val="0"/>
        <c:axPos val="l"/>
        <c:majorGridlines>
          <c:spPr>
            <a:ln w="9525" cap="flat">
              <a:solidFill>
                <a:srgbClr val="E4E7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67085"/>
                </a:solidFill>
                <a:latin typeface="+mn-lt"/>
              </a:defRPr>
            </a:pPr>
            <a:endParaRPr lang="en-US"/>
          </a:p>
        </c:txPr>
        <c:crossAx val="2094734554"/>
        <c:crosses val="autoZero"/>
        <c:crossBetween val="between"/>
        <c:majorUnit val="30"/>
      </c:valAx>
      <c:spPr>
        <a:noFill/>
        <a:ln>
          <a:noFill/>
        </a:ln>
        <a:effectLst/>
      </c:spPr>
    </c:plotArea>
    <c:legend>
      <c:legendPos val="b"/>
      <c:overlay val="0"/>
      <c:txPr>
        <a:bodyPr/>
        <a:lstStyle/>
        <a:p>
          <a:pPr>
            <a:defRPr sz="1100">
              <a:solidFill>
                <a:srgbClr val="47546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8937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DeepOCR is an end-to-end OCR system for handwritten and complex documents. It cleans the page, finds every text line, reads it with deep-learning models, rebuilds the layout and lets a person review the result. Its key idea is that five different models vote on every word.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OCR handles clean print well. It struggles with handwriting, poor scans, tilted pages and structured layouts such as forms and tables. It also gives no hint about which words might be wrong, so users must re-read everything.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objectives from the project proposal. The rest of the presentation shows how each one was met, from preprocessing and detection to the model comparison and the user interface.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passes through eight stages. The page is cleaned, DBNet finds every text line, and a recognition model reads each line. With the consensus engine, all five models read every line and vote word by word. Then the layout is rebuilt, typical OCR errors are corrected, and the result is shown for review.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learn from the IAM handwriting database, using its official split so that test writers are never seen in training, plus a synthetic dataset of printed and script-font lines created for this project with realistic degradations. Training images are augmented on the fly.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recognition the page is cleaned. Deskewing uses a projection profile: the angle that gives the sharpest row profile aligns the text. Here a 4.2-degree tilt is found and corrected. The robustness study shows why this matters: at an 8-degree tilt the baseline's error rises to 65.5 percent, and deskewing brings it back to 18.9 percent.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 families from the proposal. The baseline CNN-BiLSTM and the CRNN were built and trained from scratch on a laptop CPU in about two hours each. The advanced model is TrOCR, a Vision Transformer with a text decoder, used through transfer learning: we fine-tuned the pretrained model on our data in 44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CTC models converge within a few epochs; the best validation CERs are 11.8 and 12.2 percent on the mixed validation set. Fine-tuning TrOCR mainly fixed its weakness on printed text: test CER fell from 20.4 to 2.6 percent, while its handwriting accuracy stayed the same.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idea of the project. Different models make different mistakes. If several independent models read a word the same way, it is probably right. On this real line, two models read 'fan' and three read 'Pan'. Weighted by each model's reliability and confidence, 'Pan' wins with 66 percent of the vote, and it is correct. Words that win no majority are flagged for review.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results on 600 held-out lines per test set. Transformers dominate handwriting at about 7 percent CER, while our small CTC models are strong on print. The Consensus vote is the most accurate engine on both: 5.74 percent CER on handwriting from unseen writers and 2.35 percent on printed text. The trade-off is speed.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with the best single model on the same lines, voting removes 15 percent of the errors on handwriting and 46 percent of the word errors on printed text. The oracle shows the best possible combination if we knew the answer. The weights were tuned with cross-validation, so the scores are not measured on the tuning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re-read 80 test lines under controlled noise, blur, rotation, low contrast and JPEG compression. Noise and compression barely matter thanks to augmentation, but rotation breaks the CTC models and PaddleOCR. With our deskew step in front, the error returns almost to the clean value.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recognition, the layout is rebuilt from the detected lines and the page image. On this application form the system finds the title, the fields, the checkboxes and their state, the ruled table and the signature field, and writes them out as structured Markdown.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results workspace. The page shows each line coloured by how much the models agreed. Clicking an underlined word shows what the other models read and their share of the vote, and one click replaces it. Every automatic fix can be undone, and the result exports as Markdown, text or JSON. This is a good point for the live demo.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all eight objectives of the proposal were met. The most effective improvement did not come from a bigger model but from letting the existing models vote, which both reduces errors and shows the reviewer where the remaining errors are likely to be. Future work includes Hindi and multilingual recognition, learned layout analysis, faster voting and a mobile app.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509760" cy="777240"/>
          </a:xfrm>
          <a:prstGeom prst="rect">
            <a:avLst/>
          </a:prstGeom>
          <a:noFill/>
          <a:ln/>
        </p:spPr>
        <p:txBody>
          <a:bodyPr wrap="square" rtlCol="0"/>
          <a:lstStyle>
            <a:lvl1pPr marL="0" indent="0" algn="l">
              <a:buNone/>
              <a:defRPr lang="en-US" sz="3000" dirty="0">
                <a:solidFill>
                  <a:schemeClr val="tx1"/>
                </a:solidFill>
              </a:defRPr>
            </a:lvl1pPr>
          </a:lstStyle>
          <a:p>
            <a:pPr marL="0" indent="0" algn="l">
              <a:buNone/>
            </a:pPr>
            <a:endParaRPr lang="en-US" sz="3000" dirty="0"/>
          </a:p>
        </p:txBody>
      </p:sp>
      <p:sp>
        <p:nvSpPr>
          <p:cNvPr id="3" name="Text 0"/>
          <p:cNvSpPr/>
          <p:nvPr/>
        </p:nvSpPr>
        <p:spPr>
          <a:xfrm>
            <a:off x="548640" y="6382512"/>
            <a:ext cx="6400800" cy="274320"/>
          </a:xfrm>
          <a:prstGeom prst="rect">
            <a:avLst/>
          </a:prstGeom>
          <a:noFill/>
          <a:ln/>
        </p:spPr>
        <p:txBody>
          <a:bodyPr wrap="square" lIns="0" tIns="0" rIns="0" bIns="0" rtlCol="0" anchor="ctr"/>
          <a:lstStyle/>
          <a:p>
            <a:pPr marL="0" indent="0">
              <a:buNone/>
            </a:pPr>
            <a:r>
              <a:rPr lang="en-US" sz="1000" dirty="0">
                <a:solidFill>
                  <a:schemeClr val="accent6"/>
                </a:solidFill>
              </a:rPr>
              <a:t>DeepOCR · Intelligent OCR for handwritten and complex documents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509760" cy="777240"/>
          </a:xfrm>
          <a:prstGeom prst="rect">
            <a:avLst/>
          </a:prstGeom>
          <a:noFill/>
          <a:ln/>
        </p:spPr>
        <p:txBody>
          <a:bodyPr wrap="square" rtlCol="0"/>
          <a:lstStyle>
            <a:lvl1pPr marL="0" indent="0" algn="l">
              <a:buNone/>
              <a:defRPr lang="en-US" sz="3000" dirty="0">
                <a:solidFill>
                  <a:schemeClr val="bg1"/>
                </a:solidFill>
              </a:defRPr>
            </a:lvl1pPr>
          </a:lstStyle>
          <a:p>
            <a:pPr marL="0" indent="0" algn="l">
              <a:buNone/>
            </a:pPr>
            <a:endParaRPr lang="en-US" sz="3000" dirty="0"/>
          </a:p>
        </p:txBody>
      </p:sp>
      <p:sp>
        <p:nvSpPr>
          <p:cNvPr id="3" name="Text 0"/>
          <p:cNvSpPr/>
          <p:nvPr/>
        </p:nvSpPr>
        <p:spPr>
          <a:xfrm>
            <a:off x="548640" y="6382512"/>
            <a:ext cx="6400800" cy="274320"/>
          </a:xfrm>
          <a:prstGeom prst="rect">
            <a:avLst/>
          </a:prstGeom>
          <a:noFill/>
          <a:ln/>
        </p:spPr>
        <p:txBody>
          <a:bodyPr wrap="square" lIns="0" tIns="0" rIns="0" bIns="0" rtlCol="0" anchor="ctr"/>
          <a:lstStyle/>
          <a:p>
            <a:pPr marL="0" indent="0">
              <a:buNone/>
            </a:pPr>
            <a:r>
              <a:rPr lang="en-US" sz="1000" dirty="0">
                <a:solidFill>
                  <a:srgbClr val="C7D2FE"/>
                </a:solidFill>
              </a:rPr>
              <a:t>DeepOCR · Intelligent OCR for handwritten and complex documents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7D2FE"/>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74520"/>
            <a:ext cx="6583680" cy="1143000"/>
          </a:xfrm>
          <a:prstGeom prst="rect">
            <a:avLst/>
          </a:prstGeom>
          <a:noFill/>
          <a:ln/>
        </p:spPr>
        <p:txBody>
          <a:bodyPr wrap="square" rtlCol="0"/>
          <a:lstStyle>
            <a:lvl1pPr marL="0" indent="0" algn="l">
              <a:buNone/>
              <a:defRPr lang="en-US" sz="6400" dirty="0">
                <a:solidFill>
                  <a:schemeClr val="bg1"/>
                </a:solidFill>
              </a:defRPr>
            </a:lvl1pPr>
          </a:lstStyle>
          <a:p>
            <a:pPr marL="0" indent="0" algn="l">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27.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ens"/>
          <p:cNvSpPr/>
          <p:nvPr/>
        </p:nvSpPr>
        <p:spPr>
          <a:xfrm>
            <a:off x="7543800" y="777240"/>
            <a:ext cx="5303520" cy="5303520"/>
          </a:xfrm>
          <a:prstGeom prst="ellipse">
            <a:avLst/>
          </a:prstGeom>
          <a:solidFill>
            <a:schemeClr val="accent1"/>
          </a:solidFill>
          <a:ln/>
        </p:spPr>
      </p:sp>
      <p:sp>
        <p:nvSpPr>
          <p:cNvPr id="3" name="!!mark1"/>
          <p:cNvSpPr/>
          <p:nvPr/>
        </p:nvSpPr>
        <p:spPr>
          <a:xfrm>
            <a:off x="9052560" y="2907792"/>
            <a:ext cx="2286000" cy="274320"/>
          </a:xfrm>
          <a:prstGeom prst="roundRect">
            <a:avLst>
              <a:gd name="adj" fmla="val 50000"/>
            </a:avLst>
          </a:prstGeom>
          <a:solidFill>
            <a:schemeClr val="bg1"/>
          </a:solidFill>
          <a:ln/>
        </p:spPr>
      </p:sp>
      <p:sp>
        <p:nvSpPr>
          <p:cNvPr id="4" name="!!mark2"/>
          <p:cNvSpPr/>
          <p:nvPr/>
        </p:nvSpPr>
        <p:spPr>
          <a:xfrm>
            <a:off x="9052560" y="3364992"/>
            <a:ext cx="1600200" cy="274320"/>
          </a:xfrm>
          <a:prstGeom prst="roundRect">
            <a:avLst>
              <a:gd name="adj" fmla="val 50000"/>
            </a:avLst>
          </a:prstGeom>
          <a:solidFill>
            <a:schemeClr val="bg1">
              <a:alpha val="85000"/>
            </a:schemeClr>
          </a:solidFill>
          <a:ln/>
        </p:spPr>
      </p:sp>
      <p:sp>
        <p:nvSpPr>
          <p:cNvPr id="5" name="!!mark3"/>
          <p:cNvSpPr/>
          <p:nvPr/>
        </p:nvSpPr>
        <p:spPr>
          <a:xfrm>
            <a:off x="9052560" y="3822192"/>
            <a:ext cx="1920240" cy="274320"/>
          </a:xfrm>
          <a:prstGeom prst="roundRect">
            <a:avLst>
              <a:gd name="adj" fmla="val 50000"/>
            </a:avLst>
          </a:prstGeom>
          <a:solidFill>
            <a:schemeClr val="bg1">
              <a:alpha val="70000"/>
            </a:schemeClr>
          </a:solidFill>
          <a:ln/>
        </p:spPr>
      </p:sp>
      <p:sp>
        <p:nvSpPr>
          <p:cNvPr id="6" name="Text 4"/>
          <p:cNvSpPr txBox="1"/>
          <p:nvPr/>
        </p:nvSpPr>
        <p:spPr>
          <a:xfrm>
            <a:off x="640080" y="1325880"/>
            <a:ext cx="6400800" cy="365760"/>
          </a:xfrm>
          <a:prstGeom prst="rect">
            <a:avLst/>
          </a:prstGeom>
          <a:noFill/>
          <a:ln/>
        </p:spPr>
        <p:txBody>
          <a:bodyPr wrap="square" lIns="0" tIns="0" rIns="0" bIns="0" rtlCol="0" anchor="t"/>
          <a:lstStyle/>
          <a:p>
            <a:pPr marL="0" indent="0">
              <a:buNone/>
            </a:pPr>
            <a:r>
              <a:rPr lang="en-US" sz="1400" b="1" kern="0" spc="400" dirty="0">
                <a:solidFill>
                  <a:srgbClr val="C7D2FE"/>
                </a:solidFill>
              </a:rPr>
              <a:t>PROJECT PRESENTATION</a:t>
            </a:r>
            <a:endParaRPr lang="en-US" sz="1400" dirty="0"/>
          </a:p>
        </p:txBody>
      </p:sp>
      <p:sp>
        <p:nvSpPr>
          <p:cNvPr id="7" name="Text 0"/>
          <p:cNvSpPr>
            <a:spLocks noGrp="1"/>
          </p:cNvSpPr>
          <p:nvPr>
            <p:ph type="title" idx="100" hasCustomPrompt="1"/>
          </p:nvPr>
        </p:nvSpPr>
        <p:spPr>
          <a:xfrm>
            <a:off x="640080" y="1874520"/>
            <a:ext cx="6583680" cy="1143000"/>
          </a:xfrm>
          <a:prstGeom prst="rect">
            <a:avLst/>
          </a:prstGeom>
          <a:noFill/>
          <a:ln/>
        </p:spPr>
        <p:txBody>
          <a:bodyPr wrap="square" lIns="0" tIns="0" rIns="0" bIns="0" rtlCol="0" anchor="ctr"/>
          <a:lstStyle/>
          <a:p>
            <a:pPr marL="0" indent="0" algn="l">
              <a:buNone/>
            </a:pPr>
            <a:r>
              <a:rPr lang="en-US" sz="6400" dirty="0">
                <a:solidFill>
                  <a:schemeClr val="bg1"/>
                </a:solidFill>
              </a:rPr>
              <a:t>DeepOCR</a:t>
            </a:r>
            <a:endParaRPr lang="en-US" sz="6400" dirty="0"/>
          </a:p>
        </p:txBody>
      </p:sp>
      <p:sp>
        <p:nvSpPr>
          <p:cNvPr id="8" name="Text 6"/>
          <p:cNvSpPr txBox="1"/>
          <p:nvPr/>
        </p:nvSpPr>
        <p:spPr>
          <a:xfrm>
            <a:off x="640080" y="3154680"/>
            <a:ext cx="6583680" cy="1143000"/>
          </a:xfrm>
          <a:prstGeom prst="rect">
            <a:avLst/>
          </a:prstGeom>
          <a:noFill/>
          <a:ln/>
        </p:spPr>
        <p:txBody>
          <a:bodyPr wrap="square" lIns="0" tIns="0" rIns="0" bIns="0" rtlCol="0" anchor="t"/>
          <a:lstStyle/>
          <a:p>
            <a:pPr marL="0" indent="0">
              <a:buNone/>
            </a:pPr>
            <a:r>
              <a:rPr lang="en-US" sz="2200" dirty="0">
                <a:solidFill>
                  <a:schemeClr val="bg1"/>
                </a:solidFill>
              </a:rPr>
              <a:t>Deep Learning-Based Intelligent OCR System for Handwritten and Complex Document Recognition</a:t>
            </a:r>
            <a:endParaRPr lang="en-US" sz="2200" dirty="0"/>
          </a:p>
        </p:txBody>
      </p:sp>
      <p:sp>
        <p:nvSpPr>
          <p:cNvPr id="9" name="Shape 7"/>
          <p:cNvSpPr/>
          <p:nvPr/>
        </p:nvSpPr>
        <p:spPr>
          <a:xfrm>
            <a:off x="640080" y="4663440"/>
            <a:ext cx="1965960" cy="457200"/>
          </a:xfrm>
          <a:prstGeom prst="roundRect">
            <a:avLst>
              <a:gd name="adj" fmla="val 50000"/>
            </a:avLst>
          </a:prstGeom>
          <a:solidFill>
            <a:schemeClr val="bg1">
              <a:alpha val="12000"/>
            </a:schemeClr>
          </a:solidFill>
          <a:ln w="9525">
            <a:solidFill>
              <a:srgbClr val="C7D2FE"/>
            </a:solidFill>
            <a:prstDash val="solid"/>
          </a:ln>
        </p:spPr>
      </p:sp>
      <p:sp>
        <p:nvSpPr>
          <p:cNvPr id="10" name="Text 8"/>
          <p:cNvSpPr txBox="1"/>
          <p:nvPr/>
        </p:nvSpPr>
        <p:spPr>
          <a:xfrm>
            <a:off x="640080" y="4663440"/>
            <a:ext cx="1965960" cy="457200"/>
          </a:xfrm>
          <a:prstGeom prst="rect">
            <a:avLst/>
          </a:prstGeom>
          <a:noFill/>
          <a:ln/>
        </p:spPr>
        <p:txBody>
          <a:bodyPr wrap="square" lIns="0" tIns="0" rIns="0" bIns="0" rtlCol="0" anchor="ctr"/>
          <a:lstStyle/>
          <a:p>
            <a:pPr marL="0" indent="0" algn="ctr">
              <a:buNone/>
            </a:pPr>
            <a:r>
              <a:rPr lang="en-US" sz="1300" dirty="0">
                <a:solidFill>
                  <a:schemeClr val="bg1"/>
                </a:solidFill>
              </a:rPr>
              <a:t>5 recognition models</a:t>
            </a:r>
            <a:endParaRPr lang="en-US" sz="1300" dirty="0"/>
          </a:p>
        </p:txBody>
      </p:sp>
      <p:sp>
        <p:nvSpPr>
          <p:cNvPr id="11" name="Shape 9"/>
          <p:cNvSpPr/>
          <p:nvPr/>
        </p:nvSpPr>
        <p:spPr>
          <a:xfrm>
            <a:off x="2788920" y="4663440"/>
            <a:ext cx="1965960" cy="457200"/>
          </a:xfrm>
          <a:prstGeom prst="roundRect">
            <a:avLst>
              <a:gd name="adj" fmla="val 50000"/>
            </a:avLst>
          </a:prstGeom>
          <a:solidFill>
            <a:schemeClr val="bg1">
              <a:alpha val="12000"/>
            </a:schemeClr>
          </a:solidFill>
          <a:ln w="9525">
            <a:solidFill>
              <a:srgbClr val="C7D2FE"/>
            </a:solidFill>
            <a:prstDash val="solid"/>
          </a:ln>
        </p:spPr>
      </p:sp>
      <p:sp>
        <p:nvSpPr>
          <p:cNvPr id="12" name="Text 10"/>
          <p:cNvSpPr txBox="1"/>
          <p:nvPr/>
        </p:nvSpPr>
        <p:spPr>
          <a:xfrm>
            <a:off x="2788920" y="4663440"/>
            <a:ext cx="1965960" cy="457200"/>
          </a:xfrm>
          <a:prstGeom prst="rect">
            <a:avLst/>
          </a:prstGeom>
          <a:noFill/>
          <a:ln/>
        </p:spPr>
        <p:txBody>
          <a:bodyPr wrap="square" lIns="0" tIns="0" rIns="0" bIns="0" rtlCol="0" anchor="ctr"/>
          <a:lstStyle/>
          <a:p>
            <a:pPr marL="0" indent="0" algn="ctr">
              <a:buNone/>
            </a:pPr>
            <a:r>
              <a:rPr lang="en-US" sz="1300" dirty="0">
                <a:solidFill>
                  <a:schemeClr val="bg1"/>
                </a:solidFill>
              </a:rPr>
              <a:t>Consensus voting</a:t>
            </a:r>
            <a:endParaRPr lang="en-US" sz="1300" dirty="0"/>
          </a:p>
        </p:txBody>
      </p:sp>
      <p:sp>
        <p:nvSpPr>
          <p:cNvPr id="13" name="Shape 11"/>
          <p:cNvSpPr/>
          <p:nvPr/>
        </p:nvSpPr>
        <p:spPr>
          <a:xfrm>
            <a:off x="4937760" y="4663440"/>
            <a:ext cx="1965960" cy="457200"/>
          </a:xfrm>
          <a:prstGeom prst="roundRect">
            <a:avLst>
              <a:gd name="adj" fmla="val 50000"/>
            </a:avLst>
          </a:prstGeom>
          <a:solidFill>
            <a:schemeClr val="bg1">
              <a:alpha val="12000"/>
            </a:schemeClr>
          </a:solidFill>
          <a:ln w="9525">
            <a:solidFill>
              <a:srgbClr val="C7D2FE"/>
            </a:solidFill>
            <a:prstDash val="solid"/>
          </a:ln>
        </p:spPr>
      </p:sp>
      <p:sp>
        <p:nvSpPr>
          <p:cNvPr id="14" name="Text 12"/>
          <p:cNvSpPr txBox="1"/>
          <p:nvPr/>
        </p:nvSpPr>
        <p:spPr>
          <a:xfrm>
            <a:off x="4937760" y="4663440"/>
            <a:ext cx="1965960" cy="457200"/>
          </a:xfrm>
          <a:prstGeom prst="rect">
            <a:avLst/>
          </a:prstGeom>
          <a:noFill/>
          <a:ln/>
        </p:spPr>
        <p:txBody>
          <a:bodyPr wrap="square" lIns="0" tIns="0" rIns="0" bIns="0" rtlCol="0" anchor="ctr"/>
          <a:lstStyle/>
          <a:p>
            <a:pPr marL="0" indent="0" algn="ctr">
              <a:buNone/>
            </a:pPr>
            <a:r>
              <a:rPr lang="en-US" sz="1300" dirty="0">
                <a:solidFill>
                  <a:schemeClr val="bg1"/>
                </a:solidFill>
              </a:rPr>
              <a:t>Review studio</a:t>
            </a:r>
            <a:endParaRPr lang="en-US" sz="1300" dirty="0"/>
          </a:p>
        </p:txBody>
      </p:sp>
      <p:sp>
        <p:nvSpPr>
          <p:cNvPr id="15" name="Text 13"/>
          <p:cNvSpPr txBox="1"/>
          <p:nvPr/>
        </p:nvSpPr>
        <p:spPr>
          <a:xfrm>
            <a:off x="640080" y="5897880"/>
            <a:ext cx="3657600" cy="320040"/>
          </a:xfrm>
          <a:prstGeom prst="rect">
            <a:avLst/>
          </a:prstGeom>
          <a:noFill/>
          <a:ln/>
        </p:spPr>
        <p:txBody>
          <a:bodyPr wrap="square" lIns="0" tIns="0" rIns="0" bIns="0" rtlCol="0" anchor="t"/>
          <a:lstStyle/>
          <a:p>
            <a:pPr marL="0" indent="0">
              <a:buNone/>
            </a:pPr>
            <a:r>
              <a:rPr lang="en-US" sz="1300" dirty="0">
                <a:solidFill>
                  <a:srgbClr val="C7D2FE"/>
                </a:solidFill>
              </a:rPr>
              <a:t>October 2026</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lens"/>
          <p:cNvSpPr/>
          <p:nvPr/>
        </p:nvSpPr>
        <p:spPr>
          <a:xfrm>
            <a:off x="10515600" y="-1737360"/>
            <a:ext cx="2926080" cy="292608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Why OCR still fails on real documents</a:t>
            </a:r>
            <a:endParaRPr lang="en-US" sz="3000" dirty="0"/>
          </a:p>
        </p:txBody>
      </p:sp>
      <p:sp>
        <p:nvSpPr>
          <p:cNvPr id="4" name="Text 2"/>
          <p:cNvSpPr txBox="1"/>
          <p:nvPr/>
        </p:nvSpPr>
        <p:spPr>
          <a:xfrm>
            <a:off x="548640" y="1207008"/>
            <a:ext cx="8229600" cy="365760"/>
          </a:xfrm>
          <a:prstGeom prst="rect">
            <a:avLst/>
          </a:prstGeom>
          <a:noFill/>
          <a:ln/>
        </p:spPr>
        <p:txBody>
          <a:bodyPr wrap="square" lIns="0" tIns="0" rIns="0" bIns="0" rtlCol="0" anchor="t"/>
          <a:lstStyle/>
          <a:p>
            <a:pPr marL="0" indent="0">
              <a:buNone/>
            </a:pPr>
            <a:r>
              <a:rPr lang="en-US" sz="1800" dirty="0">
                <a:solidFill>
                  <a:schemeClr val="accent6"/>
                </a:solidFill>
              </a:rPr>
              <a:t>Clean printed pages are easy. Real documents are not.</a:t>
            </a:r>
            <a:endParaRPr lang="en-US" sz="1800" dirty="0"/>
          </a:p>
        </p:txBody>
      </p:sp>
      <p:sp>
        <p:nvSpPr>
          <p:cNvPr id="5" name="Shape 3"/>
          <p:cNvSpPr/>
          <p:nvPr/>
        </p:nvSpPr>
        <p:spPr>
          <a:xfrm>
            <a:off x="548640" y="1874520"/>
            <a:ext cx="3200400" cy="2011680"/>
          </a:xfrm>
          <a:prstGeom prst="roundRect">
            <a:avLst>
              <a:gd name="adj" fmla="val 5455"/>
            </a:avLst>
          </a:prstGeom>
          <a:solidFill>
            <a:schemeClr val="bg2"/>
          </a:solidFill>
          <a:ln/>
        </p:spPr>
      </p:sp>
      <p:sp>
        <p:nvSpPr>
          <p:cNvPr id="6" name="Shape 4"/>
          <p:cNvSpPr/>
          <p:nvPr/>
        </p:nvSpPr>
        <p:spPr>
          <a:xfrm>
            <a:off x="822960" y="2148840"/>
            <a:ext cx="566928" cy="566928"/>
          </a:xfrm>
          <a:prstGeom prst="ellipse">
            <a:avLst/>
          </a:prstGeom>
          <a:solidFill>
            <a:schemeClr val="bg1"/>
          </a:solidFill>
          <a:ln/>
        </p:spPr>
      </p:sp>
      <p:pic>
        <p:nvPicPr>
          <p:cNvPr id="7" name="Image 0" descr="preencoded.png"/>
          <p:cNvPicPr>
            <a:picLocks noChangeAspect="1"/>
          </p:cNvPicPr>
          <p:nvPr/>
        </p:nvPicPr>
        <p:blipFill>
          <a:blip r:embed="rId3"/>
          <a:stretch>
            <a:fillRect/>
          </a:stretch>
        </p:blipFill>
        <p:spPr>
          <a:xfrm>
            <a:off x="959023" y="2284903"/>
            <a:ext cx="294803" cy="294803"/>
          </a:xfrm>
          <a:prstGeom prst="rect">
            <a:avLst/>
          </a:prstGeom>
        </p:spPr>
      </p:pic>
      <p:sp>
        <p:nvSpPr>
          <p:cNvPr id="8" name="Text 5"/>
          <p:cNvSpPr txBox="1"/>
          <p:nvPr/>
        </p:nvSpPr>
        <p:spPr>
          <a:xfrm>
            <a:off x="822960" y="2862072"/>
            <a:ext cx="2651760" cy="365760"/>
          </a:xfrm>
          <a:prstGeom prst="rect">
            <a:avLst/>
          </a:prstGeom>
          <a:noFill/>
          <a:ln/>
        </p:spPr>
        <p:txBody>
          <a:bodyPr wrap="square" lIns="0" tIns="0" rIns="0" bIns="0" rtlCol="0" anchor="t"/>
          <a:lstStyle/>
          <a:p>
            <a:pPr marL="0" indent="0">
              <a:buNone/>
            </a:pPr>
            <a:r>
              <a:rPr lang="en-US" sz="1800" dirty="0">
                <a:solidFill>
                  <a:schemeClr val="tx1"/>
                </a:solidFill>
                <a:latin typeface="Segoe UI Semibold" pitchFamily="34" charset="0"/>
                <a:ea typeface="Segoe UI Semibold" pitchFamily="34" charset="-122"/>
                <a:cs typeface="Segoe UI Semibold" pitchFamily="34" charset="-120"/>
              </a:rPr>
              <a:t>Handwriting</a:t>
            </a:r>
            <a:endParaRPr lang="en-US" sz="1800" dirty="0"/>
          </a:p>
        </p:txBody>
      </p:sp>
      <p:sp>
        <p:nvSpPr>
          <p:cNvPr id="9" name="Text 6"/>
          <p:cNvSpPr txBox="1"/>
          <p:nvPr/>
        </p:nvSpPr>
        <p:spPr>
          <a:xfrm>
            <a:off x="822960" y="3246120"/>
            <a:ext cx="2697480" cy="548640"/>
          </a:xfrm>
          <a:prstGeom prst="rect">
            <a:avLst/>
          </a:prstGeom>
          <a:noFill/>
          <a:ln/>
        </p:spPr>
        <p:txBody>
          <a:bodyPr wrap="square" lIns="0" tIns="0" rIns="0" bIns="0" rtlCol="0" anchor="t"/>
          <a:lstStyle/>
          <a:p>
            <a:pPr marL="0" indent="0">
              <a:buNone/>
            </a:pPr>
            <a:r>
              <a:rPr lang="en-US" sz="1400" dirty="0">
                <a:solidFill>
                  <a:schemeClr val="accent6"/>
                </a:solidFill>
              </a:rPr>
              <a:t>Every writer is different; letters touch and slant.</a:t>
            </a:r>
            <a:endParaRPr lang="en-US" sz="1400" dirty="0"/>
          </a:p>
        </p:txBody>
      </p:sp>
      <p:sp>
        <p:nvSpPr>
          <p:cNvPr id="10" name="Shape 7"/>
          <p:cNvSpPr/>
          <p:nvPr/>
        </p:nvSpPr>
        <p:spPr>
          <a:xfrm>
            <a:off x="4023360" y="1874520"/>
            <a:ext cx="3200400" cy="2011680"/>
          </a:xfrm>
          <a:prstGeom prst="roundRect">
            <a:avLst>
              <a:gd name="adj" fmla="val 5455"/>
            </a:avLst>
          </a:prstGeom>
          <a:solidFill>
            <a:schemeClr val="bg2"/>
          </a:solidFill>
          <a:ln/>
        </p:spPr>
      </p:sp>
      <p:sp>
        <p:nvSpPr>
          <p:cNvPr id="11" name="Shape 8"/>
          <p:cNvSpPr/>
          <p:nvPr/>
        </p:nvSpPr>
        <p:spPr>
          <a:xfrm>
            <a:off x="4297680" y="2148840"/>
            <a:ext cx="566928" cy="566928"/>
          </a:xfrm>
          <a:prstGeom prst="ellipse">
            <a:avLst/>
          </a:prstGeom>
          <a:solidFill>
            <a:schemeClr val="bg1"/>
          </a:solidFill>
          <a:ln/>
        </p:spPr>
      </p:sp>
      <p:pic>
        <p:nvPicPr>
          <p:cNvPr id="12" name="Image 1" descr="preencoded.png"/>
          <p:cNvPicPr>
            <a:picLocks noChangeAspect="1"/>
          </p:cNvPicPr>
          <p:nvPr/>
        </p:nvPicPr>
        <p:blipFill>
          <a:blip r:embed="rId4"/>
          <a:stretch>
            <a:fillRect/>
          </a:stretch>
        </p:blipFill>
        <p:spPr>
          <a:xfrm>
            <a:off x="4433743" y="2284903"/>
            <a:ext cx="294803" cy="294803"/>
          </a:xfrm>
          <a:prstGeom prst="rect">
            <a:avLst/>
          </a:prstGeom>
        </p:spPr>
      </p:pic>
      <p:sp>
        <p:nvSpPr>
          <p:cNvPr id="13" name="Text 9"/>
          <p:cNvSpPr txBox="1"/>
          <p:nvPr/>
        </p:nvSpPr>
        <p:spPr>
          <a:xfrm>
            <a:off x="4297680" y="2862072"/>
            <a:ext cx="2651760" cy="365760"/>
          </a:xfrm>
          <a:prstGeom prst="rect">
            <a:avLst/>
          </a:prstGeom>
          <a:noFill/>
          <a:ln/>
        </p:spPr>
        <p:txBody>
          <a:bodyPr wrap="square" lIns="0" tIns="0" rIns="0" bIns="0" rtlCol="0" anchor="t"/>
          <a:lstStyle/>
          <a:p>
            <a:pPr marL="0" indent="0">
              <a:buNone/>
            </a:pPr>
            <a:r>
              <a:rPr lang="en-US" sz="1800" dirty="0">
                <a:solidFill>
                  <a:schemeClr val="tx1"/>
                </a:solidFill>
                <a:latin typeface="Segoe UI Semibold" pitchFamily="34" charset="0"/>
                <a:ea typeface="Segoe UI Semibold" pitchFamily="34" charset="-122"/>
                <a:cs typeface="Segoe UI Semibold" pitchFamily="34" charset="-120"/>
              </a:rPr>
              <a:t>Poor scans</a:t>
            </a:r>
            <a:endParaRPr lang="en-US" sz="1800" dirty="0"/>
          </a:p>
        </p:txBody>
      </p:sp>
      <p:sp>
        <p:nvSpPr>
          <p:cNvPr id="14" name="Text 10"/>
          <p:cNvSpPr txBox="1"/>
          <p:nvPr/>
        </p:nvSpPr>
        <p:spPr>
          <a:xfrm>
            <a:off x="4297680" y="3246120"/>
            <a:ext cx="2697480" cy="548640"/>
          </a:xfrm>
          <a:prstGeom prst="rect">
            <a:avLst/>
          </a:prstGeom>
          <a:noFill/>
          <a:ln/>
        </p:spPr>
        <p:txBody>
          <a:bodyPr wrap="square" lIns="0" tIns="0" rIns="0" bIns="0" rtlCol="0" anchor="t"/>
          <a:lstStyle/>
          <a:p>
            <a:pPr marL="0" indent="0">
              <a:buNone/>
            </a:pPr>
            <a:r>
              <a:rPr lang="en-US" sz="1400" dirty="0">
                <a:solidFill>
                  <a:schemeClr val="accent6"/>
                </a:solidFill>
              </a:rPr>
              <a:t>Noise, blur, shadows, low contrast and faint ink.</a:t>
            </a:r>
            <a:endParaRPr lang="en-US" sz="1400" dirty="0"/>
          </a:p>
        </p:txBody>
      </p:sp>
      <p:sp>
        <p:nvSpPr>
          <p:cNvPr id="15" name="Shape 11"/>
          <p:cNvSpPr/>
          <p:nvPr/>
        </p:nvSpPr>
        <p:spPr>
          <a:xfrm>
            <a:off x="548640" y="4114800"/>
            <a:ext cx="3200400" cy="2011680"/>
          </a:xfrm>
          <a:prstGeom prst="roundRect">
            <a:avLst>
              <a:gd name="adj" fmla="val 5455"/>
            </a:avLst>
          </a:prstGeom>
          <a:solidFill>
            <a:schemeClr val="bg2"/>
          </a:solidFill>
          <a:ln/>
        </p:spPr>
      </p:sp>
      <p:sp>
        <p:nvSpPr>
          <p:cNvPr id="16" name="Shape 12"/>
          <p:cNvSpPr/>
          <p:nvPr/>
        </p:nvSpPr>
        <p:spPr>
          <a:xfrm>
            <a:off x="822960" y="4389120"/>
            <a:ext cx="566928" cy="566928"/>
          </a:xfrm>
          <a:prstGeom prst="ellipse">
            <a:avLst/>
          </a:prstGeom>
          <a:solidFill>
            <a:schemeClr val="bg1"/>
          </a:solidFill>
          <a:ln/>
        </p:spPr>
      </p:sp>
      <p:pic>
        <p:nvPicPr>
          <p:cNvPr id="17" name="Image 2" descr="preencoded.png"/>
          <p:cNvPicPr>
            <a:picLocks noChangeAspect="1"/>
          </p:cNvPicPr>
          <p:nvPr/>
        </p:nvPicPr>
        <p:blipFill>
          <a:blip r:embed="rId5"/>
          <a:stretch>
            <a:fillRect/>
          </a:stretch>
        </p:blipFill>
        <p:spPr>
          <a:xfrm>
            <a:off x="959023" y="4525183"/>
            <a:ext cx="294803" cy="294803"/>
          </a:xfrm>
          <a:prstGeom prst="rect">
            <a:avLst/>
          </a:prstGeom>
        </p:spPr>
      </p:pic>
      <p:sp>
        <p:nvSpPr>
          <p:cNvPr id="18" name="Text 13"/>
          <p:cNvSpPr txBox="1"/>
          <p:nvPr/>
        </p:nvSpPr>
        <p:spPr>
          <a:xfrm>
            <a:off x="822960" y="5102352"/>
            <a:ext cx="2651760" cy="365760"/>
          </a:xfrm>
          <a:prstGeom prst="rect">
            <a:avLst/>
          </a:prstGeom>
          <a:noFill/>
          <a:ln/>
        </p:spPr>
        <p:txBody>
          <a:bodyPr wrap="square" lIns="0" tIns="0" rIns="0" bIns="0" rtlCol="0" anchor="t"/>
          <a:lstStyle/>
          <a:p>
            <a:pPr marL="0" indent="0">
              <a:buNone/>
            </a:pPr>
            <a:r>
              <a:rPr lang="en-US" sz="1800" dirty="0">
                <a:solidFill>
                  <a:schemeClr val="tx1"/>
                </a:solidFill>
                <a:latin typeface="Segoe UI Semibold" pitchFamily="34" charset="0"/>
                <a:ea typeface="Segoe UI Semibold" pitchFamily="34" charset="-122"/>
                <a:cs typeface="Segoe UI Semibold" pitchFamily="34" charset="-120"/>
              </a:rPr>
              <a:t>Skew and layout</a:t>
            </a:r>
            <a:endParaRPr lang="en-US" sz="1800" dirty="0"/>
          </a:p>
        </p:txBody>
      </p:sp>
      <p:sp>
        <p:nvSpPr>
          <p:cNvPr id="19" name="Text 14"/>
          <p:cNvSpPr txBox="1"/>
          <p:nvPr/>
        </p:nvSpPr>
        <p:spPr>
          <a:xfrm>
            <a:off x="822960" y="5486400"/>
            <a:ext cx="2697480" cy="548640"/>
          </a:xfrm>
          <a:prstGeom prst="rect">
            <a:avLst/>
          </a:prstGeom>
          <a:noFill/>
          <a:ln/>
        </p:spPr>
        <p:txBody>
          <a:bodyPr wrap="square" lIns="0" tIns="0" rIns="0" bIns="0" rtlCol="0" anchor="t"/>
          <a:lstStyle/>
          <a:p>
            <a:pPr marL="0" indent="0">
              <a:buNone/>
            </a:pPr>
            <a:r>
              <a:rPr lang="en-US" sz="1400" dirty="0">
                <a:solidFill>
                  <a:schemeClr val="accent6"/>
                </a:solidFill>
              </a:rPr>
              <a:t>Tilted pages, tables, forms, checkboxes, columns.</a:t>
            </a:r>
            <a:endParaRPr lang="en-US" sz="1400" dirty="0"/>
          </a:p>
        </p:txBody>
      </p:sp>
      <p:sp>
        <p:nvSpPr>
          <p:cNvPr id="20" name="Shape 15"/>
          <p:cNvSpPr/>
          <p:nvPr/>
        </p:nvSpPr>
        <p:spPr>
          <a:xfrm>
            <a:off x="4023360" y="4114800"/>
            <a:ext cx="3200400" cy="2011680"/>
          </a:xfrm>
          <a:prstGeom prst="roundRect">
            <a:avLst>
              <a:gd name="adj" fmla="val 5455"/>
            </a:avLst>
          </a:prstGeom>
          <a:solidFill>
            <a:schemeClr val="bg2"/>
          </a:solidFill>
          <a:ln/>
        </p:spPr>
      </p:sp>
      <p:sp>
        <p:nvSpPr>
          <p:cNvPr id="21" name="Shape 16"/>
          <p:cNvSpPr/>
          <p:nvPr/>
        </p:nvSpPr>
        <p:spPr>
          <a:xfrm>
            <a:off x="4297680" y="4389120"/>
            <a:ext cx="566928" cy="566928"/>
          </a:xfrm>
          <a:prstGeom prst="ellipse">
            <a:avLst/>
          </a:prstGeom>
          <a:solidFill>
            <a:schemeClr val="bg1"/>
          </a:solidFill>
          <a:ln/>
        </p:spPr>
      </p:sp>
      <p:pic>
        <p:nvPicPr>
          <p:cNvPr id="22" name="Image 3" descr="preencoded.png"/>
          <p:cNvPicPr>
            <a:picLocks noChangeAspect="1"/>
          </p:cNvPicPr>
          <p:nvPr/>
        </p:nvPicPr>
        <p:blipFill>
          <a:blip r:embed="rId6"/>
          <a:stretch>
            <a:fillRect/>
          </a:stretch>
        </p:blipFill>
        <p:spPr>
          <a:xfrm>
            <a:off x="4433743" y="4525183"/>
            <a:ext cx="294803" cy="294803"/>
          </a:xfrm>
          <a:prstGeom prst="rect">
            <a:avLst/>
          </a:prstGeom>
        </p:spPr>
      </p:pic>
      <p:sp>
        <p:nvSpPr>
          <p:cNvPr id="23" name="Text 17"/>
          <p:cNvSpPr txBox="1"/>
          <p:nvPr/>
        </p:nvSpPr>
        <p:spPr>
          <a:xfrm>
            <a:off x="4297680" y="5102352"/>
            <a:ext cx="2651760" cy="365760"/>
          </a:xfrm>
          <a:prstGeom prst="rect">
            <a:avLst/>
          </a:prstGeom>
          <a:noFill/>
          <a:ln/>
        </p:spPr>
        <p:txBody>
          <a:bodyPr wrap="square" lIns="0" tIns="0" rIns="0" bIns="0" rtlCol="0" anchor="t"/>
          <a:lstStyle/>
          <a:p>
            <a:pPr marL="0" indent="0">
              <a:buNone/>
            </a:pPr>
            <a:r>
              <a:rPr lang="en-US" sz="1800" dirty="0">
                <a:solidFill>
                  <a:schemeClr val="tx1"/>
                </a:solidFill>
                <a:latin typeface="Segoe UI Semibold" pitchFamily="34" charset="0"/>
                <a:ea typeface="Segoe UI Semibold" pitchFamily="34" charset="-122"/>
                <a:cs typeface="Segoe UI Semibold" pitchFamily="34" charset="-120"/>
              </a:rPr>
              <a:t>No sense of doubt</a:t>
            </a:r>
            <a:endParaRPr lang="en-US" sz="1800" dirty="0"/>
          </a:p>
        </p:txBody>
      </p:sp>
      <p:sp>
        <p:nvSpPr>
          <p:cNvPr id="24" name="Text 18"/>
          <p:cNvSpPr txBox="1"/>
          <p:nvPr/>
        </p:nvSpPr>
        <p:spPr>
          <a:xfrm>
            <a:off x="4297680" y="5486400"/>
            <a:ext cx="2697480" cy="548640"/>
          </a:xfrm>
          <a:prstGeom prst="rect">
            <a:avLst/>
          </a:prstGeom>
          <a:noFill/>
          <a:ln/>
        </p:spPr>
        <p:txBody>
          <a:bodyPr wrap="square" lIns="0" tIns="0" rIns="0" bIns="0" rtlCol="0" anchor="t"/>
          <a:lstStyle/>
          <a:p>
            <a:pPr marL="0" indent="0">
              <a:buNone/>
            </a:pPr>
            <a:r>
              <a:rPr lang="en-US" sz="1400" dirty="0">
                <a:solidFill>
                  <a:schemeClr val="accent6"/>
                </a:solidFill>
              </a:rPr>
              <a:t>Tools never say which words may be wrong.</a:t>
            </a:r>
            <a:endParaRPr lang="en-US" sz="1400" dirty="0"/>
          </a:p>
        </p:txBody>
      </p:sp>
      <p:pic>
        <p:nvPicPr>
          <p:cNvPr id="25" name="Image 4" descr="A noisy, skewed scanned notice"/>
          <p:cNvPicPr>
            <a:picLocks noChangeAspect="1"/>
          </p:cNvPicPr>
          <p:nvPr/>
        </p:nvPicPr>
        <p:blipFill>
          <a:blip r:embed="rId7"/>
          <a:stretch>
            <a:fillRect/>
          </a:stretch>
        </p:blipFill>
        <p:spPr>
          <a:xfrm>
            <a:off x="7589520" y="1874520"/>
            <a:ext cx="4023360" cy="3626217"/>
          </a:xfrm>
          <a:prstGeom prst="rect">
            <a:avLst/>
          </a:prstGeom>
          <a:effectLst>
            <a:outerShdw blurRad="127000" dist="38100" dir="5400000" algn="bl" rotWithShape="0">
              <a:srgbClr val="101828">
                <a:alpha val="16000"/>
              </a:srgbClr>
            </a:outerShdw>
          </a:effectLst>
        </p:spPr>
      </p:pic>
      <p:sp>
        <p:nvSpPr>
          <p:cNvPr id="26" name="Text 19"/>
          <p:cNvSpPr txBox="1"/>
          <p:nvPr/>
        </p:nvSpPr>
        <p:spPr>
          <a:xfrm>
            <a:off x="7589520" y="5592177"/>
            <a:ext cx="4023360" cy="320040"/>
          </a:xfrm>
          <a:prstGeom prst="rect">
            <a:avLst/>
          </a:prstGeom>
          <a:noFill/>
          <a:ln/>
        </p:spPr>
        <p:txBody>
          <a:bodyPr wrap="square" lIns="0" tIns="0" rIns="0" bIns="0" rtlCol="0" anchor="t"/>
          <a:lstStyle/>
          <a:p>
            <a:pPr marL="0" indent="0" algn="ctr">
              <a:buNone/>
            </a:pPr>
            <a:r>
              <a:rPr lang="en-US" sz="1100" dirty="0">
                <a:solidFill>
                  <a:schemeClr val="accent6"/>
                </a:solidFill>
              </a:rPr>
              <a:t>A test input: 4° skew, noise and uneven lighting</a:t>
            </a:r>
            <a:endParaRPr lang="en-US" sz="1100" dirty="0"/>
          </a:p>
        </p:txBody>
      </p:sp>
      <p:sp>
        <p:nvSpPr>
          <p:cNvPr id="27"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lens"/>
          <p:cNvSpPr/>
          <p:nvPr/>
        </p:nvSpPr>
        <p:spPr>
          <a:xfrm>
            <a:off x="-2377440" y="4023360"/>
            <a:ext cx="2743200" cy="274320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Objectives from the project proposal</a:t>
            </a:r>
            <a:endParaRPr lang="en-US" sz="3000" dirty="0"/>
          </a:p>
        </p:txBody>
      </p:sp>
      <p:sp>
        <p:nvSpPr>
          <p:cNvPr id="4" name="Shape 2"/>
          <p:cNvSpPr/>
          <p:nvPr/>
        </p:nvSpPr>
        <p:spPr>
          <a:xfrm>
            <a:off x="548640" y="1600200"/>
            <a:ext cx="5394960" cy="868680"/>
          </a:xfrm>
          <a:prstGeom prst="roundRect">
            <a:avLst>
              <a:gd name="adj" fmla="val 12632"/>
            </a:avLst>
          </a:prstGeom>
          <a:solidFill>
            <a:schemeClr val="bg2"/>
          </a:solidFill>
          <a:ln/>
        </p:spPr>
      </p:sp>
      <p:sp>
        <p:nvSpPr>
          <p:cNvPr id="5" name="Shape 3"/>
          <p:cNvSpPr/>
          <p:nvPr/>
        </p:nvSpPr>
        <p:spPr>
          <a:xfrm>
            <a:off x="731520" y="1773936"/>
            <a:ext cx="521208" cy="521208"/>
          </a:xfrm>
          <a:prstGeom prst="ellipse">
            <a:avLst/>
          </a:prstGeom>
          <a:solidFill>
            <a:schemeClr val="accent1"/>
          </a:solidFill>
          <a:ln/>
        </p:spPr>
      </p:sp>
      <p:sp>
        <p:nvSpPr>
          <p:cNvPr id="6" name="Text 4"/>
          <p:cNvSpPr txBox="1"/>
          <p:nvPr/>
        </p:nvSpPr>
        <p:spPr>
          <a:xfrm>
            <a:off x="731520" y="1773936"/>
            <a:ext cx="521208" cy="521208"/>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5"/>
          <p:cNvSpPr txBox="1"/>
          <p:nvPr/>
        </p:nvSpPr>
        <p:spPr>
          <a:xfrm>
            <a:off x="1417320" y="1691640"/>
            <a:ext cx="4389120" cy="685800"/>
          </a:xfrm>
          <a:prstGeom prst="rect">
            <a:avLst/>
          </a:prstGeom>
          <a:noFill/>
          <a:ln/>
        </p:spPr>
        <p:txBody>
          <a:bodyPr wrap="square" lIns="0" tIns="0" rIns="0" bIns="0" rtlCol="0" anchor="ctr"/>
          <a:lstStyle/>
          <a:p>
            <a:pPr marL="0" indent="0">
              <a:buNone/>
            </a:pPr>
            <a:r>
              <a:rPr lang="en-US" sz="1700" dirty="0">
                <a:solidFill>
                  <a:schemeClr val="tx1"/>
                </a:solidFill>
              </a:rPr>
              <a:t>Extract text from document images</a:t>
            </a:r>
            <a:endParaRPr lang="en-US" sz="1700" dirty="0"/>
          </a:p>
        </p:txBody>
      </p:sp>
      <p:sp>
        <p:nvSpPr>
          <p:cNvPr id="8" name="Shape 6"/>
          <p:cNvSpPr/>
          <p:nvPr/>
        </p:nvSpPr>
        <p:spPr>
          <a:xfrm>
            <a:off x="6217920" y="1600200"/>
            <a:ext cx="5394960" cy="868680"/>
          </a:xfrm>
          <a:prstGeom prst="roundRect">
            <a:avLst>
              <a:gd name="adj" fmla="val 12632"/>
            </a:avLst>
          </a:prstGeom>
          <a:solidFill>
            <a:schemeClr val="bg2"/>
          </a:solidFill>
          <a:ln/>
        </p:spPr>
      </p:sp>
      <p:sp>
        <p:nvSpPr>
          <p:cNvPr id="9" name="Shape 7"/>
          <p:cNvSpPr/>
          <p:nvPr/>
        </p:nvSpPr>
        <p:spPr>
          <a:xfrm>
            <a:off x="6400800" y="1773936"/>
            <a:ext cx="521208" cy="521208"/>
          </a:xfrm>
          <a:prstGeom prst="ellipse">
            <a:avLst/>
          </a:prstGeom>
          <a:solidFill>
            <a:schemeClr val="accent1"/>
          </a:solidFill>
          <a:ln/>
        </p:spPr>
      </p:sp>
      <p:sp>
        <p:nvSpPr>
          <p:cNvPr id="10" name="Text 8"/>
          <p:cNvSpPr txBox="1"/>
          <p:nvPr/>
        </p:nvSpPr>
        <p:spPr>
          <a:xfrm>
            <a:off x="6400800" y="1773936"/>
            <a:ext cx="521208" cy="521208"/>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7086600" y="1691640"/>
            <a:ext cx="4389120" cy="685800"/>
          </a:xfrm>
          <a:prstGeom prst="rect">
            <a:avLst/>
          </a:prstGeom>
          <a:noFill/>
          <a:ln/>
        </p:spPr>
        <p:txBody>
          <a:bodyPr wrap="square" lIns="0" tIns="0" rIns="0" bIns="0" rtlCol="0" anchor="ctr"/>
          <a:lstStyle/>
          <a:p>
            <a:pPr marL="0" indent="0">
              <a:buNone/>
            </a:pPr>
            <a:r>
              <a:rPr lang="en-US" sz="1700" dirty="0">
                <a:solidFill>
                  <a:schemeClr val="tx1"/>
                </a:solidFill>
              </a:rPr>
              <a:t>Recognise handwritten and printed text</a:t>
            </a:r>
            <a:endParaRPr lang="en-US" sz="1700" dirty="0"/>
          </a:p>
        </p:txBody>
      </p:sp>
      <p:sp>
        <p:nvSpPr>
          <p:cNvPr id="12" name="Shape 10"/>
          <p:cNvSpPr/>
          <p:nvPr/>
        </p:nvSpPr>
        <p:spPr>
          <a:xfrm>
            <a:off x="548640" y="2697480"/>
            <a:ext cx="5394960" cy="868680"/>
          </a:xfrm>
          <a:prstGeom prst="roundRect">
            <a:avLst>
              <a:gd name="adj" fmla="val 12632"/>
            </a:avLst>
          </a:prstGeom>
          <a:solidFill>
            <a:schemeClr val="bg2"/>
          </a:solidFill>
          <a:ln/>
        </p:spPr>
      </p:sp>
      <p:sp>
        <p:nvSpPr>
          <p:cNvPr id="13" name="Shape 11"/>
          <p:cNvSpPr/>
          <p:nvPr/>
        </p:nvSpPr>
        <p:spPr>
          <a:xfrm>
            <a:off x="731520" y="2871216"/>
            <a:ext cx="521208" cy="521208"/>
          </a:xfrm>
          <a:prstGeom prst="ellipse">
            <a:avLst/>
          </a:prstGeom>
          <a:solidFill>
            <a:schemeClr val="accent1"/>
          </a:solidFill>
          <a:ln/>
        </p:spPr>
      </p:sp>
      <p:sp>
        <p:nvSpPr>
          <p:cNvPr id="14" name="Text 12"/>
          <p:cNvSpPr txBox="1"/>
          <p:nvPr/>
        </p:nvSpPr>
        <p:spPr>
          <a:xfrm>
            <a:off x="731520" y="2871216"/>
            <a:ext cx="521208" cy="521208"/>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3"/>
          <p:cNvSpPr txBox="1"/>
          <p:nvPr/>
        </p:nvSpPr>
        <p:spPr>
          <a:xfrm>
            <a:off x="1417320" y="2788920"/>
            <a:ext cx="4389120" cy="685800"/>
          </a:xfrm>
          <a:prstGeom prst="rect">
            <a:avLst/>
          </a:prstGeom>
          <a:noFill/>
          <a:ln/>
        </p:spPr>
        <p:txBody>
          <a:bodyPr wrap="square" lIns="0" tIns="0" rIns="0" bIns="0" rtlCol="0" anchor="ctr"/>
          <a:lstStyle/>
          <a:p>
            <a:pPr marL="0" indent="0">
              <a:buNone/>
            </a:pPr>
            <a:r>
              <a:rPr lang="en-US" sz="1700" dirty="0">
                <a:solidFill>
                  <a:schemeClr val="tx1"/>
                </a:solidFill>
              </a:rPr>
              <a:t>Clean noisy, blurred and skewed images</a:t>
            </a:r>
            <a:endParaRPr lang="en-US" sz="1700" dirty="0"/>
          </a:p>
        </p:txBody>
      </p:sp>
      <p:sp>
        <p:nvSpPr>
          <p:cNvPr id="16" name="Shape 14"/>
          <p:cNvSpPr/>
          <p:nvPr/>
        </p:nvSpPr>
        <p:spPr>
          <a:xfrm>
            <a:off x="6217920" y="2697480"/>
            <a:ext cx="5394960" cy="868680"/>
          </a:xfrm>
          <a:prstGeom prst="roundRect">
            <a:avLst>
              <a:gd name="adj" fmla="val 12632"/>
            </a:avLst>
          </a:prstGeom>
          <a:solidFill>
            <a:schemeClr val="bg2"/>
          </a:solidFill>
          <a:ln/>
        </p:spPr>
      </p:sp>
      <p:sp>
        <p:nvSpPr>
          <p:cNvPr id="17" name="Shape 15"/>
          <p:cNvSpPr/>
          <p:nvPr/>
        </p:nvSpPr>
        <p:spPr>
          <a:xfrm>
            <a:off x="6400800" y="2871216"/>
            <a:ext cx="521208" cy="521208"/>
          </a:xfrm>
          <a:prstGeom prst="ellipse">
            <a:avLst/>
          </a:prstGeom>
          <a:solidFill>
            <a:schemeClr val="accent1"/>
          </a:solidFill>
          <a:ln/>
        </p:spPr>
      </p:sp>
      <p:sp>
        <p:nvSpPr>
          <p:cNvPr id="18" name="Text 16"/>
          <p:cNvSpPr txBox="1"/>
          <p:nvPr/>
        </p:nvSpPr>
        <p:spPr>
          <a:xfrm>
            <a:off x="6400800" y="2871216"/>
            <a:ext cx="521208" cy="521208"/>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7"/>
          <p:cNvSpPr txBox="1"/>
          <p:nvPr/>
        </p:nvSpPr>
        <p:spPr>
          <a:xfrm>
            <a:off x="7086600" y="2788920"/>
            <a:ext cx="4389120" cy="685800"/>
          </a:xfrm>
          <a:prstGeom prst="rect">
            <a:avLst/>
          </a:prstGeom>
          <a:noFill/>
          <a:ln/>
        </p:spPr>
        <p:txBody>
          <a:bodyPr wrap="square" lIns="0" tIns="0" rIns="0" bIns="0" rtlCol="0" anchor="ctr"/>
          <a:lstStyle/>
          <a:p>
            <a:pPr marL="0" indent="0">
              <a:buNone/>
            </a:pPr>
            <a:r>
              <a:rPr lang="en-US" sz="1700" dirty="0">
                <a:solidFill>
                  <a:schemeClr val="tx1"/>
                </a:solidFill>
              </a:rPr>
              <a:t>Detect text regions in complex documents</a:t>
            </a:r>
            <a:endParaRPr lang="en-US" sz="1700" dirty="0"/>
          </a:p>
        </p:txBody>
      </p:sp>
      <p:sp>
        <p:nvSpPr>
          <p:cNvPr id="20" name="Shape 18"/>
          <p:cNvSpPr/>
          <p:nvPr/>
        </p:nvSpPr>
        <p:spPr>
          <a:xfrm>
            <a:off x="548640" y="3794760"/>
            <a:ext cx="5394960" cy="868680"/>
          </a:xfrm>
          <a:prstGeom prst="roundRect">
            <a:avLst>
              <a:gd name="adj" fmla="val 12632"/>
            </a:avLst>
          </a:prstGeom>
          <a:solidFill>
            <a:schemeClr val="bg2"/>
          </a:solidFill>
          <a:ln/>
        </p:spPr>
      </p:sp>
      <p:sp>
        <p:nvSpPr>
          <p:cNvPr id="21" name="Shape 19"/>
          <p:cNvSpPr/>
          <p:nvPr/>
        </p:nvSpPr>
        <p:spPr>
          <a:xfrm>
            <a:off x="731520" y="3968496"/>
            <a:ext cx="521208" cy="521208"/>
          </a:xfrm>
          <a:prstGeom prst="ellipse">
            <a:avLst/>
          </a:prstGeom>
          <a:solidFill>
            <a:schemeClr val="accent1"/>
          </a:solidFill>
          <a:ln/>
        </p:spPr>
      </p:sp>
      <p:sp>
        <p:nvSpPr>
          <p:cNvPr id="22" name="Text 20"/>
          <p:cNvSpPr txBox="1"/>
          <p:nvPr/>
        </p:nvSpPr>
        <p:spPr>
          <a:xfrm>
            <a:off x="731520" y="3968496"/>
            <a:ext cx="521208" cy="521208"/>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3" name="Text 21"/>
          <p:cNvSpPr txBox="1"/>
          <p:nvPr/>
        </p:nvSpPr>
        <p:spPr>
          <a:xfrm>
            <a:off x="1417320" y="3886200"/>
            <a:ext cx="4389120" cy="685800"/>
          </a:xfrm>
          <a:prstGeom prst="rect">
            <a:avLst/>
          </a:prstGeom>
          <a:noFill/>
          <a:ln/>
        </p:spPr>
        <p:txBody>
          <a:bodyPr wrap="square" lIns="0" tIns="0" rIns="0" bIns="0" rtlCol="0" anchor="ctr"/>
          <a:lstStyle/>
          <a:p>
            <a:pPr marL="0" indent="0">
              <a:buNone/>
            </a:pPr>
            <a:r>
              <a:rPr lang="en-US" sz="1700" dirty="0">
                <a:solidFill>
                  <a:schemeClr val="tx1"/>
                </a:solidFill>
              </a:rPr>
              <a:t>Analyse the document layout</a:t>
            </a:r>
            <a:endParaRPr lang="en-US" sz="1700" dirty="0"/>
          </a:p>
        </p:txBody>
      </p:sp>
      <p:sp>
        <p:nvSpPr>
          <p:cNvPr id="24" name="Shape 22"/>
          <p:cNvSpPr/>
          <p:nvPr/>
        </p:nvSpPr>
        <p:spPr>
          <a:xfrm>
            <a:off x="6217920" y="3794760"/>
            <a:ext cx="5394960" cy="868680"/>
          </a:xfrm>
          <a:prstGeom prst="roundRect">
            <a:avLst>
              <a:gd name="adj" fmla="val 12632"/>
            </a:avLst>
          </a:prstGeom>
          <a:solidFill>
            <a:schemeClr val="bg2"/>
          </a:solidFill>
          <a:ln/>
        </p:spPr>
      </p:sp>
      <p:sp>
        <p:nvSpPr>
          <p:cNvPr id="25" name="Shape 23"/>
          <p:cNvSpPr/>
          <p:nvPr/>
        </p:nvSpPr>
        <p:spPr>
          <a:xfrm>
            <a:off x="6400800" y="3968496"/>
            <a:ext cx="521208" cy="521208"/>
          </a:xfrm>
          <a:prstGeom prst="ellipse">
            <a:avLst/>
          </a:prstGeom>
          <a:solidFill>
            <a:schemeClr val="accent1"/>
          </a:solidFill>
          <a:ln/>
        </p:spPr>
      </p:sp>
      <p:sp>
        <p:nvSpPr>
          <p:cNvPr id="26" name="Text 24"/>
          <p:cNvSpPr txBox="1"/>
          <p:nvPr/>
        </p:nvSpPr>
        <p:spPr>
          <a:xfrm>
            <a:off x="6400800" y="3968496"/>
            <a:ext cx="521208" cy="521208"/>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7" name="Text 25"/>
          <p:cNvSpPr txBox="1"/>
          <p:nvPr/>
        </p:nvSpPr>
        <p:spPr>
          <a:xfrm>
            <a:off x="7086600" y="3886200"/>
            <a:ext cx="4389120" cy="685800"/>
          </a:xfrm>
          <a:prstGeom prst="rect">
            <a:avLst/>
          </a:prstGeom>
          <a:noFill/>
          <a:ln/>
        </p:spPr>
        <p:txBody>
          <a:bodyPr wrap="square" lIns="0" tIns="0" rIns="0" bIns="0" rtlCol="0" anchor="ctr"/>
          <a:lstStyle/>
          <a:p>
            <a:pPr marL="0" indent="0">
              <a:buNone/>
            </a:pPr>
            <a:r>
              <a:rPr lang="en-US" sz="1700" dirty="0">
                <a:solidFill>
                  <a:schemeClr val="tx1"/>
                </a:solidFill>
              </a:rPr>
              <a:t>Compare deep-learning recognition models</a:t>
            </a:r>
            <a:endParaRPr lang="en-US" sz="1700" dirty="0"/>
          </a:p>
        </p:txBody>
      </p:sp>
      <p:sp>
        <p:nvSpPr>
          <p:cNvPr id="28" name="Shape 26"/>
          <p:cNvSpPr/>
          <p:nvPr/>
        </p:nvSpPr>
        <p:spPr>
          <a:xfrm>
            <a:off x="548640" y="4892040"/>
            <a:ext cx="5394960" cy="868680"/>
          </a:xfrm>
          <a:prstGeom prst="roundRect">
            <a:avLst>
              <a:gd name="adj" fmla="val 12632"/>
            </a:avLst>
          </a:prstGeom>
          <a:solidFill>
            <a:schemeClr val="bg2"/>
          </a:solidFill>
          <a:ln/>
        </p:spPr>
      </p:sp>
      <p:sp>
        <p:nvSpPr>
          <p:cNvPr id="29" name="Shape 27"/>
          <p:cNvSpPr/>
          <p:nvPr/>
        </p:nvSpPr>
        <p:spPr>
          <a:xfrm>
            <a:off x="731520" y="5065776"/>
            <a:ext cx="521208" cy="521208"/>
          </a:xfrm>
          <a:prstGeom prst="ellipse">
            <a:avLst/>
          </a:prstGeom>
          <a:solidFill>
            <a:schemeClr val="accent1"/>
          </a:solidFill>
          <a:ln/>
        </p:spPr>
      </p:sp>
      <p:sp>
        <p:nvSpPr>
          <p:cNvPr id="30" name="Text 28"/>
          <p:cNvSpPr txBox="1"/>
          <p:nvPr/>
        </p:nvSpPr>
        <p:spPr>
          <a:xfrm>
            <a:off x="731520" y="5065776"/>
            <a:ext cx="521208" cy="521208"/>
          </a:xfrm>
          <a:prstGeom prst="rect">
            <a:avLst/>
          </a:prstGeom>
          <a:no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31" name="Text 29"/>
          <p:cNvSpPr txBox="1"/>
          <p:nvPr/>
        </p:nvSpPr>
        <p:spPr>
          <a:xfrm>
            <a:off x="1417320" y="4983480"/>
            <a:ext cx="4389120" cy="685800"/>
          </a:xfrm>
          <a:prstGeom prst="rect">
            <a:avLst/>
          </a:prstGeom>
          <a:noFill/>
          <a:ln/>
        </p:spPr>
        <p:txBody>
          <a:bodyPr wrap="square" lIns="0" tIns="0" rIns="0" bIns="0" rtlCol="0" anchor="ctr"/>
          <a:lstStyle/>
          <a:p>
            <a:pPr marL="0" indent="0">
              <a:buNone/>
            </a:pPr>
            <a:r>
              <a:rPr lang="en-US" sz="1700" dirty="0">
                <a:solidFill>
                  <a:schemeClr val="tx1"/>
                </a:solidFill>
              </a:rPr>
              <a:t>Evaluate with standard metrics (CER, WER)</a:t>
            </a:r>
            <a:endParaRPr lang="en-US" sz="1700" dirty="0"/>
          </a:p>
        </p:txBody>
      </p:sp>
      <p:sp>
        <p:nvSpPr>
          <p:cNvPr id="32" name="Shape 30"/>
          <p:cNvSpPr/>
          <p:nvPr/>
        </p:nvSpPr>
        <p:spPr>
          <a:xfrm>
            <a:off x="6217920" y="4892040"/>
            <a:ext cx="5394960" cy="868680"/>
          </a:xfrm>
          <a:prstGeom prst="roundRect">
            <a:avLst>
              <a:gd name="adj" fmla="val 12632"/>
            </a:avLst>
          </a:prstGeom>
          <a:solidFill>
            <a:schemeClr val="bg2"/>
          </a:solidFill>
          <a:ln/>
        </p:spPr>
      </p:sp>
      <p:sp>
        <p:nvSpPr>
          <p:cNvPr id="33" name="Shape 31"/>
          <p:cNvSpPr/>
          <p:nvPr/>
        </p:nvSpPr>
        <p:spPr>
          <a:xfrm>
            <a:off x="6400800" y="5065776"/>
            <a:ext cx="521208" cy="521208"/>
          </a:xfrm>
          <a:prstGeom prst="ellipse">
            <a:avLst/>
          </a:prstGeom>
          <a:solidFill>
            <a:schemeClr val="accent1"/>
          </a:solidFill>
          <a:ln/>
        </p:spPr>
      </p:sp>
      <p:sp>
        <p:nvSpPr>
          <p:cNvPr id="34" name="Text 32"/>
          <p:cNvSpPr txBox="1"/>
          <p:nvPr/>
        </p:nvSpPr>
        <p:spPr>
          <a:xfrm>
            <a:off x="6400800" y="5065776"/>
            <a:ext cx="521208" cy="521208"/>
          </a:xfrm>
          <a:prstGeom prst="rect">
            <a:avLst/>
          </a:prstGeom>
          <a:noFill/>
          <a:ln/>
        </p:spPr>
        <p:txBody>
          <a:bodyPr wrap="square" lIns="0" tIns="0" rIns="0" bIns="0" rtlCol="0" anchor="ctr"/>
          <a:lstStyle/>
          <a:p>
            <a:pPr marL="0" indent="0" algn="ctr">
              <a:buNone/>
            </a:pPr>
            <a:r>
              <a:rPr lang="en-US" sz="1600" b="1" dirty="0">
                <a:solidFill>
                  <a:schemeClr val="bg1"/>
                </a:solidFill>
              </a:rPr>
              <a:t>8</a:t>
            </a:r>
            <a:endParaRPr lang="en-US" sz="1600" dirty="0"/>
          </a:p>
        </p:txBody>
      </p:sp>
      <p:sp>
        <p:nvSpPr>
          <p:cNvPr id="35" name="Text 33"/>
          <p:cNvSpPr txBox="1"/>
          <p:nvPr/>
        </p:nvSpPr>
        <p:spPr>
          <a:xfrm>
            <a:off x="7086600" y="4983480"/>
            <a:ext cx="4389120" cy="685800"/>
          </a:xfrm>
          <a:prstGeom prst="rect">
            <a:avLst/>
          </a:prstGeom>
          <a:noFill/>
          <a:ln/>
        </p:spPr>
        <p:txBody>
          <a:bodyPr wrap="square" lIns="0" tIns="0" rIns="0" bIns="0" rtlCol="0" anchor="ctr"/>
          <a:lstStyle/>
          <a:p>
            <a:pPr marL="0" indent="0">
              <a:buNone/>
            </a:pPr>
            <a:r>
              <a:rPr lang="en-US" sz="1700" dirty="0">
                <a:solidFill>
                  <a:schemeClr val="tx1"/>
                </a:solidFill>
              </a:rPr>
              <a:t>Build a user-friendly interface</a:t>
            </a:r>
            <a:endParaRPr lang="en-US" sz="1700" dirty="0"/>
          </a:p>
        </p:txBody>
      </p:sp>
      <p:sp>
        <p:nvSpPr>
          <p:cNvPr id="36"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lens"/>
          <p:cNvSpPr/>
          <p:nvPr/>
        </p:nvSpPr>
        <p:spPr>
          <a:xfrm>
            <a:off x="10515600" y="-1737360"/>
            <a:ext cx="2926080" cy="292608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System overview: an eight-stage pipeline</a:t>
            </a:r>
            <a:endParaRPr lang="en-US" sz="3000" dirty="0"/>
          </a:p>
        </p:txBody>
      </p:sp>
      <p:sp>
        <p:nvSpPr>
          <p:cNvPr id="4" name="Text 2"/>
          <p:cNvSpPr txBox="1"/>
          <p:nvPr/>
        </p:nvSpPr>
        <p:spPr>
          <a:xfrm>
            <a:off x="548640" y="1207008"/>
            <a:ext cx="8229600" cy="365760"/>
          </a:xfrm>
          <a:prstGeom prst="rect">
            <a:avLst/>
          </a:prstGeom>
          <a:noFill/>
          <a:ln/>
        </p:spPr>
        <p:txBody>
          <a:bodyPr wrap="square" lIns="0" tIns="0" rIns="0" bIns="0" rtlCol="0" anchor="t"/>
          <a:lstStyle/>
          <a:p>
            <a:pPr marL="0" indent="0">
              <a:buNone/>
            </a:pPr>
            <a:r>
              <a:rPr lang="en-US" sz="1800" dirty="0">
                <a:solidFill>
                  <a:schemeClr val="accent6"/>
                </a:solidFill>
              </a:rPr>
              <a:t>From an uploaded file to reviewed, structured text</a:t>
            </a:r>
            <a:endParaRPr lang="en-US" sz="1800" dirty="0"/>
          </a:p>
        </p:txBody>
      </p:sp>
      <p:sp>
        <p:nvSpPr>
          <p:cNvPr id="5" name="Shape 3"/>
          <p:cNvSpPr/>
          <p:nvPr/>
        </p:nvSpPr>
        <p:spPr>
          <a:xfrm>
            <a:off x="1051560" y="2715768"/>
            <a:ext cx="9692640" cy="0"/>
          </a:xfrm>
          <a:prstGeom prst="line">
            <a:avLst/>
          </a:prstGeom>
          <a:noFill/>
          <a:ln w="25400">
            <a:solidFill>
              <a:srgbClr val="D0D5DD"/>
            </a:solidFill>
            <a:prstDash val="solid"/>
          </a:ln>
        </p:spPr>
      </p:sp>
      <p:sp>
        <p:nvSpPr>
          <p:cNvPr id="6" name="!!stage1"/>
          <p:cNvSpPr/>
          <p:nvPr/>
        </p:nvSpPr>
        <p:spPr>
          <a:xfrm>
            <a:off x="621792" y="2286000"/>
            <a:ext cx="859536" cy="859536"/>
          </a:xfrm>
          <a:prstGeom prst="ellipse">
            <a:avLst/>
          </a:prstGeom>
          <a:solidFill>
            <a:schemeClr val="bg1"/>
          </a:solidFill>
          <a:ln w="19050">
            <a:solidFill>
              <a:schemeClr val="accent1"/>
            </a:solidFill>
            <a:prstDash val="solid"/>
          </a:ln>
        </p:spPr>
      </p:sp>
      <p:pic>
        <p:nvPicPr>
          <p:cNvPr id="7" name="Image 0" descr="preencoded.png"/>
          <p:cNvPicPr>
            <a:picLocks noChangeAspect="1"/>
          </p:cNvPicPr>
          <p:nvPr/>
        </p:nvPicPr>
        <p:blipFill>
          <a:blip r:embed="rId3"/>
          <a:stretch>
            <a:fillRect/>
          </a:stretch>
        </p:blipFill>
        <p:spPr>
          <a:xfrm>
            <a:off x="828081" y="2492289"/>
            <a:ext cx="446959" cy="446959"/>
          </a:xfrm>
          <a:prstGeom prst="rect">
            <a:avLst/>
          </a:prstGeom>
        </p:spPr>
      </p:pic>
      <p:sp>
        <p:nvSpPr>
          <p:cNvPr id="8" name="Text 5"/>
          <p:cNvSpPr txBox="1"/>
          <p:nvPr/>
        </p:nvSpPr>
        <p:spPr>
          <a:xfrm>
            <a:off x="365760" y="3337560"/>
            <a:ext cx="1371600" cy="365760"/>
          </a:xfrm>
          <a:prstGeom prst="rect">
            <a:avLst/>
          </a:prstGeom>
          <a:noFill/>
          <a:ln/>
        </p:spPr>
        <p:txBody>
          <a:bodyPr wrap="square" lIns="0" tIns="0" rIns="0" bIns="0" rtlCol="0" anchor="t"/>
          <a:lstStyle/>
          <a:p>
            <a:pPr marL="0" indent="0" algn="ctr">
              <a:buNone/>
            </a:pPr>
            <a:r>
              <a:rPr lang="en-US" sz="1500" dirty="0">
                <a:solidFill>
                  <a:schemeClr val="tx1"/>
                </a:solidFill>
                <a:latin typeface="Segoe UI Semibold" pitchFamily="34" charset="0"/>
                <a:ea typeface="Segoe UI Semibold" pitchFamily="34" charset="-122"/>
                <a:cs typeface="Segoe UI Semibold" pitchFamily="34" charset="-120"/>
              </a:rPr>
              <a:t>Input</a:t>
            </a:r>
            <a:endParaRPr lang="en-US" sz="1500" dirty="0"/>
          </a:p>
        </p:txBody>
      </p:sp>
      <p:sp>
        <p:nvSpPr>
          <p:cNvPr id="9" name="Text 6"/>
          <p:cNvSpPr txBox="1"/>
          <p:nvPr/>
        </p:nvSpPr>
        <p:spPr>
          <a:xfrm>
            <a:off x="374904" y="3721608"/>
            <a:ext cx="1353312" cy="685800"/>
          </a:xfrm>
          <a:prstGeom prst="rect">
            <a:avLst/>
          </a:prstGeom>
          <a:noFill/>
          <a:ln/>
        </p:spPr>
        <p:txBody>
          <a:bodyPr wrap="square" lIns="0" tIns="0" rIns="0" bIns="0" rtlCol="0" anchor="t"/>
          <a:lstStyle/>
          <a:p>
            <a:pPr marL="0" indent="0" algn="ctr">
              <a:buNone/>
            </a:pPr>
            <a:r>
              <a:rPr lang="en-US" sz="1200" dirty="0">
                <a:solidFill>
                  <a:schemeClr val="accent6"/>
                </a:solidFill>
              </a:rPr>
              <a:t>PDF or image, up to 100 pages</a:t>
            </a:r>
            <a:endParaRPr lang="en-US" sz="1200" dirty="0"/>
          </a:p>
        </p:txBody>
      </p:sp>
      <p:sp>
        <p:nvSpPr>
          <p:cNvPr id="10" name="!!stage2"/>
          <p:cNvSpPr/>
          <p:nvPr/>
        </p:nvSpPr>
        <p:spPr>
          <a:xfrm>
            <a:off x="2006455" y="2286000"/>
            <a:ext cx="859536" cy="859536"/>
          </a:xfrm>
          <a:prstGeom prst="ellipse">
            <a:avLst/>
          </a:prstGeom>
          <a:solidFill>
            <a:schemeClr val="bg1"/>
          </a:solidFill>
          <a:ln w="19050">
            <a:solidFill>
              <a:schemeClr val="accent1"/>
            </a:solidFill>
            <a:prstDash val="solid"/>
          </a:ln>
        </p:spPr>
      </p:sp>
      <p:pic>
        <p:nvPicPr>
          <p:cNvPr id="11" name="Image 1" descr="preencoded.png"/>
          <p:cNvPicPr>
            <a:picLocks noChangeAspect="1"/>
          </p:cNvPicPr>
          <p:nvPr/>
        </p:nvPicPr>
        <p:blipFill>
          <a:blip r:embed="rId4"/>
          <a:stretch>
            <a:fillRect/>
          </a:stretch>
        </p:blipFill>
        <p:spPr>
          <a:xfrm>
            <a:off x="2212743" y="2492289"/>
            <a:ext cx="446959" cy="446959"/>
          </a:xfrm>
          <a:prstGeom prst="rect">
            <a:avLst/>
          </a:prstGeom>
        </p:spPr>
      </p:pic>
      <p:sp>
        <p:nvSpPr>
          <p:cNvPr id="12" name="Text 8"/>
          <p:cNvSpPr txBox="1"/>
          <p:nvPr/>
        </p:nvSpPr>
        <p:spPr>
          <a:xfrm>
            <a:off x="1750423" y="3337560"/>
            <a:ext cx="1371600" cy="365760"/>
          </a:xfrm>
          <a:prstGeom prst="rect">
            <a:avLst/>
          </a:prstGeom>
          <a:noFill/>
          <a:ln/>
        </p:spPr>
        <p:txBody>
          <a:bodyPr wrap="square" lIns="0" tIns="0" rIns="0" bIns="0" rtlCol="0" anchor="t"/>
          <a:lstStyle/>
          <a:p>
            <a:pPr marL="0" indent="0" algn="ctr">
              <a:buNone/>
            </a:pPr>
            <a:r>
              <a:rPr lang="en-US" sz="1500" dirty="0">
                <a:solidFill>
                  <a:schemeClr val="tx1"/>
                </a:solidFill>
                <a:latin typeface="Segoe UI Semibold" pitchFamily="34" charset="0"/>
                <a:ea typeface="Segoe UI Semibold" pitchFamily="34" charset="-122"/>
                <a:cs typeface="Segoe UI Semibold" pitchFamily="34" charset="-120"/>
              </a:rPr>
              <a:t>Clean up</a:t>
            </a:r>
            <a:endParaRPr lang="en-US" sz="1500" dirty="0"/>
          </a:p>
        </p:txBody>
      </p:sp>
      <p:sp>
        <p:nvSpPr>
          <p:cNvPr id="13" name="Text 9"/>
          <p:cNvSpPr txBox="1"/>
          <p:nvPr/>
        </p:nvSpPr>
        <p:spPr>
          <a:xfrm>
            <a:off x="1759567" y="3721608"/>
            <a:ext cx="1353312" cy="685800"/>
          </a:xfrm>
          <a:prstGeom prst="rect">
            <a:avLst/>
          </a:prstGeom>
          <a:noFill/>
          <a:ln/>
        </p:spPr>
        <p:txBody>
          <a:bodyPr wrap="square" lIns="0" tIns="0" rIns="0" bIns="0" rtlCol="0" anchor="t"/>
          <a:lstStyle/>
          <a:p>
            <a:pPr marL="0" indent="0" algn="ctr">
              <a:buNone/>
            </a:pPr>
            <a:r>
              <a:rPr lang="en-US" sz="1200" dirty="0">
                <a:solidFill>
                  <a:schemeClr val="accent6"/>
                </a:solidFill>
              </a:rPr>
              <a:t>Deskew, denoise, CLAHE contrast</a:t>
            </a:r>
            <a:endParaRPr lang="en-US" sz="1200" dirty="0"/>
          </a:p>
        </p:txBody>
      </p:sp>
      <p:sp>
        <p:nvSpPr>
          <p:cNvPr id="14" name="!!stage3"/>
          <p:cNvSpPr/>
          <p:nvPr/>
        </p:nvSpPr>
        <p:spPr>
          <a:xfrm>
            <a:off x="3391118" y="2286000"/>
            <a:ext cx="859536" cy="859536"/>
          </a:xfrm>
          <a:prstGeom prst="ellipse">
            <a:avLst/>
          </a:prstGeom>
          <a:solidFill>
            <a:schemeClr val="bg1"/>
          </a:solidFill>
          <a:ln w="19050">
            <a:solidFill>
              <a:schemeClr val="accent1"/>
            </a:solidFill>
            <a:prstDash val="solid"/>
          </a:ln>
        </p:spPr>
      </p:sp>
      <p:pic>
        <p:nvPicPr>
          <p:cNvPr id="15" name="Image 2" descr="preencoded.png"/>
          <p:cNvPicPr>
            <a:picLocks noChangeAspect="1"/>
          </p:cNvPicPr>
          <p:nvPr/>
        </p:nvPicPr>
        <p:blipFill>
          <a:blip r:embed="rId5"/>
          <a:stretch>
            <a:fillRect/>
          </a:stretch>
        </p:blipFill>
        <p:spPr>
          <a:xfrm>
            <a:off x="3597406" y="2492289"/>
            <a:ext cx="446959" cy="446959"/>
          </a:xfrm>
          <a:prstGeom prst="rect">
            <a:avLst/>
          </a:prstGeom>
        </p:spPr>
      </p:pic>
      <p:sp>
        <p:nvSpPr>
          <p:cNvPr id="16" name="Text 11"/>
          <p:cNvSpPr txBox="1"/>
          <p:nvPr/>
        </p:nvSpPr>
        <p:spPr>
          <a:xfrm>
            <a:off x="3135086" y="3337560"/>
            <a:ext cx="1371600" cy="365760"/>
          </a:xfrm>
          <a:prstGeom prst="rect">
            <a:avLst/>
          </a:prstGeom>
          <a:noFill/>
          <a:ln/>
        </p:spPr>
        <p:txBody>
          <a:bodyPr wrap="square" lIns="0" tIns="0" rIns="0" bIns="0" rtlCol="0" anchor="t"/>
          <a:lstStyle/>
          <a:p>
            <a:pPr marL="0" indent="0" algn="ctr">
              <a:buNone/>
            </a:pPr>
            <a:r>
              <a:rPr lang="en-US" sz="1500" dirty="0">
                <a:solidFill>
                  <a:schemeClr val="tx1"/>
                </a:solidFill>
                <a:latin typeface="Segoe UI Semibold" pitchFamily="34" charset="0"/>
                <a:ea typeface="Segoe UI Semibold" pitchFamily="34" charset="-122"/>
                <a:cs typeface="Segoe UI Semibold" pitchFamily="34" charset="-120"/>
              </a:rPr>
              <a:t>Detect lines</a:t>
            </a:r>
            <a:endParaRPr lang="en-US" sz="1500" dirty="0"/>
          </a:p>
        </p:txBody>
      </p:sp>
      <p:sp>
        <p:nvSpPr>
          <p:cNvPr id="17" name="Text 12"/>
          <p:cNvSpPr txBox="1"/>
          <p:nvPr/>
        </p:nvSpPr>
        <p:spPr>
          <a:xfrm>
            <a:off x="3144230" y="3721608"/>
            <a:ext cx="1353312" cy="685800"/>
          </a:xfrm>
          <a:prstGeom prst="rect">
            <a:avLst/>
          </a:prstGeom>
          <a:noFill/>
          <a:ln/>
        </p:spPr>
        <p:txBody>
          <a:bodyPr wrap="square" lIns="0" tIns="0" rIns="0" bIns="0" rtlCol="0" anchor="t"/>
          <a:lstStyle/>
          <a:p>
            <a:pPr marL="0" indent="0" algn="ctr">
              <a:buNone/>
            </a:pPr>
            <a:r>
              <a:rPr lang="en-US" sz="1200" dirty="0">
                <a:solidFill>
                  <a:schemeClr val="accent6"/>
                </a:solidFill>
              </a:rPr>
              <a:t>DBNet finds every text line</a:t>
            </a:r>
            <a:endParaRPr lang="en-US" sz="1200" dirty="0"/>
          </a:p>
        </p:txBody>
      </p:sp>
      <p:sp>
        <p:nvSpPr>
          <p:cNvPr id="18" name="!!stage4"/>
          <p:cNvSpPr/>
          <p:nvPr/>
        </p:nvSpPr>
        <p:spPr>
          <a:xfrm>
            <a:off x="4775781" y="2286000"/>
            <a:ext cx="859536" cy="859536"/>
          </a:xfrm>
          <a:prstGeom prst="ellipse">
            <a:avLst/>
          </a:prstGeom>
          <a:solidFill>
            <a:schemeClr val="bg1"/>
          </a:solidFill>
          <a:ln w="19050">
            <a:solidFill>
              <a:schemeClr val="accent1"/>
            </a:solidFill>
            <a:prstDash val="solid"/>
          </a:ln>
        </p:spPr>
      </p:sp>
      <p:pic>
        <p:nvPicPr>
          <p:cNvPr id="19" name="Image 3" descr="preencoded.png"/>
          <p:cNvPicPr>
            <a:picLocks noChangeAspect="1"/>
          </p:cNvPicPr>
          <p:nvPr/>
        </p:nvPicPr>
        <p:blipFill>
          <a:blip r:embed="rId6"/>
          <a:stretch>
            <a:fillRect/>
          </a:stretch>
        </p:blipFill>
        <p:spPr>
          <a:xfrm>
            <a:off x="4982069" y="2492289"/>
            <a:ext cx="446959" cy="446959"/>
          </a:xfrm>
          <a:prstGeom prst="rect">
            <a:avLst/>
          </a:prstGeom>
        </p:spPr>
      </p:pic>
      <p:sp>
        <p:nvSpPr>
          <p:cNvPr id="20" name="Text 14"/>
          <p:cNvSpPr txBox="1"/>
          <p:nvPr/>
        </p:nvSpPr>
        <p:spPr>
          <a:xfrm>
            <a:off x="4519749" y="3337560"/>
            <a:ext cx="1371600" cy="365760"/>
          </a:xfrm>
          <a:prstGeom prst="rect">
            <a:avLst/>
          </a:prstGeom>
          <a:noFill/>
          <a:ln/>
        </p:spPr>
        <p:txBody>
          <a:bodyPr wrap="square" lIns="0" tIns="0" rIns="0" bIns="0" rtlCol="0" anchor="t"/>
          <a:lstStyle/>
          <a:p>
            <a:pPr marL="0" indent="0" algn="ctr">
              <a:buNone/>
            </a:pPr>
            <a:r>
              <a:rPr lang="en-US" sz="1500" dirty="0">
                <a:solidFill>
                  <a:schemeClr val="tx1"/>
                </a:solidFill>
                <a:latin typeface="Segoe UI Semibold" pitchFamily="34" charset="0"/>
                <a:ea typeface="Segoe UI Semibold" pitchFamily="34" charset="-122"/>
                <a:cs typeface="Segoe UI Semibold" pitchFamily="34" charset="-120"/>
              </a:rPr>
              <a:t>Recognise</a:t>
            </a:r>
            <a:endParaRPr lang="en-US" sz="1500" dirty="0"/>
          </a:p>
        </p:txBody>
      </p:sp>
      <p:sp>
        <p:nvSpPr>
          <p:cNvPr id="21" name="Text 15"/>
          <p:cNvSpPr txBox="1"/>
          <p:nvPr/>
        </p:nvSpPr>
        <p:spPr>
          <a:xfrm>
            <a:off x="4528893" y="3721608"/>
            <a:ext cx="1353312" cy="685800"/>
          </a:xfrm>
          <a:prstGeom prst="rect">
            <a:avLst/>
          </a:prstGeom>
          <a:noFill/>
          <a:ln/>
        </p:spPr>
        <p:txBody>
          <a:bodyPr wrap="square" lIns="0" tIns="0" rIns="0" bIns="0" rtlCol="0" anchor="t"/>
          <a:lstStyle/>
          <a:p>
            <a:pPr marL="0" indent="0" algn="ctr">
              <a:buNone/>
            </a:pPr>
            <a:r>
              <a:rPr lang="en-US" sz="1200" dirty="0">
                <a:solidFill>
                  <a:schemeClr val="accent6"/>
                </a:solidFill>
              </a:rPr>
              <a:t>CNN‑BiLSTM, CRNN or TrOCR</a:t>
            </a:r>
            <a:endParaRPr lang="en-US" sz="1200" dirty="0"/>
          </a:p>
        </p:txBody>
      </p:sp>
      <p:sp>
        <p:nvSpPr>
          <p:cNvPr id="22" name="!!stage5"/>
          <p:cNvSpPr/>
          <p:nvPr/>
        </p:nvSpPr>
        <p:spPr>
          <a:xfrm>
            <a:off x="6160443" y="2286000"/>
            <a:ext cx="859536" cy="859536"/>
          </a:xfrm>
          <a:prstGeom prst="ellipse">
            <a:avLst/>
          </a:prstGeom>
          <a:solidFill>
            <a:schemeClr val="accent1"/>
          </a:solidFill>
          <a:ln/>
        </p:spPr>
      </p:sp>
      <p:pic>
        <p:nvPicPr>
          <p:cNvPr id="23" name="Image 4" descr="preencoded.png"/>
          <p:cNvPicPr>
            <a:picLocks noChangeAspect="1"/>
          </p:cNvPicPr>
          <p:nvPr/>
        </p:nvPicPr>
        <p:blipFill>
          <a:blip r:embed="rId7"/>
          <a:stretch>
            <a:fillRect/>
          </a:stretch>
        </p:blipFill>
        <p:spPr>
          <a:xfrm>
            <a:off x="6366732" y="2492289"/>
            <a:ext cx="446959" cy="446959"/>
          </a:xfrm>
          <a:prstGeom prst="rect">
            <a:avLst/>
          </a:prstGeom>
        </p:spPr>
      </p:pic>
      <p:sp>
        <p:nvSpPr>
          <p:cNvPr id="24" name="Text 17"/>
          <p:cNvSpPr txBox="1"/>
          <p:nvPr/>
        </p:nvSpPr>
        <p:spPr>
          <a:xfrm>
            <a:off x="5904411" y="3337560"/>
            <a:ext cx="1371600" cy="365760"/>
          </a:xfrm>
          <a:prstGeom prst="rect">
            <a:avLst/>
          </a:prstGeom>
          <a:noFill/>
          <a:ln/>
        </p:spPr>
        <p:txBody>
          <a:bodyPr wrap="square" lIns="0" tIns="0" rIns="0" bIns="0" rtlCol="0" anchor="t"/>
          <a:lstStyle/>
          <a:p>
            <a:pPr marL="0" indent="0" algn="ctr">
              <a:buNone/>
            </a:pPr>
            <a:r>
              <a:rPr lang="en-US" sz="1500" dirty="0">
                <a:solidFill>
                  <a:schemeClr val="accent1"/>
                </a:solidFill>
                <a:latin typeface="Segoe UI Semibold" pitchFamily="34" charset="0"/>
                <a:ea typeface="Segoe UI Semibold" pitchFamily="34" charset="-122"/>
                <a:cs typeface="Segoe UI Semibold" pitchFamily="34" charset="-120"/>
              </a:rPr>
              <a:t>Vote</a:t>
            </a:r>
            <a:endParaRPr lang="en-US" sz="1500" dirty="0"/>
          </a:p>
        </p:txBody>
      </p:sp>
      <p:sp>
        <p:nvSpPr>
          <p:cNvPr id="25" name="Text 18"/>
          <p:cNvSpPr txBox="1"/>
          <p:nvPr/>
        </p:nvSpPr>
        <p:spPr>
          <a:xfrm>
            <a:off x="5913555" y="3721608"/>
            <a:ext cx="1353312" cy="685800"/>
          </a:xfrm>
          <a:prstGeom prst="rect">
            <a:avLst/>
          </a:prstGeom>
          <a:noFill/>
          <a:ln/>
        </p:spPr>
        <p:txBody>
          <a:bodyPr wrap="square" lIns="0" tIns="0" rIns="0" bIns="0" rtlCol="0" anchor="t"/>
          <a:lstStyle/>
          <a:p>
            <a:pPr marL="0" indent="0" algn="ctr">
              <a:buNone/>
            </a:pPr>
            <a:r>
              <a:rPr lang="en-US" sz="1200" dirty="0">
                <a:solidFill>
                  <a:schemeClr val="accent6"/>
                </a:solidFill>
              </a:rPr>
              <a:t>Five models vote on each word</a:t>
            </a:r>
            <a:endParaRPr lang="en-US" sz="1200" dirty="0"/>
          </a:p>
        </p:txBody>
      </p:sp>
      <p:sp>
        <p:nvSpPr>
          <p:cNvPr id="26" name="!!stage6"/>
          <p:cNvSpPr/>
          <p:nvPr/>
        </p:nvSpPr>
        <p:spPr>
          <a:xfrm>
            <a:off x="7545106" y="2286000"/>
            <a:ext cx="859536" cy="859536"/>
          </a:xfrm>
          <a:prstGeom prst="ellipse">
            <a:avLst/>
          </a:prstGeom>
          <a:solidFill>
            <a:schemeClr val="bg1"/>
          </a:solidFill>
          <a:ln w="19050">
            <a:solidFill>
              <a:schemeClr val="accent1"/>
            </a:solidFill>
            <a:prstDash val="solid"/>
          </a:ln>
        </p:spPr>
      </p:sp>
      <p:pic>
        <p:nvPicPr>
          <p:cNvPr id="27" name="Image 5" descr="preencoded.png"/>
          <p:cNvPicPr>
            <a:picLocks noChangeAspect="1"/>
          </p:cNvPicPr>
          <p:nvPr/>
        </p:nvPicPr>
        <p:blipFill>
          <a:blip r:embed="rId8"/>
          <a:stretch>
            <a:fillRect/>
          </a:stretch>
        </p:blipFill>
        <p:spPr>
          <a:xfrm>
            <a:off x="7751395" y="2492289"/>
            <a:ext cx="446959" cy="446959"/>
          </a:xfrm>
          <a:prstGeom prst="rect">
            <a:avLst/>
          </a:prstGeom>
        </p:spPr>
      </p:pic>
      <p:sp>
        <p:nvSpPr>
          <p:cNvPr id="28" name="Text 20"/>
          <p:cNvSpPr txBox="1"/>
          <p:nvPr/>
        </p:nvSpPr>
        <p:spPr>
          <a:xfrm>
            <a:off x="7289074" y="3337560"/>
            <a:ext cx="1371600" cy="365760"/>
          </a:xfrm>
          <a:prstGeom prst="rect">
            <a:avLst/>
          </a:prstGeom>
          <a:noFill/>
          <a:ln/>
        </p:spPr>
        <p:txBody>
          <a:bodyPr wrap="square" lIns="0" tIns="0" rIns="0" bIns="0" rtlCol="0" anchor="t"/>
          <a:lstStyle/>
          <a:p>
            <a:pPr marL="0" indent="0" algn="ctr">
              <a:buNone/>
            </a:pPr>
            <a:r>
              <a:rPr lang="en-US" sz="1500" dirty="0">
                <a:solidFill>
                  <a:schemeClr val="tx1"/>
                </a:solidFill>
                <a:latin typeface="Segoe UI Semibold" pitchFamily="34" charset="0"/>
                <a:ea typeface="Segoe UI Semibold" pitchFamily="34" charset="-122"/>
                <a:cs typeface="Segoe UI Semibold" pitchFamily="34" charset="-120"/>
              </a:rPr>
              <a:t>Layout</a:t>
            </a:r>
            <a:endParaRPr lang="en-US" sz="1500" dirty="0"/>
          </a:p>
        </p:txBody>
      </p:sp>
      <p:sp>
        <p:nvSpPr>
          <p:cNvPr id="29" name="Text 21"/>
          <p:cNvSpPr txBox="1"/>
          <p:nvPr/>
        </p:nvSpPr>
        <p:spPr>
          <a:xfrm>
            <a:off x="7298218" y="3721608"/>
            <a:ext cx="1353312" cy="685800"/>
          </a:xfrm>
          <a:prstGeom prst="rect">
            <a:avLst/>
          </a:prstGeom>
          <a:noFill/>
          <a:ln/>
        </p:spPr>
        <p:txBody>
          <a:bodyPr wrap="square" lIns="0" tIns="0" rIns="0" bIns="0" rtlCol="0" anchor="t"/>
          <a:lstStyle/>
          <a:p>
            <a:pPr marL="0" indent="0" algn="ctr">
              <a:buNone/>
            </a:pPr>
            <a:r>
              <a:rPr lang="en-US" sz="1200" dirty="0">
                <a:solidFill>
                  <a:schemeClr val="accent6"/>
                </a:solidFill>
              </a:rPr>
              <a:t>Headings, tables, checkboxes</a:t>
            </a:r>
            <a:endParaRPr lang="en-US" sz="1200" dirty="0"/>
          </a:p>
        </p:txBody>
      </p:sp>
      <p:sp>
        <p:nvSpPr>
          <p:cNvPr id="30" name="!!stage7"/>
          <p:cNvSpPr/>
          <p:nvPr/>
        </p:nvSpPr>
        <p:spPr>
          <a:xfrm>
            <a:off x="8929769" y="2286000"/>
            <a:ext cx="859536" cy="859536"/>
          </a:xfrm>
          <a:prstGeom prst="ellipse">
            <a:avLst/>
          </a:prstGeom>
          <a:solidFill>
            <a:schemeClr val="bg1"/>
          </a:solidFill>
          <a:ln w="19050">
            <a:solidFill>
              <a:schemeClr val="accent1"/>
            </a:solidFill>
            <a:prstDash val="solid"/>
          </a:ln>
        </p:spPr>
      </p:sp>
      <p:pic>
        <p:nvPicPr>
          <p:cNvPr id="31" name="Image 6" descr="preencoded.png"/>
          <p:cNvPicPr>
            <a:picLocks noChangeAspect="1"/>
          </p:cNvPicPr>
          <p:nvPr/>
        </p:nvPicPr>
        <p:blipFill>
          <a:blip r:embed="rId9"/>
          <a:stretch>
            <a:fillRect/>
          </a:stretch>
        </p:blipFill>
        <p:spPr>
          <a:xfrm>
            <a:off x="9136058" y="2492289"/>
            <a:ext cx="446959" cy="446959"/>
          </a:xfrm>
          <a:prstGeom prst="rect">
            <a:avLst/>
          </a:prstGeom>
        </p:spPr>
      </p:pic>
      <p:sp>
        <p:nvSpPr>
          <p:cNvPr id="32" name="Text 23"/>
          <p:cNvSpPr txBox="1"/>
          <p:nvPr/>
        </p:nvSpPr>
        <p:spPr>
          <a:xfrm>
            <a:off x="8673737" y="3337560"/>
            <a:ext cx="1371600" cy="365760"/>
          </a:xfrm>
          <a:prstGeom prst="rect">
            <a:avLst/>
          </a:prstGeom>
          <a:noFill/>
          <a:ln/>
        </p:spPr>
        <p:txBody>
          <a:bodyPr wrap="square" lIns="0" tIns="0" rIns="0" bIns="0" rtlCol="0" anchor="t"/>
          <a:lstStyle/>
          <a:p>
            <a:pPr marL="0" indent="0" algn="ctr">
              <a:buNone/>
            </a:pPr>
            <a:r>
              <a:rPr lang="en-US" sz="1500" dirty="0">
                <a:solidFill>
                  <a:schemeClr val="tx1"/>
                </a:solidFill>
                <a:latin typeface="Segoe UI Semibold" pitchFamily="34" charset="0"/>
                <a:ea typeface="Segoe UI Semibold" pitchFamily="34" charset="-122"/>
                <a:cs typeface="Segoe UI Semibold" pitchFamily="34" charset="-120"/>
              </a:rPr>
              <a:t>Correct</a:t>
            </a:r>
            <a:endParaRPr lang="en-US" sz="1500" dirty="0"/>
          </a:p>
        </p:txBody>
      </p:sp>
      <p:sp>
        <p:nvSpPr>
          <p:cNvPr id="33" name="Text 24"/>
          <p:cNvSpPr txBox="1"/>
          <p:nvPr/>
        </p:nvSpPr>
        <p:spPr>
          <a:xfrm>
            <a:off x="8682881" y="3721608"/>
            <a:ext cx="1353312" cy="685800"/>
          </a:xfrm>
          <a:prstGeom prst="rect">
            <a:avLst/>
          </a:prstGeom>
          <a:noFill/>
          <a:ln/>
        </p:spPr>
        <p:txBody>
          <a:bodyPr wrap="square" lIns="0" tIns="0" rIns="0" bIns="0" rtlCol="0" anchor="t"/>
          <a:lstStyle/>
          <a:p>
            <a:pPr marL="0" indent="0" algn="ctr">
              <a:buNone/>
            </a:pPr>
            <a:r>
              <a:rPr lang="en-US" sz="1200" dirty="0">
                <a:solidFill>
                  <a:schemeClr val="accent6"/>
                </a:solidFill>
              </a:rPr>
              <a:t>Fix 0/O, 1/l and spelling</a:t>
            </a:r>
            <a:endParaRPr lang="en-US" sz="1200" dirty="0"/>
          </a:p>
        </p:txBody>
      </p:sp>
      <p:sp>
        <p:nvSpPr>
          <p:cNvPr id="34" name="!!stage8"/>
          <p:cNvSpPr/>
          <p:nvPr/>
        </p:nvSpPr>
        <p:spPr>
          <a:xfrm>
            <a:off x="10314432" y="2286000"/>
            <a:ext cx="859536" cy="859536"/>
          </a:xfrm>
          <a:prstGeom prst="ellipse">
            <a:avLst/>
          </a:prstGeom>
          <a:solidFill>
            <a:schemeClr val="bg1"/>
          </a:solidFill>
          <a:ln w="19050">
            <a:solidFill>
              <a:schemeClr val="accent1"/>
            </a:solidFill>
            <a:prstDash val="solid"/>
          </a:ln>
        </p:spPr>
      </p:sp>
      <p:pic>
        <p:nvPicPr>
          <p:cNvPr id="35" name="Image 7" descr="preencoded.png"/>
          <p:cNvPicPr>
            <a:picLocks noChangeAspect="1"/>
          </p:cNvPicPr>
          <p:nvPr/>
        </p:nvPicPr>
        <p:blipFill>
          <a:blip r:embed="rId10"/>
          <a:stretch>
            <a:fillRect/>
          </a:stretch>
        </p:blipFill>
        <p:spPr>
          <a:xfrm>
            <a:off x="10520721" y="2492289"/>
            <a:ext cx="446959" cy="446959"/>
          </a:xfrm>
          <a:prstGeom prst="rect">
            <a:avLst/>
          </a:prstGeom>
        </p:spPr>
      </p:pic>
      <p:sp>
        <p:nvSpPr>
          <p:cNvPr id="36" name="Text 26"/>
          <p:cNvSpPr txBox="1"/>
          <p:nvPr/>
        </p:nvSpPr>
        <p:spPr>
          <a:xfrm>
            <a:off x="10058400" y="3337560"/>
            <a:ext cx="1371600" cy="365760"/>
          </a:xfrm>
          <a:prstGeom prst="rect">
            <a:avLst/>
          </a:prstGeom>
          <a:noFill/>
          <a:ln/>
        </p:spPr>
        <p:txBody>
          <a:bodyPr wrap="square" lIns="0" tIns="0" rIns="0" bIns="0" rtlCol="0" anchor="t"/>
          <a:lstStyle/>
          <a:p>
            <a:pPr marL="0" indent="0" algn="ctr">
              <a:buNone/>
            </a:pPr>
            <a:r>
              <a:rPr lang="en-US" sz="1500" dirty="0">
                <a:solidFill>
                  <a:schemeClr val="tx1"/>
                </a:solidFill>
                <a:latin typeface="Segoe UI Semibold" pitchFamily="34" charset="0"/>
                <a:ea typeface="Segoe UI Semibold" pitchFamily="34" charset="-122"/>
                <a:cs typeface="Segoe UI Semibold" pitchFamily="34" charset="-120"/>
              </a:rPr>
              <a:t>Review</a:t>
            </a:r>
            <a:endParaRPr lang="en-US" sz="1500" dirty="0"/>
          </a:p>
        </p:txBody>
      </p:sp>
      <p:sp>
        <p:nvSpPr>
          <p:cNvPr id="37" name="Text 27"/>
          <p:cNvSpPr txBox="1"/>
          <p:nvPr/>
        </p:nvSpPr>
        <p:spPr>
          <a:xfrm>
            <a:off x="10067544" y="3721608"/>
            <a:ext cx="1353312" cy="685800"/>
          </a:xfrm>
          <a:prstGeom prst="rect">
            <a:avLst/>
          </a:prstGeom>
          <a:noFill/>
          <a:ln/>
        </p:spPr>
        <p:txBody>
          <a:bodyPr wrap="square" lIns="0" tIns="0" rIns="0" bIns="0" rtlCol="0" anchor="t"/>
          <a:lstStyle/>
          <a:p>
            <a:pPr marL="0" indent="0" algn="ctr">
              <a:buNone/>
            </a:pPr>
            <a:r>
              <a:rPr lang="en-US" sz="1200" dirty="0">
                <a:solidFill>
                  <a:schemeClr val="accent6"/>
                </a:solidFill>
              </a:rPr>
              <a:t>Overlays, review queue, export</a:t>
            </a:r>
            <a:endParaRPr lang="en-US" sz="1200" dirty="0"/>
          </a:p>
        </p:txBody>
      </p:sp>
      <p:sp>
        <p:nvSpPr>
          <p:cNvPr id="38" name="Text 28"/>
          <p:cNvSpPr txBox="1"/>
          <p:nvPr/>
        </p:nvSpPr>
        <p:spPr>
          <a:xfrm>
            <a:off x="548640" y="4617720"/>
            <a:ext cx="11064240" cy="320040"/>
          </a:xfrm>
          <a:prstGeom prst="rect">
            <a:avLst/>
          </a:prstGeom>
          <a:noFill/>
          <a:ln/>
        </p:spPr>
        <p:txBody>
          <a:bodyPr wrap="square" lIns="0" tIns="0" rIns="0" bIns="0" rtlCol="0" anchor="t"/>
          <a:lstStyle/>
          <a:p>
            <a:pPr marL="0" indent="0" algn="ctr">
              <a:buNone/>
            </a:pPr>
            <a:r>
              <a:rPr lang="en-US" sz="1200" i="1" dirty="0">
                <a:solidFill>
                  <a:schemeClr val="accent6"/>
                </a:solidFill>
              </a:rPr>
              <a:t>Only the Consensus engine runs the vote; single models go straight from recognition to layout.</a:t>
            </a:r>
            <a:endParaRPr lang="en-US" sz="1200" dirty="0"/>
          </a:p>
        </p:txBody>
      </p:sp>
      <p:sp>
        <p:nvSpPr>
          <p:cNvPr id="39" name="Shape 29"/>
          <p:cNvSpPr/>
          <p:nvPr/>
        </p:nvSpPr>
        <p:spPr>
          <a:xfrm>
            <a:off x="548640" y="5166360"/>
            <a:ext cx="11064240" cy="777240"/>
          </a:xfrm>
          <a:prstGeom prst="roundRect">
            <a:avLst>
              <a:gd name="adj" fmla="val 14118"/>
            </a:avLst>
          </a:prstGeom>
          <a:solidFill>
            <a:schemeClr val="bg2"/>
          </a:solidFill>
          <a:ln/>
        </p:spPr>
      </p:sp>
      <p:sp>
        <p:nvSpPr>
          <p:cNvPr id="40" name="Text 30"/>
          <p:cNvSpPr txBox="1"/>
          <p:nvPr/>
        </p:nvSpPr>
        <p:spPr>
          <a:xfrm>
            <a:off x="822960" y="5166360"/>
            <a:ext cx="10515600" cy="777240"/>
          </a:xfrm>
          <a:prstGeom prst="rect">
            <a:avLst/>
          </a:prstGeom>
          <a:noFill/>
          <a:ln/>
        </p:spPr>
        <p:txBody>
          <a:bodyPr wrap="square" lIns="0" tIns="0" rIns="0" bIns="0" rtlCol="0" anchor="ctr"/>
          <a:lstStyle/>
          <a:p>
            <a:pPr marL="0" indent="0" algn="ctr">
              <a:buNone/>
            </a:pPr>
            <a:r>
              <a:rPr lang="en-US" sz="1500" dirty="0">
                <a:solidFill>
                  <a:schemeClr val="accent6"/>
                </a:solidFill>
              </a:rPr>
              <a:t>Built with  </a:t>
            </a:r>
            <a:r>
              <a:rPr lang="en-US" sz="1500" dirty="0">
                <a:solidFill>
                  <a:schemeClr val="tx1"/>
                </a:solidFill>
              </a:rPr>
              <a:t>Python · PyTorch · OpenCV · Hugging Face Transformers · PaddleOCR · FastAPI · React + TypeScript</a:t>
            </a:r>
            <a:endParaRPr lang="en-US" sz="1500" dirty="0"/>
          </a:p>
        </p:txBody>
      </p:sp>
      <p:sp>
        <p:nvSpPr>
          <p:cNvPr id="41"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ens"/>
          <p:cNvSpPr/>
          <p:nvPr/>
        </p:nvSpPr>
        <p:spPr>
          <a:xfrm>
            <a:off x="11841480" y="2103120"/>
            <a:ext cx="2743200" cy="274320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Data: real handwriting plus synthetic print</a:t>
            </a:r>
            <a:endParaRPr lang="en-US" sz="3000" dirty="0"/>
          </a:p>
        </p:txBody>
      </p:sp>
      <p:sp>
        <p:nvSpPr>
          <p:cNvPr id="4" name="Shape 2"/>
          <p:cNvSpPr/>
          <p:nvPr/>
        </p:nvSpPr>
        <p:spPr>
          <a:xfrm>
            <a:off x="548640" y="1463040"/>
            <a:ext cx="5120640" cy="2148840"/>
          </a:xfrm>
          <a:prstGeom prst="roundRect">
            <a:avLst>
              <a:gd name="adj" fmla="val 5106"/>
            </a:avLst>
          </a:prstGeom>
          <a:solidFill>
            <a:schemeClr val="bg2"/>
          </a:solidFill>
          <a:ln/>
        </p:spPr>
      </p:sp>
      <p:sp>
        <p:nvSpPr>
          <p:cNvPr id="5" name="Text 3"/>
          <p:cNvSpPr txBox="1"/>
          <p:nvPr/>
        </p:nvSpPr>
        <p:spPr>
          <a:xfrm>
            <a:off x="822960" y="1691640"/>
            <a:ext cx="4572000" cy="685800"/>
          </a:xfrm>
          <a:prstGeom prst="rect">
            <a:avLst/>
          </a:prstGeom>
          <a:noFill/>
          <a:ln/>
        </p:spPr>
        <p:txBody>
          <a:bodyPr wrap="square" lIns="0" tIns="0" rIns="0" bIns="0" rtlCol="0" anchor="t"/>
          <a:lstStyle/>
          <a:p>
            <a:pPr marL="0" indent="0">
              <a:buNone/>
            </a:pPr>
            <a:r>
              <a:rPr lang="en-US" sz="4000" b="1" dirty="0">
                <a:solidFill>
                  <a:schemeClr val="accent1"/>
                </a:solidFill>
                <a:latin typeface="Segoe UI Semibold" pitchFamily="34" charset="0"/>
                <a:ea typeface="Segoe UI Semibold" pitchFamily="34" charset="-122"/>
                <a:cs typeface="Segoe UI Semibold" pitchFamily="34" charset="-120"/>
              </a:rPr>
              <a:t>10,373</a:t>
            </a:r>
            <a:endParaRPr lang="en-US" sz="4000" dirty="0"/>
          </a:p>
        </p:txBody>
      </p:sp>
      <p:sp>
        <p:nvSpPr>
          <p:cNvPr id="6" name="Text 4"/>
          <p:cNvSpPr txBox="1"/>
          <p:nvPr/>
        </p:nvSpPr>
        <p:spPr>
          <a:xfrm>
            <a:off x="822960" y="2377440"/>
            <a:ext cx="4572000" cy="365760"/>
          </a:xfrm>
          <a:prstGeom prst="rect">
            <a:avLst/>
          </a:prstGeom>
          <a:noFill/>
          <a:ln/>
        </p:spPr>
        <p:txBody>
          <a:bodyPr wrap="square" lIns="0" tIns="0" rIns="0" bIns="0" rtlCol="0" anchor="t"/>
          <a:lstStyle/>
          <a:p>
            <a:pPr marL="0" indent="0">
              <a:buNone/>
            </a:pPr>
            <a:r>
              <a:rPr lang="en-US" sz="1500" dirty="0">
                <a:solidFill>
                  <a:schemeClr val="tx1"/>
                </a:solidFill>
              </a:rPr>
              <a:t>IAM handwriting lines · 657 writers</a:t>
            </a:r>
            <a:endParaRPr lang="en-US" sz="1500" dirty="0"/>
          </a:p>
        </p:txBody>
      </p:sp>
      <p:sp>
        <p:nvSpPr>
          <p:cNvPr id="7" name="Shape 5"/>
          <p:cNvSpPr/>
          <p:nvPr/>
        </p:nvSpPr>
        <p:spPr>
          <a:xfrm>
            <a:off x="822960" y="2907792"/>
            <a:ext cx="2820428" cy="201168"/>
          </a:xfrm>
          <a:prstGeom prst="rect">
            <a:avLst/>
          </a:prstGeom>
          <a:solidFill>
            <a:schemeClr val="accent1"/>
          </a:solidFill>
          <a:ln/>
        </p:spPr>
      </p:sp>
      <p:sp>
        <p:nvSpPr>
          <p:cNvPr id="8" name="Shape 6"/>
          <p:cNvSpPr/>
          <p:nvPr/>
        </p:nvSpPr>
        <p:spPr>
          <a:xfrm>
            <a:off x="3679964" y="2907792"/>
            <a:ext cx="393605" cy="201168"/>
          </a:xfrm>
          <a:prstGeom prst="rect">
            <a:avLst/>
          </a:prstGeom>
          <a:solidFill>
            <a:schemeClr val="accent5"/>
          </a:solidFill>
          <a:ln/>
        </p:spPr>
      </p:sp>
      <p:sp>
        <p:nvSpPr>
          <p:cNvPr id="9" name="Shape 7"/>
          <p:cNvSpPr/>
          <p:nvPr/>
        </p:nvSpPr>
        <p:spPr>
          <a:xfrm>
            <a:off x="4110146" y="2907792"/>
            <a:ext cx="1248238" cy="201168"/>
          </a:xfrm>
          <a:prstGeom prst="rect">
            <a:avLst/>
          </a:prstGeom>
          <a:solidFill>
            <a:schemeClr val="accent2"/>
          </a:solidFill>
          <a:ln/>
        </p:spPr>
      </p:sp>
      <p:sp>
        <p:nvSpPr>
          <p:cNvPr id="10" name="Text 8"/>
          <p:cNvSpPr txBox="1"/>
          <p:nvPr/>
        </p:nvSpPr>
        <p:spPr>
          <a:xfrm>
            <a:off x="822960" y="3182112"/>
            <a:ext cx="4572000" cy="292608"/>
          </a:xfrm>
          <a:prstGeom prst="rect">
            <a:avLst/>
          </a:prstGeom>
          <a:noFill/>
          <a:ln/>
        </p:spPr>
        <p:txBody>
          <a:bodyPr wrap="square" lIns="0" tIns="0" rIns="0" bIns="0" rtlCol="0" anchor="t"/>
          <a:lstStyle/>
          <a:p>
            <a:pPr marL="0" indent="0">
              <a:buNone/>
            </a:pPr>
            <a:r>
              <a:rPr lang="en-US" sz="1200" dirty="0">
                <a:solidFill>
                  <a:schemeClr val="accent6"/>
                </a:solidFill>
              </a:rPr>
              <a:t>Train 6,482   ·   Val 976   ·   Test 2,915</a:t>
            </a:r>
            <a:endParaRPr lang="en-US" sz="1200" dirty="0"/>
          </a:p>
        </p:txBody>
      </p:sp>
      <p:sp>
        <p:nvSpPr>
          <p:cNvPr id="11" name="Shape 9"/>
          <p:cNvSpPr/>
          <p:nvPr/>
        </p:nvSpPr>
        <p:spPr>
          <a:xfrm>
            <a:off x="548640" y="3840480"/>
            <a:ext cx="5120640" cy="2148840"/>
          </a:xfrm>
          <a:prstGeom prst="roundRect">
            <a:avLst>
              <a:gd name="adj" fmla="val 5106"/>
            </a:avLst>
          </a:prstGeom>
          <a:solidFill>
            <a:schemeClr val="bg2"/>
          </a:solidFill>
          <a:ln/>
        </p:spPr>
      </p:sp>
      <p:sp>
        <p:nvSpPr>
          <p:cNvPr id="12" name="Text 10"/>
          <p:cNvSpPr txBox="1"/>
          <p:nvPr/>
        </p:nvSpPr>
        <p:spPr>
          <a:xfrm>
            <a:off x="822960" y="4069080"/>
            <a:ext cx="4572000" cy="685800"/>
          </a:xfrm>
          <a:prstGeom prst="rect">
            <a:avLst/>
          </a:prstGeom>
          <a:noFill/>
          <a:ln/>
        </p:spPr>
        <p:txBody>
          <a:bodyPr wrap="square" lIns="0" tIns="0" rIns="0" bIns="0" rtlCol="0" anchor="t"/>
          <a:lstStyle/>
          <a:p>
            <a:pPr marL="0" indent="0">
              <a:buNone/>
            </a:pPr>
            <a:r>
              <a:rPr lang="en-US" sz="4000" b="1" dirty="0">
                <a:solidFill>
                  <a:schemeClr val="accent1"/>
                </a:solidFill>
                <a:latin typeface="Segoe UI Semibold" pitchFamily="34" charset="0"/>
                <a:ea typeface="Segoe UI Semibold" pitchFamily="34" charset="-122"/>
                <a:cs typeface="Segoe UI Semibold" pitchFamily="34" charset="-120"/>
              </a:rPr>
              <a:t>6,500</a:t>
            </a:r>
            <a:endParaRPr lang="en-US" sz="4000" dirty="0"/>
          </a:p>
        </p:txBody>
      </p:sp>
      <p:sp>
        <p:nvSpPr>
          <p:cNvPr id="13" name="Text 11"/>
          <p:cNvSpPr txBox="1"/>
          <p:nvPr/>
        </p:nvSpPr>
        <p:spPr>
          <a:xfrm>
            <a:off x="822960" y="4754880"/>
            <a:ext cx="4572000" cy="365760"/>
          </a:xfrm>
          <a:prstGeom prst="rect">
            <a:avLst/>
          </a:prstGeom>
          <a:noFill/>
          <a:ln/>
        </p:spPr>
        <p:txBody>
          <a:bodyPr wrap="square" lIns="0" tIns="0" rIns="0" bIns="0" rtlCol="0" anchor="t"/>
          <a:lstStyle/>
          <a:p>
            <a:pPr marL="0" indent="0">
              <a:buNone/>
            </a:pPr>
            <a:r>
              <a:rPr lang="en-US" sz="1500" dirty="0">
                <a:solidFill>
                  <a:schemeClr val="tx1"/>
                </a:solidFill>
              </a:rPr>
              <a:t>Synthetic printed and script lines · 32 fonts</a:t>
            </a:r>
            <a:endParaRPr lang="en-US" sz="1500" dirty="0"/>
          </a:p>
        </p:txBody>
      </p:sp>
      <p:sp>
        <p:nvSpPr>
          <p:cNvPr id="14" name="Shape 12"/>
          <p:cNvSpPr/>
          <p:nvPr/>
        </p:nvSpPr>
        <p:spPr>
          <a:xfrm>
            <a:off x="822960" y="5285232"/>
            <a:ext cx="3483864" cy="201168"/>
          </a:xfrm>
          <a:prstGeom prst="rect">
            <a:avLst/>
          </a:prstGeom>
          <a:solidFill>
            <a:schemeClr val="accent1"/>
          </a:solidFill>
          <a:ln/>
        </p:spPr>
      </p:sp>
      <p:sp>
        <p:nvSpPr>
          <p:cNvPr id="15" name="Shape 13"/>
          <p:cNvSpPr/>
          <p:nvPr/>
        </p:nvSpPr>
        <p:spPr>
          <a:xfrm>
            <a:off x="4343400" y="5285232"/>
            <a:ext cx="347472" cy="201168"/>
          </a:xfrm>
          <a:prstGeom prst="rect">
            <a:avLst/>
          </a:prstGeom>
          <a:solidFill>
            <a:schemeClr val="accent5"/>
          </a:solidFill>
          <a:ln/>
        </p:spPr>
      </p:sp>
      <p:sp>
        <p:nvSpPr>
          <p:cNvPr id="16" name="Shape 14"/>
          <p:cNvSpPr/>
          <p:nvPr/>
        </p:nvSpPr>
        <p:spPr>
          <a:xfrm>
            <a:off x="4727448" y="5285232"/>
            <a:ext cx="649224" cy="201168"/>
          </a:xfrm>
          <a:prstGeom prst="rect">
            <a:avLst/>
          </a:prstGeom>
          <a:solidFill>
            <a:schemeClr val="accent2"/>
          </a:solidFill>
          <a:ln/>
        </p:spPr>
      </p:sp>
      <p:sp>
        <p:nvSpPr>
          <p:cNvPr id="17" name="Text 15"/>
          <p:cNvSpPr txBox="1"/>
          <p:nvPr/>
        </p:nvSpPr>
        <p:spPr>
          <a:xfrm>
            <a:off x="822960" y="5559552"/>
            <a:ext cx="4572000" cy="292608"/>
          </a:xfrm>
          <a:prstGeom prst="rect">
            <a:avLst/>
          </a:prstGeom>
          <a:noFill/>
          <a:ln/>
        </p:spPr>
        <p:txBody>
          <a:bodyPr wrap="square" lIns="0" tIns="0" rIns="0" bIns="0" rtlCol="0" anchor="t"/>
          <a:lstStyle/>
          <a:p>
            <a:pPr marL="0" indent="0">
              <a:buNone/>
            </a:pPr>
            <a:r>
              <a:rPr lang="en-US" sz="1200" dirty="0">
                <a:solidFill>
                  <a:schemeClr val="accent6"/>
                </a:solidFill>
              </a:rPr>
              <a:t>Train 5,005   ·   Val 520   ·   Test 975</a:t>
            </a:r>
            <a:endParaRPr lang="en-US" sz="1200" dirty="0"/>
          </a:p>
        </p:txBody>
      </p:sp>
      <p:pic>
        <p:nvPicPr>
          <p:cNvPr id="18" name="Image 0" descr="Example IAM and synthetic test lines"/>
          <p:cNvPicPr>
            <a:picLocks noChangeAspect="1"/>
          </p:cNvPicPr>
          <p:nvPr/>
        </p:nvPicPr>
        <p:blipFill>
          <a:blip r:embed="rId3"/>
          <a:stretch>
            <a:fillRect/>
          </a:stretch>
        </p:blipFill>
        <p:spPr>
          <a:xfrm>
            <a:off x="5989320" y="1463040"/>
            <a:ext cx="5669280" cy="2635686"/>
          </a:xfrm>
          <a:prstGeom prst="rect">
            <a:avLst/>
          </a:prstGeom>
        </p:spPr>
      </p:pic>
      <p:sp>
        <p:nvSpPr>
          <p:cNvPr id="19" name="Shape 16"/>
          <p:cNvSpPr/>
          <p:nvPr/>
        </p:nvSpPr>
        <p:spPr>
          <a:xfrm>
            <a:off x="5989320" y="4235886"/>
            <a:ext cx="5669280" cy="1753434"/>
          </a:xfrm>
          <a:prstGeom prst="roundRect">
            <a:avLst>
              <a:gd name="adj" fmla="val 6258"/>
            </a:avLst>
          </a:prstGeom>
          <a:solidFill>
            <a:schemeClr val="bg2"/>
          </a:solidFill>
          <a:ln/>
        </p:spPr>
      </p:sp>
      <p:sp>
        <p:nvSpPr>
          <p:cNvPr id="20" name="Text 17"/>
          <p:cNvSpPr txBox="1"/>
          <p:nvPr/>
        </p:nvSpPr>
        <p:spPr>
          <a:xfrm>
            <a:off x="6217920" y="4235886"/>
            <a:ext cx="5257800" cy="1753434"/>
          </a:xfrm>
          <a:prstGeom prst="rect">
            <a:avLst/>
          </a:prstGeom>
          <a:noFill/>
          <a:ln/>
        </p:spPr>
        <p:txBody>
          <a:bodyPr wrap="square" lIns="0" tIns="0" rIns="0" bIns="0" rtlCol="0" anchor="ctr"/>
          <a:lstStyle/>
          <a:p>
            <a:pPr marL="0" indent="0">
              <a:spcAft>
                <a:spcPts val="600"/>
              </a:spcAft>
              <a:buNone/>
            </a:pPr>
            <a:r>
              <a:rPr lang="en-US" sz="1400" b="1" dirty="0">
                <a:solidFill>
                  <a:schemeClr val="tx1"/>
                </a:solidFill>
              </a:rPr>
              <a:t>Writer-independent split: </a:t>
            </a:r>
            <a:r>
              <a:rPr lang="en-US" sz="1400" dirty="0">
                <a:solidFill>
                  <a:schemeClr val="tx1"/>
                </a:solidFill>
              </a:rPr>
              <a:t>test writers never appear in training.</a:t>
            </a:r>
            <a:endParaRPr lang="en-US" sz="1400" dirty="0"/>
          </a:p>
          <a:p>
            <a:pPr marL="0" indent="0">
              <a:spcAft>
                <a:spcPts val="600"/>
              </a:spcAft>
              <a:buNone/>
            </a:pPr>
            <a:r>
              <a:rPr lang="en-US" sz="1400" b="1" dirty="0">
                <a:solidFill>
                  <a:schemeClr val="tx1"/>
                </a:solidFill>
              </a:rPr>
              <a:t>Augmentation: </a:t>
            </a:r>
            <a:r>
              <a:rPr lang="en-US" sz="1400" dirty="0">
                <a:solidFill>
                  <a:schemeClr val="tx1"/>
                </a:solidFill>
              </a:rPr>
              <a:t>rotation, scaling, noise, blur, brightness, perspective.</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ens"/>
          <p:cNvSpPr/>
          <p:nvPr/>
        </p:nvSpPr>
        <p:spPr>
          <a:xfrm>
            <a:off x="10515600" y="-1737360"/>
            <a:ext cx="2926080" cy="292608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Cleaning the page before reading it</a:t>
            </a:r>
            <a:endParaRPr lang="en-US" sz="3000" dirty="0"/>
          </a:p>
        </p:txBody>
      </p:sp>
      <p:pic>
        <p:nvPicPr>
          <p:cNvPr id="4" name="Image 0" descr="Noisy scan before and after preprocessing"/>
          <p:cNvPicPr>
            <a:picLocks noChangeAspect="1"/>
          </p:cNvPicPr>
          <p:nvPr/>
        </p:nvPicPr>
        <p:blipFill>
          <a:blip r:embed="rId3"/>
          <a:stretch>
            <a:fillRect/>
          </a:stretch>
        </p:blipFill>
        <p:spPr>
          <a:xfrm>
            <a:off x="548640" y="1371600"/>
            <a:ext cx="6798175" cy="3291840"/>
          </a:xfrm>
          <a:prstGeom prst="rect">
            <a:avLst/>
          </a:prstGeom>
        </p:spPr>
      </p:pic>
      <p:sp>
        <p:nvSpPr>
          <p:cNvPr id="5" name="Shape 2"/>
          <p:cNvSpPr/>
          <p:nvPr/>
        </p:nvSpPr>
        <p:spPr>
          <a:xfrm>
            <a:off x="548640" y="4892040"/>
            <a:ext cx="6858000" cy="1097280"/>
          </a:xfrm>
          <a:prstGeom prst="roundRect">
            <a:avLst>
              <a:gd name="adj" fmla="val 10000"/>
            </a:avLst>
          </a:prstGeom>
          <a:solidFill>
            <a:schemeClr val="accent1">
              <a:alpha val="10000"/>
            </a:schemeClr>
          </a:solidFill>
          <a:ln/>
        </p:spPr>
      </p:sp>
      <p:sp>
        <p:nvSpPr>
          <p:cNvPr id="6" name="Text 3"/>
          <p:cNvSpPr txBox="1"/>
          <p:nvPr/>
        </p:nvSpPr>
        <p:spPr>
          <a:xfrm>
            <a:off x="822960" y="4892040"/>
            <a:ext cx="3108960" cy="1097280"/>
          </a:xfrm>
          <a:prstGeom prst="rect">
            <a:avLst/>
          </a:prstGeom>
          <a:noFill/>
          <a:ln/>
        </p:spPr>
        <p:txBody>
          <a:bodyPr wrap="square" lIns="0" tIns="0" rIns="0" bIns="0" rtlCol="0" anchor="ctr"/>
          <a:lstStyle/>
          <a:p>
            <a:pPr marL="0" indent="0">
              <a:buNone/>
            </a:pPr>
            <a:r>
              <a:rPr lang="en-US" sz="3000" b="1" dirty="0">
                <a:solidFill>
                  <a:schemeClr val="accent1"/>
                </a:solidFill>
                <a:latin typeface="Segoe UI Semibold" pitchFamily="34" charset="0"/>
                <a:ea typeface="Segoe UI Semibold" pitchFamily="34" charset="-122"/>
                <a:cs typeface="Segoe UI Semibold" pitchFamily="34" charset="-120"/>
              </a:rPr>
              <a:t>65.5% → 18.9%</a:t>
            </a:r>
            <a:endParaRPr lang="en-US" sz="3000" dirty="0"/>
          </a:p>
        </p:txBody>
      </p:sp>
      <p:sp>
        <p:nvSpPr>
          <p:cNvPr id="7" name="Text 4"/>
          <p:cNvSpPr txBox="1"/>
          <p:nvPr/>
        </p:nvSpPr>
        <p:spPr>
          <a:xfrm>
            <a:off x="3931920" y="4892040"/>
            <a:ext cx="3291840" cy="1097280"/>
          </a:xfrm>
          <a:prstGeom prst="rect">
            <a:avLst/>
          </a:prstGeom>
          <a:noFill/>
          <a:ln/>
        </p:spPr>
        <p:txBody>
          <a:bodyPr wrap="square" lIns="0" tIns="0" rIns="0" bIns="0" rtlCol="0" anchor="ctr"/>
          <a:lstStyle/>
          <a:p>
            <a:pPr marL="0" indent="0">
              <a:buNone/>
            </a:pPr>
            <a:r>
              <a:rPr lang="en-US" sz="1400" dirty="0">
                <a:solidFill>
                  <a:schemeClr val="tx1"/>
                </a:solidFill>
              </a:rPr>
              <a:t>CER of the CNN‑BiLSTM on lines tilted by 8°, without and with our deskew step</a:t>
            </a:r>
            <a:endParaRPr lang="en-US" sz="1400" dirty="0"/>
          </a:p>
        </p:txBody>
      </p:sp>
      <p:sp>
        <p:nvSpPr>
          <p:cNvPr id="8" name="Shape 5"/>
          <p:cNvSpPr/>
          <p:nvPr/>
        </p:nvSpPr>
        <p:spPr>
          <a:xfrm>
            <a:off x="7772400" y="1417320"/>
            <a:ext cx="566928" cy="566928"/>
          </a:xfrm>
          <a:prstGeom prst="ellipse">
            <a:avLst/>
          </a:prstGeom>
          <a:solidFill>
            <a:schemeClr val="bg2"/>
          </a:solidFill>
          <a:ln/>
        </p:spPr>
      </p:sp>
      <p:pic>
        <p:nvPicPr>
          <p:cNvPr id="9" name="Image 1" descr="preencoded.png"/>
          <p:cNvPicPr>
            <a:picLocks noChangeAspect="1"/>
          </p:cNvPicPr>
          <p:nvPr/>
        </p:nvPicPr>
        <p:blipFill>
          <a:blip r:embed="rId4"/>
          <a:stretch>
            <a:fillRect/>
          </a:stretch>
        </p:blipFill>
        <p:spPr>
          <a:xfrm>
            <a:off x="7908463" y="1553383"/>
            <a:ext cx="294803" cy="294803"/>
          </a:xfrm>
          <a:prstGeom prst="rect">
            <a:avLst/>
          </a:prstGeom>
        </p:spPr>
      </p:pic>
      <p:sp>
        <p:nvSpPr>
          <p:cNvPr id="10" name="Text 6"/>
          <p:cNvSpPr txBox="1"/>
          <p:nvPr/>
        </p:nvSpPr>
        <p:spPr>
          <a:xfrm>
            <a:off x="8503920" y="1399032"/>
            <a:ext cx="3108960" cy="347472"/>
          </a:xfrm>
          <a:prstGeom prst="rect">
            <a:avLst/>
          </a:prstGeom>
          <a:noFill/>
          <a:ln/>
        </p:spPr>
        <p:txBody>
          <a:bodyPr wrap="square" lIns="0" tIns="0" rIns="0" bIns="0" rtlCol="0" anchor="t"/>
          <a:lstStyle/>
          <a:p>
            <a:pPr marL="0" indent="0">
              <a:buNone/>
            </a:pPr>
            <a:r>
              <a:rPr lang="en-US" sz="1700" dirty="0">
                <a:solidFill>
                  <a:schemeClr val="tx1"/>
                </a:solidFill>
                <a:latin typeface="Segoe UI Semibold" pitchFamily="34" charset="0"/>
                <a:ea typeface="Segoe UI Semibold" pitchFamily="34" charset="-122"/>
                <a:cs typeface="Segoe UI Semibold" pitchFamily="34" charset="-120"/>
              </a:rPr>
              <a:t>Deskew</a:t>
            </a:r>
            <a:endParaRPr lang="en-US" sz="1700" dirty="0"/>
          </a:p>
        </p:txBody>
      </p:sp>
      <p:sp>
        <p:nvSpPr>
          <p:cNvPr id="11" name="Text 7"/>
          <p:cNvSpPr txBox="1"/>
          <p:nvPr/>
        </p:nvSpPr>
        <p:spPr>
          <a:xfrm>
            <a:off x="8503920" y="1746504"/>
            <a:ext cx="3154680" cy="640080"/>
          </a:xfrm>
          <a:prstGeom prst="rect">
            <a:avLst/>
          </a:prstGeom>
          <a:noFill/>
          <a:ln/>
        </p:spPr>
        <p:txBody>
          <a:bodyPr wrap="square" lIns="0" tIns="0" rIns="0" bIns="0" rtlCol="0" anchor="t"/>
          <a:lstStyle/>
          <a:p>
            <a:pPr marL="0" indent="0">
              <a:buNone/>
            </a:pPr>
            <a:r>
              <a:rPr lang="en-US" sz="1300" dirty="0">
                <a:solidFill>
                  <a:schemeClr val="accent6"/>
                </a:solidFill>
              </a:rPr>
              <a:t>Projection profile finds the tilt (±12°) and straightens the page</a:t>
            </a:r>
            <a:endParaRPr lang="en-US" sz="1300" dirty="0"/>
          </a:p>
        </p:txBody>
      </p:sp>
      <p:sp>
        <p:nvSpPr>
          <p:cNvPr id="12" name="Shape 8"/>
          <p:cNvSpPr/>
          <p:nvPr/>
        </p:nvSpPr>
        <p:spPr>
          <a:xfrm>
            <a:off x="7772400" y="2560320"/>
            <a:ext cx="566928" cy="566928"/>
          </a:xfrm>
          <a:prstGeom prst="ellipse">
            <a:avLst/>
          </a:prstGeom>
          <a:solidFill>
            <a:schemeClr val="bg2"/>
          </a:solidFill>
          <a:ln/>
        </p:spPr>
      </p:sp>
      <p:pic>
        <p:nvPicPr>
          <p:cNvPr id="13" name="Image 2" descr="preencoded.png"/>
          <p:cNvPicPr>
            <a:picLocks noChangeAspect="1"/>
          </p:cNvPicPr>
          <p:nvPr/>
        </p:nvPicPr>
        <p:blipFill>
          <a:blip r:embed="rId5"/>
          <a:stretch>
            <a:fillRect/>
          </a:stretch>
        </p:blipFill>
        <p:spPr>
          <a:xfrm>
            <a:off x="7908463" y="2696383"/>
            <a:ext cx="294803" cy="294803"/>
          </a:xfrm>
          <a:prstGeom prst="rect">
            <a:avLst/>
          </a:prstGeom>
        </p:spPr>
      </p:pic>
      <p:sp>
        <p:nvSpPr>
          <p:cNvPr id="14" name="Text 9"/>
          <p:cNvSpPr txBox="1"/>
          <p:nvPr/>
        </p:nvSpPr>
        <p:spPr>
          <a:xfrm>
            <a:off x="8503920" y="2542032"/>
            <a:ext cx="3108960" cy="347472"/>
          </a:xfrm>
          <a:prstGeom prst="rect">
            <a:avLst/>
          </a:prstGeom>
          <a:noFill/>
          <a:ln/>
        </p:spPr>
        <p:txBody>
          <a:bodyPr wrap="square" lIns="0" tIns="0" rIns="0" bIns="0" rtlCol="0" anchor="t"/>
          <a:lstStyle/>
          <a:p>
            <a:pPr marL="0" indent="0">
              <a:buNone/>
            </a:pPr>
            <a:r>
              <a:rPr lang="en-US" sz="1700" dirty="0">
                <a:solidFill>
                  <a:schemeClr val="tx1"/>
                </a:solidFill>
                <a:latin typeface="Segoe UI Semibold" pitchFamily="34" charset="0"/>
                <a:ea typeface="Segoe UI Semibold" pitchFamily="34" charset="-122"/>
                <a:cs typeface="Segoe UI Semibold" pitchFamily="34" charset="-120"/>
              </a:rPr>
              <a:t>Denoise</a:t>
            </a:r>
            <a:endParaRPr lang="en-US" sz="1700" dirty="0"/>
          </a:p>
        </p:txBody>
      </p:sp>
      <p:sp>
        <p:nvSpPr>
          <p:cNvPr id="15" name="Text 10"/>
          <p:cNvSpPr txBox="1"/>
          <p:nvPr/>
        </p:nvSpPr>
        <p:spPr>
          <a:xfrm>
            <a:off x="8503920" y="2889504"/>
            <a:ext cx="3154680" cy="640080"/>
          </a:xfrm>
          <a:prstGeom prst="rect">
            <a:avLst/>
          </a:prstGeom>
          <a:noFill/>
          <a:ln/>
        </p:spPr>
        <p:txBody>
          <a:bodyPr wrap="square" lIns="0" tIns="0" rIns="0" bIns="0" rtlCol="0" anchor="t"/>
          <a:lstStyle/>
          <a:p>
            <a:pPr marL="0" indent="0">
              <a:buNone/>
            </a:pPr>
            <a:r>
              <a:rPr lang="en-US" sz="1300" dirty="0">
                <a:solidFill>
                  <a:schemeClr val="accent6"/>
                </a:solidFill>
              </a:rPr>
              <a:t>Gaussian and median filtering remove speckle</a:t>
            </a:r>
            <a:endParaRPr lang="en-US" sz="1300" dirty="0"/>
          </a:p>
        </p:txBody>
      </p:sp>
      <p:sp>
        <p:nvSpPr>
          <p:cNvPr id="16" name="Shape 11"/>
          <p:cNvSpPr/>
          <p:nvPr/>
        </p:nvSpPr>
        <p:spPr>
          <a:xfrm>
            <a:off x="7772400" y="3703320"/>
            <a:ext cx="566928" cy="566928"/>
          </a:xfrm>
          <a:prstGeom prst="ellipse">
            <a:avLst/>
          </a:prstGeom>
          <a:solidFill>
            <a:schemeClr val="bg2"/>
          </a:solidFill>
          <a:ln/>
        </p:spPr>
      </p:sp>
      <p:pic>
        <p:nvPicPr>
          <p:cNvPr id="17" name="Image 3" descr="preencoded.png"/>
          <p:cNvPicPr>
            <a:picLocks noChangeAspect="1"/>
          </p:cNvPicPr>
          <p:nvPr/>
        </p:nvPicPr>
        <p:blipFill>
          <a:blip r:embed="rId6"/>
          <a:stretch>
            <a:fillRect/>
          </a:stretch>
        </p:blipFill>
        <p:spPr>
          <a:xfrm>
            <a:off x="7908463" y="3839383"/>
            <a:ext cx="294803" cy="294803"/>
          </a:xfrm>
          <a:prstGeom prst="rect">
            <a:avLst/>
          </a:prstGeom>
        </p:spPr>
      </p:pic>
      <p:sp>
        <p:nvSpPr>
          <p:cNvPr id="18" name="Text 12"/>
          <p:cNvSpPr txBox="1"/>
          <p:nvPr/>
        </p:nvSpPr>
        <p:spPr>
          <a:xfrm>
            <a:off x="8503920" y="3685032"/>
            <a:ext cx="3108960" cy="347472"/>
          </a:xfrm>
          <a:prstGeom prst="rect">
            <a:avLst/>
          </a:prstGeom>
          <a:noFill/>
          <a:ln/>
        </p:spPr>
        <p:txBody>
          <a:bodyPr wrap="square" lIns="0" tIns="0" rIns="0" bIns="0" rtlCol="0" anchor="t"/>
          <a:lstStyle/>
          <a:p>
            <a:pPr marL="0" indent="0">
              <a:buNone/>
            </a:pPr>
            <a:r>
              <a:rPr lang="en-US" sz="1700" dirty="0">
                <a:solidFill>
                  <a:schemeClr val="tx1"/>
                </a:solidFill>
                <a:latin typeface="Segoe UI Semibold" pitchFamily="34" charset="0"/>
                <a:ea typeface="Segoe UI Semibold" pitchFamily="34" charset="-122"/>
                <a:cs typeface="Segoe UI Semibold" pitchFamily="34" charset="-120"/>
              </a:rPr>
              <a:t>Contrast</a:t>
            </a:r>
            <a:endParaRPr lang="en-US" sz="1700" dirty="0"/>
          </a:p>
        </p:txBody>
      </p:sp>
      <p:sp>
        <p:nvSpPr>
          <p:cNvPr id="19" name="Text 13"/>
          <p:cNvSpPr txBox="1"/>
          <p:nvPr/>
        </p:nvSpPr>
        <p:spPr>
          <a:xfrm>
            <a:off x="8503920" y="4032504"/>
            <a:ext cx="3154680" cy="640080"/>
          </a:xfrm>
          <a:prstGeom prst="rect">
            <a:avLst/>
          </a:prstGeom>
          <a:noFill/>
          <a:ln/>
        </p:spPr>
        <p:txBody>
          <a:bodyPr wrap="square" lIns="0" tIns="0" rIns="0" bIns="0" rtlCol="0" anchor="t"/>
          <a:lstStyle/>
          <a:p>
            <a:pPr marL="0" indent="0">
              <a:buNone/>
            </a:pPr>
            <a:r>
              <a:rPr lang="en-US" sz="1300" dirty="0">
                <a:solidFill>
                  <a:schemeClr val="accent6"/>
                </a:solidFill>
              </a:rPr>
              <a:t>CLAHE lifts faint ink without boosting noise</a:t>
            </a:r>
            <a:endParaRPr lang="en-US" sz="1300" dirty="0"/>
          </a:p>
        </p:txBody>
      </p:sp>
      <p:sp>
        <p:nvSpPr>
          <p:cNvPr id="20" name="Shape 14"/>
          <p:cNvSpPr/>
          <p:nvPr/>
        </p:nvSpPr>
        <p:spPr>
          <a:xfrm>
            <a:off x="7772400" y="4846320"/>
            <a:ext cx="566928" cy="566928"/>
          </a:xfrm>
          <a:prstGeom prst="ellipse">
            <a:avLst/>
          </a:prstGeom>
          <a:solidFill>
            <a:schemeClr val="bg2"/>
          </a:solidFill>
          <a:ln/>
        </p:spPr>
      </p:sp>
      <p:pic>
        <p:nvPicPr>
          <p:cNvPr id="21" name="Image 4" descr="preencoded.png"/>
          <p:cNvPicPr>
            <a:picLocks noChangeAspect="1"/>
          </p:cNvPicPr>
          <p:nvPr/>
        </p:nvPicPr>
        <p:blipFill>
          <a:blip r:embed="rId7"/>
          <a:stretch>
            <a:fillRect/>
          </a:stretch>
        </p:blipFill>
        <p:spPr>
          <a:xfrm>
            <a:off x="7908463" y="4982383"/>
            <a:ext cx="294803" cy="294803"/>
          </a:xfrm>
          <a:prstGeom prst="rect">
            <a:avLst/>
          </a:prstGeom>
        </p:spPr>
      </p:pic>
      <p:sp>
        <p:nvSpPr>
          <p:cNvPr id="22" name="Text 15"/>
          <p:cNvSpPr txBox="1"/>
          <p:nvPr/>
        </p:nvSpPr>
        <p:spPr>
          <a:xfrm>
            <a:off x="8503920" y="4828032"/>
            <a:ext cx="3108960" cy="347472"/>
          </a:xfrm>
          <a:prstGeom prst="rect">
            <a:avLst/>
          </a:prstGeom>
          <a:noFill/>
          <a:ln/>
        </p:spPr>
        <p:txBody>
          <a:bodyPr wrap="square" lIns="0" tIns="0" rIns="0" bIns="0" rtlCol="0" anchor="t"/>
          <a:lstStyle/>
          <a:p>
            <a:pPr marL="0" indent="0">
              <a:buNone/>
            </a:pPr>
            <a:r>
              <a:rPr lang="en-US" sz="1700" dirty="0">
                <a:solidFill>
                  <a:schemeClr val="tx1"/>
                </a:solidFill>
                <a:latin typeface="Segoe UI Semibold" pitchFamily="34" charset="0"/>
                <a:ea typeface="Segoe UI Semibold" pitchFamily="34" charset="-122"/>
                <a:cs typeface="Segoe UI Semibold" pitchFamily="34" charset="-120"/>
              </a:rPr>
              <a:t>Binarise</a:t>
            </a:r>
            <a:endParaRPr lang="en-US" sz="1700" dirty="0"/>
          </a:p>
        </p:txBody>
      </p:sp>
      <p:sp>
        <p:nvSpPr>
          <p:cNvPr id="23" name="Text 16"/>
          <p:cNvSpPr txBox="1"/>
          <p:nvPr/>
        </p:nvSpPr>
        <p:spPr>
          <a:xfrm>
            <a:off x="8503920" y="5175504"/>
            <a:ext cx="3154680" cy="640080"/>
          </a:xfrm>
          <a:prstGeom prst="rect">
            <a:avLst/>
          </a:prstGeom>
          <a:noFill/>
          <a:ln/>
        </p:spPr>
        <p:txBody>
          <a:bodyPr wrap="square" lIns="0" tIns="0" rIns="0" bIns="0" rtlCol="0" anchor="t"/>
          <a:lstStyle/>
          <a:p>
            <a:pPr marL="0" indent="0">
              <a:buNone/>
            </a:pPr>
            <a:r>
              <a:rPr lang="en-US" sz="1300" dirty="0">
                <a:solidFill>
                  <a:schemeClr val="accent6"/>
                </a:solidFill>
              </a:rPr>
              <a:t>Adaptive threshold evens out phone-photo lighting</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lens"/>
          <p:cNvSpPr/>
          <p:nvPr/>
        </p:nvSpPr>
        <p:spPr>
          <a:xfrm>
            <a:off x="-2377440" y="3840480"/>
            <a:ext cx="2743200" cy="274320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Three models, from baseline to Transformer</a:t>
            </a:r>
            <a:endParaRPr lang="en-US" sz="3000" dirty="0"/>
          </a:p>
        </p:txBody>
      </p:sp>
      <p:sp>
        <p:nvSpPr>
          <p:cNvPr id="4" name="!!card-cnn"/>
          <p:cNvSpPr/>
          <p:nvPr/>
        </p:nvSpPr>
        <p:spPr>
          <a:xfrm>
            <a:off x="548640" y="1463040"/>
            <a:ext cx="3520440" cy="4434840"/>
          </a:xfrm>
          <a:prstGeom prst="roundRect">
            <a:avLst>
              <a:gd name="adj" fmla="val 3117"/>
            </a:avLst>
          </a:prstGeom>
          <a:solidFill>
            <a:schemeClr val="bg2"/>
          </a:solidFill>
          <a:ln/>
        </p:spPr>
      </p:sp>
      <p:sp>
        <p:nvSpPr>
          <p:cNvPr id="5" name="Shape 3"/>
          <p:cNvSpPr/>
          <p:nvPr/>
        </p:nvSpPr>
        <p:spPr>
          <a:xfrm>
            <a:off x="822960" y="1737360"/>
            <a:ext cx="603504" cy="603504"/>
          </a:xfrm>
          <a:prstGeom prst="ellipse">
            <a:avLst/>
          </a:prstGeom>
          <a:solidFill>
            <a:srgbClr val="0BA5EC"/>
          </a:solidFill>
          <a:ln/>
        </p:spPr>
      </p:sp>
      <p:pic>
        <p:nvPicPr>
          <p:cNvPr id="6" name="Image 0" descr="preencoded.png"/>
          <p:cNvPicPr>
            <a:picLocks noChangeAspect="1"/>
          </p:cNvPicPr>
          <p:nvPr/>
        </p:nvPicPr>
        <p:blipFill>
          <a:blip r:embed="rId3"/>
          <a:stretch>
            <a:fillRect/>
          </a:stretch>
        </p:blipFill>
        <p:spPr>
          <a:xfrm>
            <a:off x="967801" y="1882201"/>
            <a:ext cx="313822" cy="313822"/>
          </a:xfrm>
          <a:prstGeom prst="rect">
            <a:avLst/>
          </a:prstGeom>
        </p:spPr>
      </p:pic>
      <p:sp>
        <p:nvSpPr>
          <p:cNvPr id="7" name="Text 4"/>
          <p:cNvSpPr txBox="1"/>
          <p:nvPr/>
        </p:nvSpPr>
        <p:spPr>
          <a:xfrm>
            <a:off x="1600200" y="1783080"/>
            <a:ext cx="2286000" cy="274320"/>
          </a:xfrm>
          <a:prstGeom prst="rect">
            <a:avLst/>
          </a:prstGeom>
          <a:noFill/>
          <a:ln/>
        </p:spPr>
        <p:txBody>
          <a:bodyPr wrap="square" lIns="0" tIns="0" rIns="0" bIns="0" rtlCol="0" anchor="t"/>
          <a:lstStyle/>
          <a:p>
            <a:pPr marL="0" indent="0">
              <a:buNone/>
            </a:pPr>
            <a:r>
              <a:rPr lang="en-US" sz="1200" b="1" kern="0" spc="200" dirty="0">
                <a:solidFill>
                  <a:schemeClr val="accent6"/>
                </a:solidFill>
              </a:rPr>
              <a:t>BASELINE</a:t>
            </a:r>
            <a:endParaRPr lang="en-US" sz="1200" dirty="0"/>
          </a:p>
        </p:txBody>
      </p:sp>
      <p:sp>
        <p:nvSpPr>
          <p:cNvPr id="8" name="Text 5"/>
          <p:cNvSpPr txBox="1"/>
          <p:nvPr/>
        </p:nvSpPr>
        <p:spPr>
          <a:xfrm>
            <a:off x="1600200" y="2029968"/>
            <a:ext cx="2377440" cy="384048"/>
          </a:xfrm>
          <a:prstGeom prst="rect">
            <a:avLst/>
          </a:prstGeom>
          <a:noFill/>
          <a:ln/>
        </p:spPr>
        <p:txBody>
          <a:bodyPr wrap="square" lIns="0" tIns="0" rIns="0" bIns="0" rtlCol="0" anchor="t"/>
          <a:lstStyle/>
          <a:p>
            <a:pPr marL="0" indent="0">
              <a:buNone/>
            </a:pPr>
            <a:r>
              <a:rPr lang="en-US" sz="2000" dirty="0">
                <a:solidFill>
                  <a:schemeClr val="tx1"/>
                </a:solidFill>
                <a:latin typeface="Segoe UI Semibold" pitchFamily="34" charset="0"/>
                <a:ea typeface="Segoe UI Semibold" pitchFamily="34" charset="-122"/>
                <a:cs typeface="Segoe UI Semibold" pitchFamily="34" charset="-120"/>
              </a:rPr>
              <a:t>CNN‑BiLSTM</a:t>
            </a:r>
            <a:endParaRPr lang="en-US" sz="2000" dirty="0"/>
          </a:p>
        </p:txBody>
      </p:sp>
      <p:sp>
        <p:nvSpPr>
          <p:cNvPr id="9" name="Text 6"/>
          <p:cNvSpPr txBox="1"/>
          <p:nvPr/>
        </p:nvSpPr>
        <p:spPr>
          <a:xfrm>
            <a:off x="822960" y="2560320"/>
            <a:ext cx="3017520" cy="594360"/>
          </a:xfrm>
          <a:prstGeom prst="rect">
            <a:avLst/>
          </a:prstGeom>
          <a:noFill/>
          <a:ln/>
        </p:spPr>
        <p:txBody>
          <a:bodyPr wrap="square" lIns="0" tIns="0" rIns="0" bIns="0" rtlCol="0" anchor="t"/>
          <a:lstStyle/>
          <a:p>
            <a:pPr marL="0" indent="0">
              <a:buNone/>
            </a:pPr>
            <a:r>
              <a:rPr lang="en-US" sz="1400" dirty="0">
                <a:solidFill>
                  <a:schemeClr val="tx1"/>
                </a:solidFill>
              </a:rPr>
              <a:t>4 conv blocks + 2-layer BiLSTM + CTC</a:t>
            </a:r>
            <a:endParaRPr lang="en-US" sz="1400" dirty="0"/>
          </a:p>
        </p:txBody>
      </p:sp>
      <p:sp>
        <p:nvSpPr>
          <p:cNvPr id="10" name="Text 7"/>
          <p:cNvSpPr txBox="1"/>
          <p:nvPr/>
        </p:nvSpPr>
        <p:spPr>
          <a:xfrm>
            <a:off x="822960" y="3291840"/>
            <a:ext cx="2926080" cy="228600"/>
          </a:xfrm>
          <a:prstGeom prst="rect">
            <a:avLst/>
          </a:prstGeom>
          <a:noFill/>
          <a:ln/>
        </p:spPr>
        <p:txBody>
          <a:bodyPr wrap="square" lIns="0" tIns="0" rIns="0" bIns="0" rtlCol="0" anchor="t"/>
          <a:lstStyle/>
          <a:p>
            <a:pPr marL="0" indent="0">
              <a:buNone/>
            </a:pPr>
            <a:r>
              <a:rPr lang="en-US" sz="1100" dirty="0">
                <a:solidFill>
                  <a:schemeClr val="accent6"/>
                </a:solidFill>
              </a:rPr>
              <a:t>Parameters</a:t>
            </a:r>
            <a:endParaRPr lang="en-US" sz="1100" dirty="0"/>
          </a:p>
        </p:txBody>
      </p:sp>
      <p:sp>
        <p:nvSpPr>
          <p:cNvPr id="11" name="Text 8"/>
          <p:cNvSpPr txBox="1"/>
          <p:nvPr/>
        </p:nvSpPr>
        <p:spPr>
          <a:xfrm>
            <a:off x="822960" y="3520440"/>
            <a:ext cx="3017520" cy="320040"/>
          </a:xfrm>
          <a:prstGeom prst="rect">
            <a:avLst/>
          </a:prstGeom>
          <a:noFill/>
          <a:ln/>
        </p:spPr>
        <p:txBody>
          <a:bodyPr wrap="square" lIns="0" tIns="0" rIns="0" bIns="0" rtlCol="0" anchor="t"/>
          <a:lstStyle/>
          <a:p>
            <a:pPr marL="0" indent="0">
              <a:buNone/>
            </a:pPr>
            <a:r>
              <a:rPr lang="en-US" sz="1500" dirty="0">
                <a:solidFill>
                  <a:schemeClr val="tx1"/>
                </a:solidFill>
              </a:rPr>
              <a:t>2.39 M</a:t>
            </a:r>
            <a:endParaRPr lang="en-US" sz="1500" dirty="0"/>
          </a:p>
        </p:txBody>
      </p:sp>
      <p:sp>
        <p:nvSpPr>
          <p:cNvPr id="12" name="Text 9"/>
          <p:cNvSpPr txBox="1"/>
          <p:nvPr/>
        </p:nvSpPr>
        <p:spPr>
          <a:xfrm>
            <a:off x="822960" y="3913632"/>
            <a:ext cx="2926080" cy="228600"/>
          </a:xfrm>
          <a:prstGeom prst="rect">
            <a:avLst/>
          </a:prstGeom>
          <a:noFill/>
          <a:ln/>
        </p:spPr>
        <p:txBody>
          <a:bodyPr wrap="square" lIns="0" tIns="0" rIns="0" bIns="0" rtlCol="0" anchor="t"/>
          <a:lstStyle/>
          <a:p>
            <a:pPr marL="0" indent="0">
              <a:buNone/>
            </a:pPr>
            <a:r>
              <a:rPr lang="en-US" sz="1100" dirty="0">
                <a:solidFill>
                  <a:schemeClr val="accent6"/>
                </a:solidFill>
              </a:rPr>
              <a:t>Input</a:t>
            </a:r>
            <a:endParaRPr lang="en-US" sz="1100" dirty="0"/>
          </a:p>
        </p:txBody>
      </p:sp>
      <p:sp>
        <p:nvSpPr>
          <p:cNvPr id="13" name="Text 10"/>
          <p:cNvSpPr txBox="1"/>
          <p:nvPr/>
        </p:nvSpPr>
        <p:spPr>
          <a:xfrm>
            <a:off x="822960" y="4142232"/>
            <a:ext cx="3017520" cy="320040"/>
          </a:xfrm>
          <a:prstGeom prst="rect">
            <a:avLst/>
          </a:prstGeom>
          <a:noFill/>
          <a:ln/>
        </p:spPr>
        <p:txBody>
          <a:bodyPr wrap="square" lIns="0" tIns="0" rIns="0" bIns="0" rtlCol="0" anchor="t"/>
          <a:lstStyle/>
          <a:p>
            <a:pPr marL="0" indent="0">
              <a:buNone/>
            </a:pPr>
            <a:r>
              <a:rPr lang="en-US" sz="1500" dirty="0">
                <a:solidFill>
                  <a:schemeClr val="tx1"/>
                </a:solidFill>
              </a:rPr>
              <a:t>32 × 512 grey</a:t>
            </a:r>
            <a:endParaRPr lang="en-US" sz="1500" dirty="0"/>
          </a:p>
        </p:txBody>
      </p:sp>
      <p:sp>
        <p:nvSpPr>
          <p:cNvPr id="14" name="Text 11"/>
          <p:cNvSpPr txBox="1"/>
          <p:nvPr/>
        </p:nvSpPr>
        <p:spPr>
          <a:xfrm>
            <a:off x="822960" y="4535424"/>
            <a:ext cx="2926080" cy="228600"/>
          </a:xfrm>
          <a:prstGeom prst="rect">
            <a:avLst/>
          </a:prstGeom>
          <a:noFill/>
          <a:ln/>
        </p:spPr>
        <p:txBody>
          <a:bodyPr wrap="square" lIns="0" tIns="0" rIns="0" bIns="0" rtlCol="0" anchor="t"/>
          <a:lstStyle/>
          <a:p>
            <a:pPr marL="0" indent="0">
              <a:buNone/>
            </a:pPr>
            <a:r>
              <a:rPr lang="en-US" sz="1100" dirty="0">
                <a:solidFill>
                  <a:schemeClr val="accent6"/>
                </a:solidFill>
              </a:rPr>
              <a:t>Training</a:t>
            </a:r>
            <a:endParaRPr lang="en-US" sz="1100" dirty="0"/>
          </a:p>
        </p:txBody>
      </p:sp>
      <p:sp>
        <p:nvSpPr>
          <p:cNvPr id="15" name="Text 12"/>
          <p:cNvSpPr txBox="1"/>
          <p:nvPr/>
        </p:nvSpPr>
        <p:spPr>
          <a:xfrm>
            <a:off x="822960" y="4764024"/>
            <a:ext cx="3017520" cy="320040"/>
          </a:xfrm>
          <a:prstGeom prst="rect">
            <a:avLst/>
          </a:prstGeom>
          <a:noFill/>
          <a:ln/>
        </p:spPr>
        <p:txBody>
          <a:bodyPr wrap="square" lIns="0" tIns="0" rIns="0" bIns="0" rtlCol="0" anchor="t"/>
          <a:lstStyle/>
          <a:p>
            <a:pPr marL="0" indent="0">
              <a:buNone/>
            </a:pPr>
            <a:r>
              <a:rPr lang="en-US" sz="1500" dirty="0">
                <a:solidFill>
                  <a:schemeClr val="tx1"/>
                </a:solidFill>
              </a:rPr>
              <a:t>From scratch, 124 min on CPU</a:t>
            </a:r>
            <a:endParaRPr lang="en-US" sz="1500" dirty="0"/>
          </a:p>
        </p:txBody>
      </p:sp>
      <p:sp>
        <p:nvSpPr>
          <p:cNvPr id="16" name="Text 13"/>
          <p:cNvSpPr txBox="1"/>
          <p:nvPr/>
        </p:nvSpPr>
        <p:spPr>
          <a:xfrm>
            <a:off x="822960" y="5157216"/>
            <a:ext cx="2926080" cy="228600"/>
          </a:xfrm>
          <a:prstGeom prst="rect">
            <a:avLst/>
          </a:prstGeom>
          <a:noFill/>
          <a:ln/>
        </p:spPr>
        <p:txBody>
          <a:bodyPr wrap="square" lIns="0" tIns="0" rIns="0" bIns="0" rtlCol="0" anchor="t"/>
          <a:lstStyle/>
          <a:p>
            <a:pPr marL="0" indent="0">
              <a:buNone/>
            </a:pPr>
            <a:r>
              <a:rPr lang="en-US" sz="1100" dirty="0">
                <a:solidFill>
                  <a:schemeClr val="accent6"/>
                </a:solidFill>
              </a:rPr>
              <a:t>Speed</a:t>
            </a:r>
            <a:endParaRPr lang="en-US" sz="1100" dirty="0"/>
          </a:p>
        </p:txBody>
      </p:sp>
      <p:sp>
        <p:nvSpPr>
          <p:cNvPr id="17" name="Text 14"/>
          <p:cNvSpPr txBox="1"/>
          <p:nvPr/>
        </p:nvSpPr>
        <p:spPr>
          <a:xfrm>
            <a:off x="822960" y="5385816"/>
            <a:ext cx="3017520" cy="320040"/>
          </a:xfrm>
          <a:prstGeom prst="rect">
            <a:avLst/>
          </a:prstGeom>
          <a:noFill/>
          <a:ln/>
        </p:spPr>
        <p:txBody>
          <a:bodyPr wrap="square" lIns="0" tIns="0" rIns="0" bIns="0" rtlCol="0" anchor="t"/>
          <a:lstStyle/>
          <a:p>
            <a:pPr marL="0" indent="0">
              <a:buNone/>
            </a:pPr>
            <a:r>
              <a:rPr lang="en-US" sz="1500" dirty="0">
                <a:solidFill>
                  <a:schemeClr val="tx1"/>
                </a:solidFill>
              </a:rPr>
              <a:t>12 ms per line</a:t>
            </a:r>
            <a:endParaRPr lang="en-US" sz="1500" dirty="0"/>
          </a:p>
        </p:txBody>
      </p:sp>
      <p:sp>
        <p:nvSpPr>
          <p:cNvPr id="18" name="!!card-crnn"/>
          <p:cNvSpPr/>
          <p:nvPr/>
        </p:nvSpPr>
        <p:spPr>
          <a:xfrm>
            <a:off x="4343400" y="1463040"/>
            <a:ext cx="3520440" cy="4434840"/>
          </a:xfrm>
          <a:prstGeom prst="roundRect">
            <a:avLst>
              <a:gd name="adj" fmla="val 3117"/>
            </a:avLst>
          </a:prstGeom>
          <a:solidFill>
            <a:schemeClr val="bg2"/>
          </a:solidFill>
          <a:ln/>
        </p:spPr>
      </p:sp>
      <p:sp>
        <p:nvSpPr>
          <p:cNvPr id="19" name="Shape 16"/>
          <p:cNvSpPr/>
          <p:nvPr/>
        </p:nvSpPr>
        <p:spPr>
          <a:xfrm>
            <a:off x="4617720" y="1737360"/>
            <a:ext cx="603504" cy="603504"/>
          </a:xfrm>
          <a:prstGeom prst="ellipse">
            <a:avLst/>
          </a:prstGeom>
          <a:solidFill>
            <a:srgbClr val="7A5AF8"/>
          </a:solidFill>
          <a:ln/>
        </p:spPr>
      </p:sp>
      <p:pic>
        <p:nvPicPr>
          <p:cNvPr id="20" name="Image 1" descr="preencoded.png"/>
          <p:cNvPicPr>
            <a:picLocks noChangeAspect="1"/>
          </p:cNvPicPr>
          <p:nvPr/>
        </p:nvPicPr>
        <p:blipFill>
          <a:blip r:embed="rId4"/>
          <a:stretch>
            <a:fillRect/>
          </a:stretch>
        </p:blipFill>
        <p:spPr>
          <a:xfrm>
            <a:off x="4762561" y="1882201"/>
            <a:ext cx="313822" cy="313822"/>
          </a:xfrm>
          <a:prstGeom prst="rect">
            <a:avLst/>
          </a:prstGeom>
        </p:spPr>
      </p:pic>
      <p:sp>
        <p:nvSpPr>
          <p:cNvPr id="21" name="Text 17"/>
          <p:cNvSpPr txBox="1"/>
          <p:nvPr/>
        </p:nvSpPr>
        <p:spPr>
          <a:xfrm>
            <a:off x="5394960" y="1783080"/>
            <a:ext cx="2286000" cy="274320"/>
          </a:xfrm>
          <a:prstGeom prst="rect">
            <a:avLst/>
          </a:prstGeom>
          <a:noFill/>
          <a:ln/>
        </p:spPr>
        <p:txBody>
          <a:bodyPr wrap="square" lIns="0" tIns="0" rIns="0" bIns="0" rtlCol="0" anchor="t"/>
          <a:lstStyle/>
          <a:p>
            <a:pPr marL="0" indent="0">
              <a:buNone/>
            </a:pPr>
            <a:r>
              <a:rPr lang="en-US" sz="1200" b="1" kern="0" spc="200" dirty="0">
                <a:solidFill>
                  <a:schemeClr val="accent6"/>
                </a:solidFill>
              </a:rPr>
              <a:t>MODEL 2</a:t>
            </a:r>
            <a:endParaRPr lang="en-US" sz="1200" dirty="0"/>
          </a:p>
        </p:txBody>
      </p:sp>
      <p:sp>
        <p:nvSpPr>
          <p:cNvPr id="22" name="Text 18"/>
          <p:cNvSpPr txBox="1"/>
          <p:nvPr/>
        </p:nvSpPr>
        <p:spPr>
          <a:xfrm>
            <a:off x="5394960" y="2029968"/>
            <a:ext cx="2377440" cy="384048"/>
          </a:xfrm>
          <a:prstGeom prst="rect">
            <a:avLst/>
          </a:prstGeom>
          <a:noFill/>
          <a:ln/>
        </p:spPr>
        <p:txBody>
          <a:bodyPr wrap="square" lIns="0" tIns="0" rIns="0" bIns="0" rtlCol="0" anchor="t"/>
          <a:lstStyle/>
          <a:p>
            <a:pPr marL="0" indent="0">
              <a:buNone/>
            </a:pPr>
            <a:r>
              <a:rPr lang="en-US" sz="2000" dirty="0">
                <a:solidFill>
                  <a:schemeClr val="tx1"/>
                </a:solidFill>
                <a:latin typeface="Segoe UI Semibold" pitchFamily="34" charset="0"/>
                <a:ea typeface="Segoe UI Semibold" pitchFamily="34" charset="-122"/>
                <a:cs typeface="Segoe UI Semibold" pitchFamily="34" charset="-120"/>
              </a:rPr>
              <a:t>CRNN</a:t>
            </a:r>
            <a:endParaRPr lang="en-US" sz="2000" dirty="0"/>
          </a:p>
        </p:txBody>
      </p:sp>
      <p:sp>
        <p:nvSpPr>
          <p:cNvPr id="23" name="Text 19"/>
          <p:cNvSpPr txBox="1"/>
          <p:nvPr/>
        </p:nvSpPr>
        <p:spPr>
          <a:xfrm>
            <a:off x="4617720" y="2560320"/>
            <a:ext cx="3017520" cy="594360"/>
          </a:xfrm>
          <a:prstGeom prst="rect">
            <a:avLst/>
          </a:prstGeom>
          <a:noFill/>
          <a:ln/>
        </p:spPr>
        <p:txBody>
          <a:bodyPr wrap="square" lIns="0" tIns="0" rIns="0" bIns="0" rtlCol="0" anchor="t"/>
          <a:lstStyle/>
          <a:p>
            <a:pPr marL="0" indent="0">
              <a:buNone/>
            </a:pPr>
            <a:r>
              <a:rPr lang="en-US" sz="1400" dirty="0">
                <a:solidFill>
                  <a:schemeClr val="tx1"/>
                </a:solidFill>
              </a:rPr>
              <a:t>7-layer VGG CNN + BiLSTM + CTC (Shi et al.)</a:t>
            </a:r>
            <a:endParaRPr lang="en-US" sz="1400" dirty="0"/>
          </a:p>
        </p:txBody>
      </p:sp>
      <p:sp>
        <p:nvSpPr>
          <p:cNvPr id="24" name="Text 20"/>
          <p:cNvSpPr txBox="1"/>
          <p:nvPr/>
        </p:nvSpPr>
        <p:spPr>
          <a:xfrm>
            <a:off x="4617720" y="3291840"/>
            <a:ext cx="2926080" cy="228600"/>
          </a:xfrm>
          <a:prstGeom prst="rect">
            <a:avLst/>
          </a:prstGeom>
          <a:noFill/>
          <a:ln/>
        </p:spPr>
        <p:txBody>
          <a:bodyPr wrap="square" lIns="0" tIns="0" rIns="0" bIns="0" rtlCol="0" anchor="t"/>
          <a:lstStyle/>
          <a:p>
            <a:pPr marL="0" indent="0">
              <a:buNone/>
            </a:pPr>
            <a:r>
              <a:rPr lang="en-US" sz="1100" dirty="0">
                <a:solidFill>
                  <a:schemeClr val="accent6"/>
                </a:solidFill>
              </a:rPr>
              <a:t>Parameters</a:t>
            </a:r>
            <a:endParaRPr lang="en-US" sz="1100" dirty="0"/>
          </a:p>
        </p:txBody>
      </p:sp>
      <p:sp>
        <p:nvSpPr>
          <p:cNvPr id="25" name="Text 21"/>
          <p:cNvSpPr txBox="1"/>
          <p:nvPr/>
        </p:nvSpPr>
        <p:spPr>
          <a:xfrm>
            <a:off x="4617720" y="3520440"/>
            <a:ext cx="3017520" cy="320040"/>
          </a:xfrm>
          <a:prstGeom prst="rect">
            <a:avLst/>
          </a:prstGeom>
          <a:noFill/>
          <a:ln/>
        </p:spPr>
        <p:txBody>
          <a:bodyPr wrap="square" lIns="0" tIns="0" rIns="0" bIns="0" rtlCol="0" anchor="t"/>
          <a:lstStyle/>
          <a:p>
            <a:pPr marL="0" indent="0">
              <a:buNone/>
            </a:pPr>
            <a:r>
              <a:rPr lang="en-US" sz="1500" dirty="0">
                <a:solidFill>
                  <a:schemeClr val="tx1"/>
                </a:solidFill>
              </a:rPr>
              <a:t>2.78 M</a:t>
            </a:r>
            <a:endParaRPr lang="en-US" sz="1500" dirty="0"/>
          </a:p>
        </p:txBody>
      </p:sp>
      <p:sp>
        <p:nvSpPr>
          <p:cNvPr id="26" name="Text 22"/>
          <p:cNvSpPr txBox="1"/>
          <p:nvPr/>
        </p:nvSpPr>
        <p:spPr>
          <a:xfrm>
            <a:off x="4617720" y="3913632"/>
            <a:ext cx="2926080" cy="228600"/>
          </a:xfrm>
          <a:prstGeom prst="rect">
            <a:avLst/>
          </a:prstGeom>
          <a:noFill/>
          <a:ln/>
        </p:spPr>
        <p:txBody>
          <a:bodyPr wrap="square" lIns="0" tIns="0" rIns="0" bIns="0" rtlCol="0" anchor="t"/>
          <a:lstStyle/>
          <a:p>
            <a:pPr marL="0" indent="0">
              <a:buNone/>
            </a:pPr>
            <a:r>
              <a:rPr lang="en-US" sz="1100" dirty="0">
                <a:solidFill>
                  <a:schemeClr val="accent6"/>
                </a:solidFill>
              </a:rPr>
              <a:t>Input</a:t>
            </a:r>
            <a:endParaRPr lang="en-US" sz="1100" dirty="0"/>
          </a:p>
        </p:txBody>
      </p:sp>
      <p:sp>
        <p:nvSpPr>
          <p:cNvPr id="27" name="Text 23"/>
          <p:cNvSpPr txBox="1"/>
          <p:nvPr/>
        </p:nvSpPr>
        <p:spPr>
          <a:xfrm>
            <a:off x="4617720" y="4142232"/>
            <a:ext cx="3017520" cy="320040"/>
          </a:xfrm>
          <a:prstGeom prst="rect">
            <a:avLst/>
          </a:prstGeom>
          <a:noFill/>
          <a:ln/>
        </p:spPr>
        <p:txBody>
          <a:bodyPr wrap="square" lIns="0" tIns="0" rIns="0" bIns="0" rtlCol="0" anchor="t"/>
          <a:lstStyle/>
          <a:p>
            <a:pPr marL="0" indent="0">
              <a:buNone/>
            </a:pPr>
            <a:r>
              <a:rPr lang="en-US" sz="1500" dirty="0">
                <a:solidFill>
                  <a:schemeClr val="tx1"/>
                </a:solidFill>
              </a:rPr>
              <a:t>32 × 512 grey</a:t>
            </a:r>
            <a:endParaRPr lang="en-US" sz="1500" dirty="0"/>
          </a:p>
        </p:txBody>
      </p:sp>
      <p:sp>
        <p:nvSpPr>
          <p:cNvPr id="28" name="Text 24"/>
          <p:cNvSpPr txBox="1"/>
          <p:nvPr/>
        </p:nvSpPr>
        <p:spPr>
          <a:xfrm>
            <a:off x="4617720" y="4535424"/>
            <a:ext cx="2926080" cy="228600"/>
          </a:xfrm>
          <a:prstGeom prst="rect">
            <a:avLst/>
          </a:prstGeom>
          <a:noFill/>
          <a:ln/>
        </p:spPr>
        <p:txBody>
          <a:bodyPr wrap="square" lIns="0" tIns="0" rIns="0" bIns="0" rtlCol="0" anchor="t"/>
          <a:lstStyle/>
          <a:p>
            <a:pPr marL="0" indent="0">
              <a:buNone/>
            </a:pPr>
            <a:r>
              <a:rPr lang="en-US" sz="1100" dirty="0">
                <a:solidFill>
                  <a:schemeClr val="accent6"/>
                </a:solidFill>
              </a:rPr>
              <a:t>Training</a:t>
            </a:r>
            <a:endParaRPr lang="en-US" sz="1100" dirty="0"/>
          </a:p>
        </p:txBody>
      </p:sp>
      <p:sp>
        <p:nvSpPr>
          <p:cNvPr id="29" name="Text 25"/>
          <p:cNvSpPr txBox="1"/>
          <p:nvPr/>
        </p:nvSpPr>
        <p:spPr>
          <a:xfrm>
            <a:off x="4617720" y="4764024"/>
            <a:ext cx="3017520" cy="320040"/>
          </a:xfrm>
          <a:prstGeom prst="rect">
            <a:avLst/>
          </a:prstGeom>
          <a:noFill/>
          <a:ln/>
        </p:spPr>
        <p:txBody>
          <a:bodyPr wrap="square" lIns="0" tIns="0" rIns="0" bIns="0" rtlCol="0" anchor="t"/>
          <a:lstStyle/>
          <a:p>
            <a:pPr marL="0" indent="0">
              <a:buNone/>
            </a:pPr>
            <a:r>
              <a:rPr lang="en-US" sz="1500" dirty="0">
                <a:solidFill>
                  <a:schemeClr val="tx1"/>
                </a:solidFill>
              </a:rPr>
              <a:t>From scratch, 130 min on CPU</a:t>
            </a:r>
            <a:endParaRPr lang="en-US" sz="1500" dirty="0"/>
          </a:p>
        </p:txBody>
      </p:sp>
      <p:sp>
        <p:nvSpPr>
          <p:cNvPr id="30" name="Text 26"/>
          <p:cNvSpPr txBox="1"/>
          <p:nvPr/>
        </p:nvSpPr>
        <p:spPr>
          <a:xfrm>
            <a:off x="4617720" y="5157216"/>
            <a:ext cx="2926080" cy="228600"/>
          </a:xfrm>
          <a:prstGeom prst="rect">
            <a:avLst/>
          </a:prstGeom>
          <a:noFill/>
          <a:ln/>
        </p:spPr>
        <p:txBody>
          <a:bodyPr wrap="square" lIns="0" tIns="0" rIns="0" bIns="0" rtlCol="0" anchor="t"/>
          <a:lstStyle/>
          <a:p>
            <a:pPr marL="0" indent="0">
              <a:buNone/>
            </a:pPr>
            <a:r>
              <a:rPr lang="en-US" sz="1100" dirty="0">
                <a:solidFill>
                  <a:schemeClr val="accent6"/>
                </a:solidFill>
              </a:rPr>
              <a:t>Speed</a:t>
            </a:r>
            <a:endParaRPr lang="en-US" sz="1100" dirty="0"/>
          </a:p>
        </p:txBody>
      </p:sp>
      <p:sp>
        <p:nvSpPr>
          <p:cNvPr id="31" name="Text 27"/>
          <p:cNvSpPr txBox="1"/>
          <p:nvPr/>
        </p:nvSpPr>
        <p:spPr>
          <a:xfrm>
            <a:off x="4617720" y="5385816"/>
            <a:ext cx="3017520" cy="320040"/>
          </a:xfrm>
          <a:prstGeom prst="rect">
            <a:avLst/>
          </a:prstGeom>
          <a:noFill/>
          <a:ln/>
        </p:spPr>
        <p:txBody>
          <a:bodyPr wrap="square" lIns="0" tIns="0" rIns="0" bIns="0" rtlCol="0" anchor="t"/>
          <a:lstStyle/>
          <a:p>
            <a:pPr marL="0" indent="0">
              <a:buNone/>
            </a:pPr>
            <a:r>
              <a:rPr lang="en-US" sz="1500" dirty="0">
                <a:solidFill>
                  <a:schemeClr val="tx1"/>
                </a:solidFill>
              </a:rPr>
              <a:t>16 ms per line</a:t>
            </a:r>
            <a:endParaRPr lang="en-US" sz="1500" dirty="0"/>
          </a:p>
        </p:txBody>
      </p:sp>
      <p:sp>
        <p:nvSpPr>
          <p:cNvPr id="32" name="!!card-trocr"/>
          <p:cNvSpPr/>
          <p:nvPr/>
        </p:nvSpPr>
        <p:spPr>
          <a:xfrm>
            <a:off x="8138160" y="1463040"/>
            <a:ext cx="3520440" cy="4434840"/>
          </a:xfrm>
          <a:prstGeom prst="roundRect">
            <a:avLst>
              <a:gd name="adj" fmla="val 3117"/>
            </a:avLst>
          </a:prstGeom>
          <a:solidFill>
            <a:schemeClr val="bg2"/>
          </a:solidFill>
          <a:ln/>
        </p:spPr>
      </p:sp>
      <p:sp>
        <p:nvSpPr>
          <p:cNvPr id="33" name="Shape 29"/>
          <p:cNvSpPr/>
          <p:nvPr/>
        </p:nvSpPr>
        <p:spPr>
          <a:xfrm>
            <a:off x="8412480" y="1737360"/>
            <a:ext cx="603504" cy="603504"/>
          </a:xfrm>
          <a:prstGeom prst="ellipse">
            <a:avLst/>
          </a:prstGeom>
          <a:solidFill>
            <a:srgbClr val="F79009"/>
          </a:solidFill>
          <a:ln/>
        </p:spPr>
      </p:sp>
      <p:pic>
        <p:nvPicPr>
          <p:cNvPr id="34" name="Image 2" descr="preencoded.png"/>
          <p:cNvPicPr>
            <a:picLocks noChangeAspect="1"/>
          </p:cNvPicPr>
          <p:nvPr/>
        </p:nvPicPr>
        <p:blipFill>
          <a:blip r:embed="rId5"/>
          <a:stretch>
            <a:fillRect/>
          </a:stretch>
        </p:blipFill>
        <p:spPr>
          <a:xfrm>
            <a:off x="8557321" y="1882201"/>
            <a:ext cx="313822" cy="313822"/>
          </a:xfrm>
          <a:prstGeom prst="rect">
            <a:avLst/>
          </a:prstGeom>
        </p:spPr>
      </p:pic>
      <p:sp>
        <p:nvSpPr>
          <p:cNvPr id="35" name="Text 30"/>
          <p:cNvSpPr txBox="1"/>
          <p:nvPr/>
        </p:nvSpPr>
        <p:spPr>
          <a:xfrm>
            <a:off x="9189720" y="1783080"/>
            <a:ext cx="2286000" cy="274320"/>
          </a:xfrm>
          <a:prstGeom prst="rect">
            <a:avLst/>
          </a:prstGeom>
          <a:noFill/>
          <a:ln/>
        </p:spPr>
        <p:txBody>
          <a:bodyPr wrap="square" lIns="0" tIns="0" rIns="0" bIns="0" rtlCol="0" anchor="t"/>
          <a:lstStyle/>
          <a:p>
            <a:pPr marL="0" indent="0">
              <a:buNone/>
            </a:pPr>
            <a:r>
              <a:rPr lang="en-US" sz="1200" b="1" kern="0" spc="200" dirty="0">
                <a:solidFill>
                  <a:schemeClr val="accent6"/>
                </a:solidFill>
              </a:rPr>
              <a:t>ADVANCED</a:t>
            </a:r>
            <a:endParaRPr lang="en-US" sz="1200" dirty="0"/>
          </a:p>
        </p:txBody>
      </p:sp>
      <p:sp>
        <p:nvSpPr>
          <p:cNvPr id="36" name="Text 31"/>
          <p:cNvSpPr txBox="1"/>
          <p:nvPr/>
        </p:nvSpPr>
        <p:spPr>
          <a:xfrm>
            <a:off x="9189720" y="2029968"/>
            <a:ext cx="2377440" cy="384048"/>
          </a:xfrm>
          <a:prstGeom prst="rect">
            <a:avLst/>
          </a:prstGeom>
          <a:noFill/>
          <a:ln/>
        </p:spPr>
        <p:txBody>
          <a:bodyPr wrap="square" lIns="0" tIns="0" rIns="0" bIns="0" rtlCol="0" anchor="t"/>
          <a:lstStyle/>
          <a:p>
            <a:pPr marL="0" indent="0">
              <a:buNone/>
            </a:pPr>
            <a:r>
              <a:rPr lang="en-US" sz="2000" dirty="0">
                <a:solidFill>
                  <a:schemeClr val="tx1"/>
                </a:solidFill>
                <a:latin typeface="Segoe UI Semibold" pitchFamily="34" charset="0"/>
                <a:ea typeface="Segoe UI Semibold" pitchFamily="34" charset="-122"/>
                <a:cs typeface="Segoe UI Semibold" pitchFamily="34" charset="-120"/>
              </a:rPr>
              <a:t>TrOCR (fine‑tuned)</a:t>
            </a:r>
            <a:endParaRPr lang="en-US" sz="2000" dirty="0"/>
          </a:p>
        </p:txBody>
      </p:sp>
      <p:sp>
        <p:nvSpPr>
          <p:cNvPr id="37" name="Text 32"/>
          <p:cNvSpPr txBox="1"/>
          <p:nvPr/>
        </p:nvSpPr>
        <p:spPr>
          <a:xfrm>
            <a:off x="8412480" y="2560320"/>
            <a:ext cx="3017520" cy="594360"/>
          </a:xfrm>
          <a:prstGeom prst="rect">
            <a:avLst/>
          </a:prstGeom>
          <a:noFill/>
          <a:ln/>
        </p:spPr>
        <p:txBody>
          <a:bodyPr wrap="square" lIns="0" tIns="0" rIns="0" bIns="0" rtlCol="0" anchor="t"/>
          <a:lstStyle/>
          <a:p>
            <a:pPr marL="0" indent="0">
              <a:buNone/>
            </a:pPr>
            <a:r>
              <a:rPr lang="en-US" sz="1400" dirty="0">
                <a:solidFill>
                  <a:schemeClr val="tx1"/>
                </a:solidFill>
              </a:rPr>
              <a:t>Vision Transformer encoder + text decoder</a:t>
            </a:r>
            <a:endParaRPr lang="en-US" sz="1400" dirty="0"/>
          </a:p>
        </p:txBody>
      </p:sp>
      <p:sp>
        <p:nvSpPr>
          <p:cNvPr id="38" name="Text 33"/>
          <p:cNvSpPr txBox="1"/>
          <p:nvPr/>
        </p:nvSpPr>
        <p:spPr>
          <a:xfrm>
            <a:off x="8412480" y="3291840"/>
            <a:ext cx="2926080" cy="228600"/>
          </a:xfrm>
          <a:prstGeom prst="rect">
            <a:avLst/>
          </a:prstGeom>
          <a:noFill/>
          <a:ln/>
        </p:spPr>
        <p:txBody>
          <a:bodyPr wrap="square" lIns="0" tIns="0" rIns="0" bIns="0" rtlCol="0" anchor="t"/>
          <a:lstStyle/>
          <a:p>
            <a:pPr marL="0" indent="0">
              <a:buNone/>
            </a:pPr>
            <a:r>
              <a:rPr lang="en-US" sz="1100" dirty="0">
                <a:solidFill>
                  <a:schemeClr val="accent6"/>
                </a:solidFill>
              </a:rPr>
              <a:t>Parameters</a:t>
            </a:r>
            <a:endParaRPr lang="en-US" sz="1100" dirty="0"/>
          </a:p>
        </p:txBody>
      </p:sp>
      <p:sp>
        <p:nvSpPr>
          <p:cNvPr id="39" name="Text 34"/>
          <p:cNvSpPr txBox="1"/>
          <p:nvPr/>
        </p:nvSpPr>
        <p:spPr>
          <a:xfrm>
            <a:off x="8412480" y="3520440"/>
            <a:ext cx="3017520" cy="320040"/>
          </a:xfrm>
          <a:prstGeom prst="rect">
            <a:avLst/>
          </a:prstGeom>
          <a:noFill/>
          <a:ln/>
        </p:spPr>
        <p:txBody>
          <a:bodyPr wrap="square" lIns="0" tIns="0" rIns="0" bIns="0" rtlCol="0" anchor="t"/>
          <a:lstStyle/>
          <a:p>
            <a:pPr marL="0" indent="0">
              <a:buNone/>
            </a:pPr>
            <a:r>
              <a:rPr lang="en-US" sz="1500" dirty="0">
                <a:solidFill>
                  <a:schemeClr val="tx1"/>
                </a:solidFill>
              </a:rPr>
              <a:t>61.6 M</a:t>
            </a:r>
            <a:endParaRPr lang="en-US" sz="1500" dirty="0"/>
          </a:p>
        </p:txBody>
      </p:sp>
      <p:sp>
        <p:nvSpPr>
          <p:cNvPr id="40" name="Text 35"/>
          <p:cNvSpPr txBox="1"/>
          <p:nvPr/>
        </p:nvSpPr>
        <p:spPr>
          <a:xfrm>
            <a:off x="8412480" y="3913632"/>
            <a:ext cx="2926080" cy="228600"/>
          </a:xfrm>
          <a:prstGeom prst="rect">
            <a:avLst/>
          </a:prstGeom>
          <a:noFill/>
          <a:ln/>
        </p:spPr>
        <p:txBody>
          <a:bodyPr wrap="square" lIns="0" tIns="0" rIns="0" bIns="0" rtlCol="0" anchor="t"/>
          <a:lstStyle/>
          <a:p>
            <a:pPr marL="0" indent="0">
              <a:buNone/>
            </a:pPr>
            <a:r>
              <a:rPr lang="en-US" sz="1100" dirty="0">
                <a:solidFill>
                  <a:schemeClr val="accent6"/>
                </a:solidFill>
              </a:rPr>
              <a:t>Input</a:t>
            </a:r>
            <a:endParaRPr lang="en-US" sz="1100" dirty="0"/>
          </a:p>
        </p:txBody>
      </p:sp>
      <p:sp>
        <p:nvSpPr>
          <p:cNvPr id="41" name="Text 36"/>
          <p:cNvSpPr txBox="1"/>
          <p:nvPr/>
        </p:nvSpPr>
        <p:spPr>
          <a:xfrm>
            <a:off x="8412480" y="4142232"/>
            <a:ext cx="3017520" cy="320040"/>
          </a:xfrm>
          <a:prstGeom prst="rect">
            <a:avLst/>
          </a:prstGeom>
          <a:noFill/>
          <a:ln/>
        </p:spPr>
        <p:txBody>
          <a:bodyPr wrap="square" lIns="0" tIns="0" rIns="0" bIns="0" rtlCol="0" anchor="t"/>
          <a:lstStyle/>
          <a:p>
            <a:pPr marL="0" indent="0">
              <a:buNone/>
            </a:pPr>
            <a:r>
              <a:rPr lang="en-US" sz="1500" dirty="0">
                <a:solidFill>
                  <a:schemeClr val="tx1"/>
                </a:solidFill>
              </a:rPr>
              <a:t>384 × 384 RGB</a:t>
            </a:r>
            <a:endParaRPr lang="en-US" sz="1500" dirty="0"/>
          </a:p>
        </p:txBody>
      </p:sp>
      <p:sp>
        <p:nvSpPr>
          <p:cNvPr id="42" name="Text 37"/>
          <p:cNvSpPr txBox="1"/>
          <p:nvPr/>
        </p:nvSpPr>
        <p:spPr>
          <a:xfrm>
            <a:off x="8412480" y="4535424"/>
            <a:ext cx="2926080" cy="228600"/>
          </a:xfrm>
          <a:prstGeom prst="rect">
            <a:avLst/>
          </a:prstGeom>
          <a:noFill/>
          <a:ln/>
        </p:spPr>
        <p:txBody>
          <a:bodyPr wrap="square" lIns="0" tIns="0" rIns="0" bIns="0" rtlCol="0" anchor="t"/>
          <a:lstStyle/>
          <a:p>
            <a:pPr marL="0" indent="0">
              <a:buNone/>
            </a:pPr>
            <a:r>
              <a:rPr lang="en-US" sz="1100" dirty="0">
                <a:solidFill>
                  <a:schemeClr val="accent6"/>
                </a:solidFill>
              </a:rPr>
              <a:t>Training</a:t>
            </a:r>
            <a:endParaRPr lang="en-US" sz="1100" dirty="0"/>
          </a:p>
        </p:txBody>
      </p:sp>
      <p:sp>
        <p:nvSpPr>
          <p:cNvPr id="43" name="Text 38"/>
          <p:cNvSpPr txBox="1"/>
          <p:nvPr/>
        </p:nvSpPr>
        <p:spPr>
          <a:xfrm>
            <a:off x="8412480" y="4764024"/>
            <a:ext cx="3017520" cy="320040"/>
          </a:xfrm>
          <a:prstGeom prst="rect">
            <a:avLst/>
          </a:prstGeom>
          <a:noFill/>
          <a:ln/>
        </p:spPr>
        <p:txBody>
          <a:bodyPr wrap="square" lIns="0" tIns="0" rIns="0" bIns="0" rtlCol="0" anchor="t"/>
          <a:lstStyle/>
          <a:p>
            <a:pPr marL="0" indent="0">
              <a:buNone/>
            </a:pPr>
            <a:r>
              <a:rPr lang="en-US" sz="1500" dirty="0">
                <a:solidFill>
                  <a:schemeClr val="tx1"/>
                </a:solidFill>
              </a:rPr>
              <a:t>Pretrained, fine‑tuned 44 min</a:t>
            </a:r>
            <a:endParaRPr lang="en-US" sz="1500" dirty="0"/>
          </a:p>
        </p:txBody>
      </p:sp>
      <p:sp>
        <p:nvSpPr>
          <p:cNvPr id="44" name="Text 39"/>
          <p:cNvSpPr txBox="1"/>
          <p:nvPr/>
        </p:nvSpPr>
        <p:spPr>
          <a:xfrm>
            <a:off x="8412480" y="5157216"/>
            <a:ext cx="2926080" cy="228600"/>
          </a:xfrm>
          <a:prstGeom prst="rect">
            <a:avLst/>
          </a:prstGeom>
          <a:noFill/>
          <a:ln/>
        </p:spPr>
        <p:txBody>
          <a:bodyPr wrap="square" lIns="0" tIns="0" rIns="0" bIns="0" rtlCol="0" anchor="t"/>
          <a:lstStyle/>
          <a:p>
            <a:pPr marL="0" indent="0">
              <a:buNone/>
            </a:pPr>
            <a:r>
              <a:rPr lang="en-US" sz="1100" dirty="0">
                <a:solidFill>
                  <a:schemeClr val="accent6"/>
                </a:solidFill>
              </a:rPr>
              <a:t>Speed</a:t>
            </a:r>
            <a:endParaRPr lang="en-US" sz="1100" dirty="0"/>
          </a:p>
        </p:txBody>
      </p:sp>
      <p:sp>
        <p:nvSpPr>
          <p:cNvPr id="45" name="Text 40"/>
          <p:cNvSpPr txBox="1"/>
          <p:nvPr/>
        </p:nvSpPr>
        <p:spPr>
          <a:xfrm>
            <a:off x="8412480" y="5385816"/>
            <a:ext cx="3017520" cy="320040"/>
          </a:xfrm>
          <a:prstGeom prst="rect">
            <a:avLst/>
          </a:prstGeom>
          <a:noFill/>
          <a:ln/>
        </p:spPr>
        <p:txBody>
          <a:bodyPr wrap="square" lIns="0" tIns="0" rIns="0" bIns="0" rtlCol="0" anchor="t"/>
          <a:lstStyle/>
          <a:p>
            <a:pPr marL="0" indent="0">
              <a:buNone/>
            </a:pPr>
            <a:r>
              <a:rPr lang="en-US" sz="1500" dirty="0">
                <a:solidFill>
                  <a:schemeClr val="tx1"/>
                </a:solidFill>
              </a:rPr>
              <a:t>415 ms per line</a:t>
            </a:r>
            <a:endParaRPr lang="en-US" sz="1500" dirty="0"/>
          </a:p>
        </p:txBody>
      </p:sp>
      <p:sp>
        <p:nvSpPr>
          <p:cNvPr id="46" name="Text 41"/>
          <p:cNvSpPr txBox="1"/>
          <p:nvPr/>
        </p:nvSpPr>
        <p:spPr>
          <a:xfrm>
            <a:off x="548640" y="5961888"/>
            <a:ext cx="11064240" cy="292608"/>
          </a:xfrm>
          <a:prstGeom prst="rect">
            <a:avLst/>
          </a:prstGeom>
          <a:noFill/>
          <a:ln/>
        </p:spPr>
        <p:txBody>
          <a:bodyPr wrap="square" lIns="0" tIns="0" rIns="0" bIns="0" rtlCol="0" anchor="t"/>
          <a:lstStyle/>
          <a:p>
            <a:pPr marL="0" indent="0">
              <a:buNone/>
            </a:pPr>
            <a:r>
              <a:rPr lang="en-US" sz="1200" dirty="0">
                <a:solidFill>
                  <a:schemeClr val="accent6"/>
                </a:solidFill>
              </a:rPr>
              <a:t>Also compared: PaddleOCR (industrial PP-OCR) as a reference, and the Consensus vote of all five</a:t>
            </a:r>
            <a:endParaRPr lang="en-US" sz="1200" dirty="0"/>
          </a:p>
        </p:txBody>
      </p:sp>
      <p:sp>
        <p:nvSpPr>
          <p:cNvPr id="47"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ens"/>
          <p:cNvSpPr/>
          <p:nvPr/>
        </p:nvSpPr>
        <p:spPr>
          <a:xfrm>
            <a:off x="10515600" y="-1737360"/>
            <a:ext cx="2926080" cy="292608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Training and fine-tuning on a laptop CPU</a:t>
            </a:r>
            <a:endParaRPr lang="en-US" sz="3000" dirty="0"/>
          </a:p>
        </p:txBody>
      </p:sp>
      <p:sp>
        <p:nvSpPr>
          <p:cNvPr id="4" name="!!card-cnn"/>
          <p:cNvSpPr/>
          <p:nvPr/>
        </p:nvSpPr>
        <p:spPr>
          <a:xfrm>
            <a:off x="548640" y="1325880"/>
            <a:ext cx="2788920" cy="502920"/>
          </a:xfrm>
          <a:prstGeom prst="roundRect">
            <a:avLst>
              <a:gd name="adj" fmla="val 21818"/>
            </a:avLst>
          </a:prstGeom>
          <a:solidFill>
            <a:schemeClr val="bg2"/>
          </a:solidFill>
          <a:ln/>
        </p:spPr>
      </p:sp>
      <p:sp>
        <p:nvSpPr>
          <p:cNvPr id="5" name="Text 3"/>
          <p:cNvSpPr txBox="1"/>
          <p:nvPr/>
        </p:nvSpPr>
        <p:spPr>
          <a:xfrm>
            <a:off x="548640" y="1325880"/>
            <a:ext cx="2788920" cy="502920"/>
          </a:xfrm>
          <a:prstGeom prst="rect">
            <a:avLst/>
          </a:prstGeom>
          <a:noFill/>
          <a:ln/>
        </p:spPr>
        <p:txBody>
          <a:bodyPr wrap="square" lIns="0" tIns="0" rIns="0" bIns="0" rtlCol="0" anchor="ctr"/>
          <a:lstStyle/>
          <a:p>
            <a:pPr marL="0" indent="0" algn="ctr">
              <a:buNone/>
            </a:pPr>
            <a:r>
              <a:rPr lang="en-US" sz="1300" dirty="0">
                <a:solidFill>
                  <a:schemeClr val="tx1"/>
                </a:solidFill>
              </a:rPr>
              <a:t>CNN‑BiLSTM · best val CER 11.8%</a:t>
            </a:r>
            <a:endParaRPr lang="en-US" sz="1300" dirty="0"/>
          </a:p>
        </p:txBody>
      </p:sp>
      <p:sp>
        <p:nvSpPr>
          <p:cNvPr id="6" name="!!card-crnn"/>
          <p:cNvSpPr/>
          <p:nvPr/>
        </p:nvSpPr>
        <p:spPr>
          <a:xfrm>
            <a:off x="3520440" y="1325880"/>
            <a:ext cx="2788920" cy="502920"/>
          </a:xfrm>
          <a:prstGeom prst="roundRect">
            <a:avLst>
              <a:gd name="adj" fmla="val 21818"/>
            </a:avLst>
          </a:prstGeom>
          <a:solidFill>
            <a:schemeClr val="bg2"/>
          </a:solidFill>
          <a:ln/>
        </p:spPr>
      </p:sp>
      <p:sp>
        <p:nvSpPr>
          <p:cNvPr id="7" name="Text 5"/>
          <p:cNvSpPr txBox="1"/>
          <p:nvPr/>
        </p:nvSpPr>
        <p:spPr>
          <a:xfrm>
            <a:off x="3520440" y="1325880"/>
            <a:ext cx="2788920" cy="502920"/>
          </a:xfrm>
          <a:prstGeom prst="rect">
            <a:avLst/>
          </a:prstGeom>
          <a:noFill/>
          <a:ln/>
        </p:spPr>
        <p:txBody>
          <a:bodyPr wrap="square" lIns="0" tIns="0" rIns="0" bIns="0" rtlCol="0" anchor="ctr"/>
          <a:lstStyle/>
          <a:p>
            <a:pPr marL="0" indent="0" algn="ctr">
              <a:buNone/>
            </a:pPr>
            <a:r>
              <a:rPr lang="en-US" sz="1300" dirty="0">
                <a:solidFill>
                  <a:schemeClr val="tx1"/>
                </a:solidFill>
              </a:rPr>
              <a:t>CRNN · best val CER 12.2%</a:t>
            </a:r>
            <a:endParaRPr lang="en-US" sz="1300" dirty="0"/>
          </a:p>
        </p:txBody>
      </p:sp>
      <p:sp>
        <p:nvSpPr>
          <p:cNvPr id="8" name="!!card-trocr"/>
          <p:cNvSpPr/>
          <p:nvPr/>
        </p:nvSpPr>
        <p:spPr>
          <a:xfrm>
            <a:off x="6766560" y="1325880"/>
            <a:ext cx="4846320" cy="502920"/>
          </a:xfrm>
          <a:prstGeom prst="roundRect">
            <a:avLst>
              <a:gd name="adj" fmla="val 21818"/>
            </a:avLst>
          </a:prstGeom>
          <a:solidFill>
            <a:schemeClr val="bg2"/>
          </a:solidFill>
          <a:ln/>
        </p:spPr>
      </p:sp>
      <p:sp>
        <p:nvSpPr>
          <p:cNvPr id="9" name="Text 7"/>
          <p:cNvSpPr txBox="1"/>
          <p:nvPr/>
        </p:nvSpPr>
        <p:spPr>
          <a:xfrm>
            <a:off x="6766560" y="1325880"/>
            <a:ext cx="4846320" cy="502920"/>
          </a:xfrm>
          <a:prstGeom prst="rect">
            <a:avLst/>
          </a:prstGeom>
          <a:noFill/>
          <a:ln/>
        </p:spPr>
        <p:txBody>
          <a:bodyPr wrap="square" lIns="0" tIns="0" rIns="0" bIns="0" rtlCol="0" anchor="ctr"/>
          <a:lstStyle/>
          <a:p>
            <a:pPr marL="0" indent="0" algn="ctr">
              <a:buNone/>
            </a:pPr>
            <a:r>
              <a:rPr lang="en-US" sz="1300" dirty="0">
                <a:solidFill>
                  <a:schemeClr val="tx1"/>
                </a:solidFill>
              </a:rPr>
              <a:t>TrOCR fine‑tuning · 300 steps · 44 min</a:t>
            </a:r>
            <a:endParaRPr lang="en-US" sz="1300" dirty="0"/>
          </a:p>
        </p:txBody>
      </p:sp>
      <p:graphicFrame>
        <p:nvGraphicFramePr>
          <p:cNvPr id="10" name="Chart 0"/>
          <p:cNvGraphicFramePr/>
          <p:nvPr/>
        </p:nvGraphicFramePr>
        <p:xfrm>
          <a:off x="548640" y="2011680"/>
          <a:ext cx="5760720" cy="3977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
          <p:cNvGraphicFramePr/>
          <p:nvPr/>
        </p:nvGraphicFramePr>
        <p:xfrm>
          <a:off x="6766560" y="2011680"/>
          <a:ext cx="4846320" cy="269748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 8"/>
          <p:cNvSpPr txBox="1"/>
          <p:nvPr/>
        </p:nvSpPr>
        <p:spPr>
          <a:xfrm>
            <a:off x="6766560" y="4846320"/>
            <a:ext cx="4846320" cy="548640"/>
          </a:xfrm>
          <a:prstGeom prst="rect">
            <a:avLst/>
          </a:prstGeom>
          <a:noFill/>
          <a:ln/>
        </p:spPr>
        <p:txBody>
          <a:bodyPr wrap="square" lIns="0" tIns="0" rIns="0" bIns="0" rtlCol="0" anchor="t"/>
          <a:lstStyle/>
          <a:p>
            <a:pPr marL="0" indent="0">
              <a:buNone/>
            </a:pPr>
            <a:r>
              <a:rPr lang="en-US" sz="2800" b="1" dirty="0">
                <a:solidFill>
                  <a:schemeClr val="accent2"/>
                </a:solidFill>
                <a:latin typeface="Segoe UI Semibold" pitchFamily="34" charset="0"/>
                <a:ea typeface="Segoe UI Semibold" pitchFamily="34" charset="-122"/>
                <a:cs typeface="Segoe UI Semibold" pitchFamily="34" charset="-120"/>
              </a:rPr>
              <a:t>20.37% → 2.59%</a:t>
            </a:r>
            <a:endParaRPr lang="en-US" sz="2800" dirty="0"/>
          </a:p>
        </p:txBody>
      </p:sp>
      <p:sp>
        <p:nvSpPr>
          <p:cNvPr id="13" name="Text 9"/>
          <p:cNvSpPr txBox="1"/>
          <p:nvPr/>
        </p:nvSpPr>
        <p:spPr>
          <a:xfrm>
            <a:off x="6766560" y="5394960"/>
            <a:ext cx="4846320" cy="548640"/>
          </a:xfrm>
          <a:prstGeom prst="rect">
            <a:avLst/>
          </a:prstGeom>
          <a:noFill/>
          <a:ln/>
        </p:spPr>
        <p:txBody>
          <a:bodyPr wrap="square" lIns="0" tIns="0" rIns="0" bIns="0" rtlCol="0" anchor="t"/>
          <a:lstStyle/>
          <a:p>
            <a:pPr marL="0" indent="0">
              <a:buNone/>
            </a:pPr>
            <a:r>
              <a:rPr lang="en-US" sz="1300" dirty="0">
                <a:solidFill>
                  <a:schemeClr val="accent6"/>
                </a:solidFill>
              </a:rPr>
              <a:t>printed-text test CER, before → after fine‑tuning</a:t>
            </a:r>
            <a:endParaRPr lang="en-US" sz="1300" dirty="0"/>
          </a:p>
          <a:p>
            <a:pPr marL="0" indent="0">
              <a:buNone/>
            </a:pPr>
            <a:r>
              <a:rPr lang="en-US" sz="1300" dirty="0">
                <a:solidFill>
                  <a:schemeClr val="accent6"/>
                </a:solidFill>
              </a:rPr>
              <a:t>handwriting unchanged: 6.97% → 6.73%</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ens"/>
          <p:cNvSpPr/>
          <p:nvPr/>
        </p:nvSpPr>
        <p:spPr>
          <a:xfrm>
            <a:off x="10332720" y="-1828800"/>
            <a:ext cx="3108960" cy="3108960"/>
          </a:xfrm>
          <a:prstGeom prst="ellipse">
            <a:avLst/>
          </a:prstGeom>
          <a:solidFill>
            <a:schemeClr val="accent1">
              <a:alpha val="7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bg1"/>
                </a:solidFill>
              </a:rPr>
              <a:t>Key idea: let five models vote on every word</a:t>
            </a:r>
            <a:endParaRPr lang="en-US" sz="3000" dirty="0"/>
          </a:p>
        </p:txBody>
      </p:sp>
      <p:sp>
        <p:nvSpPr>
          <p:cNvPr id="4" name="Shape 2"/>
          <p:cNvSpPr/>
          <p:nvPr/>
        </p:nvSpPr>
        <p:spPr>
          <a:xfrm>
            <a:off x="640080" y="1600200"/>
            <a:ext cx="548640" cy="548640"/>
          </a:xfrm>
          <a:prstGeom prst="ellipse">
            <a:avLst/>
          </a:prstGeom>
          <a:solidFill>
            <a:schemeClr val="accent1"/>
          </a:solidFill>
          <a:ln/>
        </p:spPr>
      </p:sp>
      <p:sp>
        <p:nvSpPr>
          <p:cNvPr id="5" name="Text 3"/>
          <p:cNvSpPr txBox="1"/>
          <p:nvPr/>
        </p:nvSpPr>
        <p:spPr>
          <a:xfrm>
            <a:off x="640080" y="160020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417320" y="1554480"/>
            <a:ext cx="4206240" cy="685800"/>
          </a:xfrm>
          <a:prstGeom prst="rect">
            <a:avLst/>
          </a:prstGeom>
          <a:noFill/>
          <a:ln/>
        </p:spPr>
        <p:txBody>
          <a:bodyPr wrap="square" lIns="0" tIns="0" rIns="0" bIns="0" rtlCol="0" anchor="ctr"/>
          <a:lstStyle/>
          <a:p>
            <a:pPr marL="0" indent="0">
              <a:buNone/>
            </a:pPr>
            <a:r>
              <a:rPr lang="en-US" sz="1800" dirty="0">
                <a:solidFill>
                  <a:schemeClr val="bg1"/>
                </a:solidFill>
              </a:rPr>
              <a:t>Every model reads each text line</a:t>
            </a:r>
            <a:endParaRPr lang="en-US" sz="1800" dirty="0"/>
          </a:p>
        </p:txBody>
      </p:sp>
      <p:sp>
        <p:nvSpPr>
          <p:cNvPr id="7" name="Shape 5"/>
          <p:cNvSpPr/>
          <p:nvPr/>
        </p:nvSpPr>
        <p:spPr>
          <a:xfrm>
            <a:off x="640080" y="2560320"/>
            <a:ext cx="548640" cy="548640"/>
          </a:xfrm>
          <a:prstGeom prst="ellipse">
            <a:avLst/>
          </a:prstGeom>
          <a:solidFill>
            <a:schemeClr val="accent1"/>
          </a:solidFill>
          <a:ln/>
        </p:spPr>
      </p:sp>
      <p:sp>
        <p:nvSpPr>
          <p:cNvPr id="8" name="Text 6"/>
          <p:cNvSpPr txBox="1"/>
          <p:nvPr/>
        </p:nvSpPr>
        <p:spPr>
          <a:xfrm>
            <a:off x="640080" y="25603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Text 7"/>
          <p:cNvSpPr txBox="1"/>
          <p:nvPr/>
        </p:nvSpPr>
        <p:spPr>
          <a:xfrm>
            <a:off x="1417320" y="2514600"/>
            <a:ext cx="4206240" cy="685800"/>
          </a:xfrm>
          <a:prstGeom prst="rect">
            <a:avLst/>
          </a:prstGeom>
          <a:noFill/>
          <a:ln/>
        </p:spPr>
        <p:txBody>
          <a:bodyPr wrap="square" lIns="0" tIns="0" rIns="0" bIns="0" rtlCol="0" anchor="ctr"/>
          <a:lstStyle/>
          <a:p>
            <a:pPr marL="0" indent="0">
              <a:buNone/>
            </a:pPr>
            <a:r>
              <a:rPr lang="en-US" sz="1800" dirty="0">
                <a:solidFill>
                  <a:schemeClr val="bg1"/>
                </a:solidFill>
              </a:rPr>
              <a:t>The readings are aligned word by word</a:t>
            </a:r>
            <a:endParaRPr lang="en-US" sz="1800" dirty="0"/>
          </a:p>
        </p:txBody>
      </p:sp>
      <p:sp>
        <p:nvSpPr>
          <p:cNvPr id="10" name="Shape 8"/>
          <p:cNvSpPr/>
          <p:nvPr/>
        </p:nvSpPr>
        <p:spPr>
          <a:xfrm>
            <a:off x="640080" y="3520440"/>
            <a:ext cx="548640" cy="548640"/>
          </a:xfrm>
          <a:prstGeom prst="ellipse">
            <a:avLst/>
          </a:prstGeom>
          <a:solidFill>
            <a:schemeClr val="accent1"/>
          </a:solidFill>
          <a:ln/>
        </p:spPr>
      </p:sp>
      <p:sp>
        <p:nvSpPr>
          <p:cNvPr id="11" name="Text 9"/>
          <p:cNvSpPr txBox="1"/>
          <p:nvPr/>
        </p:nvSpPr>
        <p:spPr>
          <a:xfrm>
            <a:off x="640080" y="352044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2" name="Text 10"/>
          <p:cNvSpPr txBox="1"/>
          <p:nvPr/>
        </p:nvSpPr>
        <p:spPr>
          <a:xfrm>
            <a:off x="1417320" y="3474720"/>
            <a:ext cx="4206240" cy="685800"/>
          </a:xfrm>
          <a:prstGeom prst="rect">
            <a:avLst/>
          </a:prstGeom>
          <a:noFill/>
          <a:ln/>
        </p:spPr>
        <p:txBody>
          <a:bodyPr wrap="square" lIns="0" tIns="0" rIns="0" bIns="0" rtlCol="0" anchor="ctr"/>
          <a:lstStyle/>
          <a:p>
            <a:pPr marL="0" indent="0">
              <a:buNone/>
            </a:pPr>
            <a:r>
              <a:rPr lang="en-US" sz="1800" dirty="0">
                <a:solidFill>
                  <a:schemeClr val="bg1"/>
                </a:solidFill>
              </a:rPr>
              <a:t>Each word is decided by a weighted vote: model weight × confidence</a:t>
            </a:r>
            <a:endParaRPr lang="en-US" sz="1800" dirty="0"/>
          </a:p>
        </p:txBody>
      </p:sp>
      <p:sp>
        <p:nvSpPr>
          <p:cNvPr id="13" name="Shape 11"/>
          <p:cNvSpPr/>
          <p:nvPr/>
        </p:nvSpPr>
        <p:spPr>
          <a:xfrm>
            <a:off x="640080" y="4526280"/>
            <a:ext cx="4983480" cy="1417320"/>
          </a:xfrm>
          <a:prstGeom prst="roundRect">
            <a:avLst>
              <a:gd name="adj" fmla="val 7742"/>
            </a:avLst>
          </a:prstGeom>
          <a:solidFill>
            <a:schemeClr val="bg1">
              <a:alpha val="10000"/>
            </a:schemeClr>
          </a:solidFill>
          <a:ln/>
        </p:spPr>
      </p:sp>
      <p:sp>
        <p:nvSpPr>
          <p:cNvPr id="14" name="Shape 12"/>
          <p:cNvSpPr/>
          <p:nvPr/>
        </p:nvSpPr>
        <p:spPr>
          <a:xfrm>
            <a:off x="868680" y="4754880"/>
            <a:ext cx="548640" cy="548640"/>
          </a:xfrm>
          <a:prstGeom prst="ellipse">
            <a:avLst/>
          </a:prstGeom>
          <a:solidFill>
            <a:schemeClr val="accent2"/>
          </a:solidFill>
          <a:ln/>
        </p:spPr>
      </p:sp>
      <p:pic>
        <p:nvPicPr>
          <p:cNvPr id="15" name="Image 0" descr="preencoded.png"/>
          <p:cNvPicPr>
            <a:picLocks noChangeAspect="1"/>
          </p:cNvPicPr>
          <p:nvPr/>
        </p:nvPicPr>
        <p:blipFill>
          <a:blip r:embed="rId3"/>
          <a:stretch>
            <a:fillRect/>
          </a:stretch>
        </p:blipFill>
        <p:spPr>
          <a:xfrm>
            <a:off x="1000354" y="4886554"/>
            <a:ext cx="285293" cy="285293"/>
          </a:xfrm>
          <a:prstGeom prst="rect">
            <a:avLst/>
          </a:prstGeom>
        </p:spPr>
      </p:pic>
      <p:sp>
        <p:nvSpPr>
          <p:cNvPr id="16" name="Text 13"/>
          <p:cNvSpPr txBox="1"/>
          <p:nvPr/>
        </p:nvSpPr>
        <p:spPr>
          <a:xfrm>
            <a:off x="1600200" y="4663440"/>
            <a:ext cx="3886200" cy="1143000"/>
          </a:xfrm>
          <a:prstGeom prst="rect">
            <a:avLst/>
          </a:prstGeom>
          <a:noFill/>
          <a:ln/>
        </p:spPr>
        <p:txBody>
          <a:bodyPr wrap="square" lIns="0" tIns="0" rIns="0" bIns="0" rtlCol="0" anchor="ctr"/>
          <a:lstStyle/>
          <a:p>
            <a:pPr marL="0" indent="0">
              <a:buNone/>
            </a:pPr>
            <a:r>
              <a:rPr lang="en-US" sz="1500" b="1" dirty="0">
                <a:solidFill>
                  <a:schemeClr val="bg1"/>
                </a:solidFill>
              </a:rPr>
              <a:t>Words without a majority are flagged</a:t>
            </a:r>
            <a:endParaRPr lang="en-US" sz="1500" dirty="0"/>
          </a:p>
          <a:p>
            <a:pPr marL="0" indent="0">
              <a:buNone/>
            </a:pPr>
            <a:r>
              <a:rPr lang="en-US" sz="1500" dirty="0">
                <a:solidFill>
                  <a:srgbClr val="C7D2FE"/>
                </a:solidFill>
              </a:rPr>
              <a:t>so the reviewer checks only the uncertain ones</a:t>
            </a:r>
            <a:endParaRPr lang="en-US" sz="1500" dirty="0"/>
          </a:p>
        </p:txBody>
      </p:sp>
      <p:sp>
        <p:nvSpPr>
          <p:cNvPr id="17" name="!!panel"/>
          <p:cNvSpPr/>
          <p:nvPr/>
        </p:nvSpPr>
        <p:spPr>
          <a:xfrm>
            <a:off x="6172200" y="1463040"/>
            <a:ext cx="5440680" cy="4480560"/>
          </a:xfrm>
          <a:prstGeom prst="roundRect">
            <a:avLst>
              <a:gd name="adj" fmla="val 2449"/>
            </a:avLst>
          </a:prstGeom>
          <a:solidFill>
            <a:schemeClr val="bg1"/>
          </a:solidFill>
          <a:ln/>
        </p:spPr>
      </p:sp>
      <p:sp>
        <p:nvSpPr>
          <p:cNvPr id="18" name="Text 15"/>
          <p:cNvSpPr txBox="1"/>
          <p:nvPr/>
        </p:nvSpPr>
        <p:spPr>
          <a:xfrm>
            <a:off x="6446520" y="1645920"/>
            <a:ext cx="4937760" cy="320040"/>
          </a:xfrm>
          <a:prstGeom prst="rect">
            <a:avLst/>
          </a:prstGeom>
          <a:noFill/>
          <a:ln/>
        </p:spPr>
        <p:txBody>
          <a:bodyPr wrap="square" lIns="0" tIns="0" rIns="0" bIns="0" rtlCol="0" anchor="t"/>
          <a:lstStyle/>
          <a:p>
            <a:pPr marL="0" indent="0">
              <a:buNone/>
            </a:pPr>
            <a:r>
              <a:rPr lang="en-US" sz="1400" dirty="0">
                <a:solidFill>
                  <a:schemeClr val="accent6"/>
                </a:solidFill>
              </a:rPr>
              <a:t>Real example from the test page: “Tin ___ Alley”</a:t>
            </a:r>
            <a:endParaRPr lang="en-US" sz="1400" dirty="0"/>
          </a:p>
        </p:txBody>
      </p:sp>
      <p:sp>
        <p:nvSpPr>
          <p:cNvPr id="19" name="Shape 16"/>
          <p:cNvSpPr/>
          <p:nvPr/>
        </p:nvSpPr>
        <p:spPr>
          <a:xfrm>
            <a:off x="6446520" y="2194560"/>
            <a:ext cx="155448" cy="155448"/>
          </a:xfrm>
          <a:prstGeom prst="ellipse">
            <a:avLst/>
          </a:prstGeom>
          <a:solidFill>
            <a:srgbClr val="F79009"/>
          </a:solidFill>
          <a:ln/>
        </p:spPr>
      </p:sp>
      <p:sp>
        <p:nvSpPr>
          <p:cNvPr id="20" name="Text 17"/>
          <p:cNvSpPr txBox="1"/>
          <p:nvPr/>
        </p:nvSpPr>
        <p:spPr>
          <a:xfrm>
            <a:off x="6720840" y="2103120"/>
            <a:ext cx="3108960" cy="347472"/>
          </a:xfrm>
          <a:prstGeom prst="rect">
            <a:avLst/>
          </a:prstGeom>
          <a:noFill/>
          <a:ln/>
        </p:spPr>
        <p:txBody>
          <a:bodyPr wrap="square" lIns="0" tIns="0" rIns="0" bIns="0" rtlCol="0" anchor="ctr"/>
          <a:lstStyle/>
          <a:p>
            <a:pPr marL="0" indent="0">
              <a:buNone/>
            </a:pPr>
            <a:r>
              <a:rPr lang="en-US" sz="1400" dirty="0">
                <a:solidFill>
                  <a:schemeClr val="tx1"/>
                </a:solidFill>
              </a:rPr>
              <a:t>TrOCR (fine‑tuned)  (weight 3)</a:t>
            </a:r>
            <a:endParaRPr lang="en-US" sz="1400" dirty="0"/>
          </a:p>
        </p:txBody>
      </p:sp>
      <p:sp>
        <p:nvSpPr>
          <p:cNvPr id="21" name="Text 18"/>
          <p:cNvSpPr txBox="1"/>
          <p:nvPr/>
        </p:nvSpPr>
        <p:spPr>
          <a:xfrm>
            <a:off x="9966960" y="2103120"/>
            <a:ext cx="1371600" cy="347472"/>
          </a:xfrm>
          <a:prstGeom prst="rect">
            <a:avLst/>
          </a:prstGeom>
          <a:noFill/>
          <a:ln/>
        </p:spPr>
        <p:txBody>
          <a:bodyPr wrap="square" lIns="0" tIns="0" rIns="0" bIns="0" rtlCol="0" anchor="ctr"/>
          <a:lstStyle/>
          <a:p>
            <a:pPr marL="0" indent="0">
              <a:buNone/>
            </a:pPr>
            <a:r>
              <a:rPr lang="en-US" sz="1700" b="1" dirty="0">
                <a:solidFill>
                  <a:srgbClr val="D92D20"/>
                </a:solidFill>
              </a:rPr>
              <a:t>fan</a:t>
            </a:r>
            <a:endParaRPr lang="en-US" sz="1700" dirty="0"/>
          </a:p>
        </p:txBody>
      </p:sp>
      <p:sp>
        <p:nvSpPr>
          <p:cNvPr id="22" name="Shape 19"/>
          <p:cNvSpPr/>
          <p:nvPr/>
        </p:nvSpPr>
        <p:spPr>
          <a:xfrm>
            <a:off x="6446520" y="2624328"/>
            <a:ext cx="155448" cy="155448"/>
          </a:xfrm>
          <a:prstGeom prst="ellipse">
            <a:avLst/>
          </a:prstGeom>
          <a:solidFill>
            <a:srgbClr val="7A5AF8"/>
          </a:solidFill>
          <a:ln/>
        </p:spPr>
      </p:sp>
      <p:sp>
        <p:nvSpPr>
          <p:cNvPr id="23" name="Text 20"/>
          <p:cNvSpPr txBox="1"/>
          <p:nvPr/>
        </p:nvSpPr>
        <p:spPr>
          <a:xfrm>
            <a:off x="6720840" y="2532888"/>
            <a:ext cx="3108960" cy="347472"/>
          </a:xfrm>
          <a:prstGeom prst="rect">
            <a:avLst/>
          </a:prstGeom>
          <a:noFill/>
          <a:ln/>
        </p:spPr>
        <p:txBody>
          <a:bodyPr wrap="square" lIns="0" tIns="0" rIns="0" bIns="0" rtlCol="0" anchor="ctr"/>
          <a:lstStyle/>
          <a:p>
            <a:pPr marL="0" indent="0">
              <a:buNone/>
            </a:pPr>
            <a:r>
              <a:rPr lang="en-US" sz="1400" dirty="0">
                <a:solidFill>
                  <a:schemeClr val="tx1"/>
                </a:solidFill>
              </a:rPr>
              <a:t>CRNN  (weight 1)</a:t>
            </a:r>
            <a:endParaRPr lang="en-US" sz="1400" dirty="0"/>
          </a:p>
        </p:txBody>
      </p:sp>
      <p:sp>
        <p:nvSpPr>
          <p:cNvPr id="24" name="Text 21"/>
          <p:cNvSpPr txBox="1"/>
          <p:nvPr/>
        </p:nvSpPr>
        <p:spPr>
          <a:xfrm>
            <a:off x="9966960" y="2532888"/>
            <a:ext cx="1371600" cy="347472"/>
          </a:xfrm>
          <a:prstGeom prst="rect">
            <a:avLst/>
          </a:prstGeom>
          <a:noFill/>
          <a:ln/>
        </p:spPr>
        <p:txBody>
          <a:bodyPr wrap="square" lIns="0" tIns="0" rIns="0" bIns="0" rtlCol="0" anchor="ctr"/>
          <a:lstStyle/>
          <a:p>
            <a:pPr marL="0" indent="0">
              <a:buNone/>
            </a:pPr>
            <a:r>
              <a:rPr lang="en-US" sz="1700" b="1" dirty="0">
                <a:solidFill>
                  <a:srgbClr val="D92D20"/>
                </a:solidFill>
              </a:rPr>
              <a:t>fan</a:t>
            </a:r>
            <a:endParaRPr lang="en-US" sz="1700" dirty="0"/>
          </a:p>
        </p:txBody>
      </p:sp>
      <p:sp>
        <p:nvSpPr>
          <p:cNvPr id="25" name="Shape 22"/>
          <p:cNvSpPr/>
          <p:nvPr/>
        </p:nvSpPr>
        <p:spPr>
          <a:xfrm>
            <a:off x="6446520" y="3054096"/>
            <a:ext cx="155448" cy="155448"/>
          </a:xfrm>
          <a:prstGeom prst="ellipse">
            <a:avLst/>
          </a:prstGeom>
          <a:solidFill>
            <a:srgbClr val="16B364"/>
          </a:solidFill>
          <a:ln/>
        </p:spPr>
      </p:sp>
      <p:sp>
        <p:nvSpPr>
          <p:cNvPr id="26" name="Text 23"/>
          <p:cNvSpPr txBox="1"/>
          <p:nvPr/>
        </p:nvSpPr>
        <p:spPr>
          <a:xfrm>
            <a:off x="6720840" y="2962656"/>
            <a:ext cx="3108960" cy="347472"/>
          </a:xfrm>
          <a:prstGeom prst="rect">
            <a:avLst/>
          </a:prstGeom>
          <a:noFill/>
          <a:ln/>
        </p:spPr>
        <p:txBody>
          <a:bodyPr wrap="square" lIns="0" tIns="0" rIns="0" bIns="0" rtlCol="0" anchor="ctr"/>
          <a:lstStyle/>
          <a:p>
            <a:pPr marL="0" indent="0">
              <a:buNone/>
            </a:pPr>
            <a:r>
              <a:rPr lang="en-US" sz="1400" dirty="0">
                <a:solidFill>
                  <a:schemeClr val="tx1"/>
                </a:solidFill>
              </a:rPr>
              <a:t>TrOCR (pretrained)  (weight 3)</a:t>
            </a:r>
            <a:endParaRPr lang="en-US" sz="1400" dirty="0"/>
          </a:p>
        </p:txBody>
      </p:sp>
      <p:sp>
        <p:nvSpPr>
          <p:cNvPr id="27" name="Text 24"/>
          <p:cNvSpPr txBox="1"/>
          <p:nvPr/>
        </p:nvSpPr>
        <p:spPr>
          <a:xfrm>
            <a:off x="9966960" y="2962656"/>
            <a:ext cx="1371600" cy="347472"/>
          </a:xfrm>
          <a:prstGeom prst="rect">
            <a:avLst/>
          </a:prstGeom>
          <a:noFill/>
          <a:ln/>
        </p:spPr>
        <p:txBody>
          <a:bodyPr wrap="square" lIns="0" tIns="0" rIns="0" bIns="0" rtlCol="0" anchor="ctr"/>
          <a:lstStyle/>
          <a:p>
            <a:pPr marL="0" indent="0">
              <a:buNone/>
            </a:pPr>
            <a:r>
              <a:rPr lang="en-US" sz="1700" b="1" dirty="0">
                <a:solidFill>
                  <a:schemeClr val="accent1"/>
                </a:solidFill>
              </a:rPr>
              <a:t>Pan</a:t>
            </a:r>
            <a:endParaRPr lang="en-US" sz="1700" dirty="0"/>
          </a:p>
        </p:txBody>
      </p:sp>
      <p:sp>
        <p:nvSpPr>
          <p:cNvPr id="28" name="Shape 25"/>
          <p:cNvSpPr/>
          <p:nvPr/>
        </p:nvSpPr>
        <p:spPr>
          <a:xfrm>
            <a:off x="6446520" y="3483864"/>
            <a:ext cx="155448" cy="155448"/>
          </a:xfrm>
          <a:prstGeom prst="ellipse">
            <a:avLst/>
          </a:prstGeom>
          <a:solidFill>
            <a:srgbClr val="667085"/>
          </a:solidFill>
          <a:ln/>
        </p:spPr>
      </p:sp>
      <p:sp>
        <p:nvSpPr>
          <p:cNvPr id="29" name="Text 26"/>
          <p:cNvSpPr txBox="1"/>
          <p:nvPr/>
        </p:nvSpPr>
        <p:spPr>
          <a:xfrm>
            <a:off x="6720840" y="3392424"/>
            <a:ext cx="3108960" cy="347472"/>
          </a:xfrm>
          <a:prstGeom prst="rect">
            <a:avLst/>
          </a:prstGeom>
          <a:noFill/>
          <a:ln/>
        </p:spPr>
        <p:txBody>
          <a:bodyPr wrap="square" lIns="0" tIns="0" rIns="0" bIns="0" rtlCol="0" anchor="ctr"/>
          <a:lstStyle/>
          <a:p>
            <a:pPr marL="0" indent="0">
              <a:buNone/>
            </a:pPr>
            <a:r>
              <a:rPr lang="en-US" sz="1400" dirty="0">
                <a:solidFill>
                  <a:schemeClr val="tx1"/>
                </a:solidFill>
              </a:rPr>
              <a:t>PaddleOCR  (weight 2)</a:t>
            </a:r>
            <a:endParaRPr lang="en-US" sz="1400" dirty="0"/>
          </a:p>
        </p:txBody>
      </p:sp>
      <p:sp>
        <p:nvSpPr>
          <p:cNvPr id="30" name="Text 27"/>
          <p:cNvSpPr txBox="1"/>
          <p:nvPr/>
        </p:nvSpPr>
        <p:spPr>
          <a:xfrm>
            <a:off x="9966960" y="3392424"/>
            <a:ext cx="1371600" cy="347472"/>
          </a:xfrm>
          <a:prstGeom prst="rect">
            <a:avLst/>
          </a:prstGeom>
          <a:noFill/>
          <a:ln/>
        </p:spPr>
        <p:txBody>
          <a:bodyPr wrap="square" lIns="0" tIns="0" rIns="0" bIns="0" rtlCol="0" anchor="ctr"/>
          <a:lstStyle/>
          <a:p>
            <a:pPr marL="0" indent="0">
              <a:buNone/>
            </a:pPr>
            <a:r>
              <a:rPr lang="en-US" sz="1700" b="1" dirty="0">
                <a:solidFill>
                  <a:schemeClr val="accent1"/>
                </a:solidFill>
              </a:rPr>
              <a:t>Pan</a:t>
            </a:r>
            <a:endParaRPr lang="en-US" sz="1700" dirty="0"/>
          </a:p>
        </p:txBody>
      </p:sp>
      <p:sp>
        <p:nvSpPr>
          <p:cNvPr id="31" name="Shape 28"/>
          <p:cNvSpPr/>
          <p:nvPr/>
        </p:nvSpPr>
        <p:spPr>
          <a:xfrm>
            <a:off x="6446520" y="3913632"/>
            <a:ext cx="155448" cy="155448"/>
          </a:xfrm>
          <a:prstGeom prst="ellipse">
            <a:avLst/>
          </a:prstGeom>
          <a:solidFill>
            <a:srgbClr val="0BA5EC"/>
          </a:solidFill>
          <a:ln/>
        </p:spPr>
      </p:sp>
      <p:sp>
        <p:nvSpPr>
          <p:cNvPr id="32" name="Text 29"/>
          <p:cNvSpPr txBox="1"/>
          <p:nvPr/>
        </p:nvSpPr>
        <p:spPr>
          <a:xfrm>
            <a:off x="6720840" y="3822192"/>
            <a:ext cx="3108960" cy="347472"/>
          </a:xfrm>
          <a:prstGeom prst="rect">
            <a:avLst/>
          </a:prstGeom>
          <a:noFill/>
          <a:ln/>
        </p:spPr>
        <p:txBody>
          <a:bodyPr wrap="square" lIns="0" tIns="0" rIns="0" bIns="0" rtlCol="0" anchor="ctr"/>
          <a:lstStyle/>
          <a:p>
            <a:pPr marL="0" indent="0">
              <a:buNone/>
            </a:pPr>
            <a:r>
              <a:rPr lang="en-US" sz="1400" dirty="0">
                <a:solidFill>
                  <a:schemeClr val="tx1"/>
                </a:solidFill>
              </a:rPr>
              <a:t>CNN‑BiLSTM  (weight 2)</a:t>
            </a:r>
            <a:endParaRPr lang="en-US" sz="1400" dirty="0"/>
          </a:p>
        </p:txBody>
      </p:sp>
      <p:sp>
        <p:nvSpPr>
          <p:cNvPr id="33" name="Text 30"/>
          <p:cNvSpPr txBox="1"/>
          <p:nvPr/>
        </p:nvSpPr>
        <p:spPr>
          <a:xfrm>
            <a:off x="9966960" y="3822192"/>
            <a:ext cx="1371600" cy="347472"/>
          </a:xfrm>
          <a:prstGeom prst="rect">
            <a:avLst/>
          </a:prstGeom>
          <a:noFill/>
          <a:ln/>
        </p:spPr>
        <p:txBody>
          <a:bodyPr wrap="square" lIns="0" tIns="0" rIns="0" bIns="0" rtlCol="0" anchor="ctr"/>
          <a:lstStyle/>
          <a:p>
            <a:pPr marL="0" indent="0">
              <a:buNone/>
            </a:pPr>
            <a:r>
              <a:rPr lang="en-US" sz="1700" b="1" dirty="0">
                <a:solidFill>
                  <a:schemeClr val="accent1"/>
                </a:solidFill>
              </a:rPr>
              <a:t>Pan</a:t>
            </a:r>
            <a:endParaRPr lang="en-US" sz="1700" dirty="0"/>
          </a:p>
        </p:txBody>
      </p:sp>
      <p:sp>
        <p:nvSpPr>
          <p:cNvPr id="34" name="Text 31"/>
          <p:cNvSpPr txBox="1"/>
          <p:nvPr/>
        </p:nvSpPr>
        <p:spPr>
          <a:xfrm>
            <a:off x="6446520" y="4434840"/>
            <a:ext cx="640080" cy="347472"/>
          </a:xfrm>
          <a:prstGeom prst="rect">
            <a:avLst/>
          </a:prstGeom>
          <a:noFill/>
          <a:ln/>
        </p:spPr>
        <p:txBody>
          <a:bodyPr wrap="square" lIns="0" tIns="0" rIns="0" bIns="0" rtlCol="0" anchor="ctr"/>
          <a:lstStyle/>
          <a:p>
            <a:pPr marL="0" indent="0">
              <a:buNone/>
            </a:pPr>
            <a:r>
              <a:rPr lang="en-US" sz="1500" b="1" dirty="0">
                <a:solidFill>
                  <a:schemeClr val="tx1"/>
                </a:solidFill>
              </a:rPr>
              <a:t>Pan</a:t>
            </a:r>
            <a:endParaRPr lang="en-US" sz="1500" dirty="0"/>
          </a:p>
        </p:txBody>
      </p:sp>
      <p:sp>
        <p:nvSpPr>
          <p:cNvPr id="35" name="Shape 32"/>
          <p:cNvSpPr/>
          <p:nvPr/>
        </p:nvSpPr>
        <p:spPr>
          <a:xfrm>
            <a:off x="7132320" y="4489704"/>
            <a:ext cx="2293315" cy="237744"/>
          </a:xfrm>
          <a:prstGeom prst="roundRect">
            <a:avLst>
              <a:gd name="adj" fmla="val 50000"/>
            </a:avLst>
          </a:prstGeom>
          <a:solidFill>
            <a:schemeClr val="accent1"/>
          </a:solidFill>
          <a:ln/>
        </p:spPr>
      </p:sp>
      <p:sp>
        <p:nvSpPr>
          <p:cNvPr id="36" name="Text 33"/>
          <p:cNvSpPr txBox="1"/>
          <p:nvPr/>
        </p:nvSpPr>
        <p:spPr>
          <a:xfrm>
            <a:off x="9517075" y="4434840"/>
            <a:ext cx="731520" cy="347472"/>
          </a:xfrm>
          <a:prstGeom prst="rect">
            <a:avLst/>
          </a:prstGeom>
          <a:noFill/>
          <a:ln/>
        </p:spPr>
        <p:txBody>
          <a:bodyPr wrap="square" lIns="0" tIns="0" rIns="0" bIns="0" rtlCol="0" anchor="ctr"/>
          <a:lstStyle/>
          <a:p>
            <a:pPr marL="0" indent="0">
              <a:buNone/>
            </a:pPr>
            <a:r>
              <a:rPr lang="en-US" sz="1400" b="1" dirty="0">
                <a:solidFill>
                  <a:schemeClr val="tx1"/>
                </a:solidFill>
              </a:rPr>
              <a:t>66%</a:t>
            </a:r>
            <a:endParaRPr lang="en-US" sz="1400" dirty="0"/>
          </a:p>
        </p:txBody>
      </p:sp>
      <p:sp>
        <p:nvSpPr>
          <p:cNvPr id="37" name="Text 34"/>
          <p:cNvSpPr txBox="1"/>
          <p:nvPr/>
        </p:nvSpPr>
        <p:spPr>
          <a:xfrm>
            <a:off x="6446520" y="4892040"/>
            <a:ext cx="640080" cy="347472"/>
          </a:xfrm>
          <a:prstGeom prst="rect">
            <a:avLst/>
          </a:prstGeom>
          <a:noFill/>
          <a:ln/>
        </p:spPr>
        <p:txBody>
          <a:bodyPr wrap="square" lIns="0" tIns="0" rIns="0" bIns="0" rtlCol="0" anchor="ctr"/>
          <a:lstStyle/>
          <a:p>
            <a:pPr marL="0" indent="0">
              <a:buNone/>
            </a:pPr>
            <a:r>
              <a:rPr lang="en-US" sz="1500" b="1" dirty="0">
                <a:solidFill>
                  <a:schemeClr val="tx1"/>
                </a:solidFill>
              </a:rPr>
              <a:t>fan</a:t>
            </a:r>
            <a:endParaRPr lang="en-US" sz="1500" dirty="0"/>
          </a:p>
        </p:txBody>
      </p:sp>
      <p:sp>
        <p:nvSpPr>
          <p:cNvPr id="38" name="Shape 35"/>
          <p:cNvSpPr/>
          <p:nvPr/>
        </p:nvSpPr>
        <p:spPr>
          <a:xfrm>
            <a:off x="7132320" y="4946904"/>
            <a:ext cx="1181405" cy="237744"/>
          </a:xfrm>
          <a:prstGeom prst="roundRect">
            <a:avLst>
              <a:gd name="adj" fmla="val 50000"/>
            </a:avLst>
          </a:prstGeom>
          <a:solidFill>
            <a:srgbClr val="FDA29B"/>
          </a:solidFill>
          <a:ln/>
        </p:spPr>
      </p:sp>
      <p:sp>
        <p:nvSpPr>
          <p:cNvPr id="39" name="Text 36"/>
          <p:cNvSpPr txBox="1"/>
          <p:nvPr/>
        </p:nvSpPr>
        <p:spPr>
          <a:xfrm>
            <a:off x="8405165" y="4892040"/>
            <a:ext cx="731520" cy="347472"/>
          </a:xfrm>
          <a:prstGeom prst="rect">
            <a:avLst/>
          </a:prstGeom>
          <a:noFill/>
          <a:ln/>
        </p:spPr>
        <p:txBody>
          <a:bodyPr wrap="square" lIns="0" tIns="0" rIns="0" bIns="0" rtlCol="0" anchor="ctr"/>
          <a:lstStyle/>
          <a:p>
            <a:pPr marL="0" indent="0">
              <a:buNone/>
            </a:pPr>
            <a:r>
              <a:rPr lang="en-US" sz="1400" b="1" dirty="0">
                <a:solidFill>
                  <a:schemeClr val="tx1"/>
                </a:solidFill>
              </a:rPr>
              <a:t>34%</a:t>
            </a:r>
            <a:endParaRPr lang="en-US" sz="1400" dirty="0"/>
          </a:p>
        </p:txBody>
      </p:sp>
      <p:sp>
        <p:nvSpPr>
          <p:cNvPr id="40" name="Text 37"/>
          <p:cNvSpPr txBox="1"/>
          <p:nvPr/>
        </p:nvSpPr>
        <p:spPr>
          <a:xfrm>
            <a:off x="6446520" y="5376672"/>
            <a:ext cx="4937760" cy="365760"/>
          </a:xfrm>
          <a:prstGeom prst="rect">
            <a:avLst/>
          </a:prstGeom>
          <a:noFill/>
          <a:ln/>
        </p:spPr>
        <p:txBody>
          <a:bodyPr wrap="square" lIns="0" tIns="0" rIns="0" bIns="0" rtlCol="0" anchor="t"/>
          <a:lstStyle/>
          <a:p>
            <a:pPr marL="0" indent="0">
              <a:buNone/>
            </a:pPr>
            <a:r>
              <a:rPr lang="en-US" sz="1500" b="1" dirty="0">
                <a:solidFill>
                  <a:schemeClr val="accent1"/>
                </a:solidFill>
              </a:rPr>
              <a:t>Result: “Tin Pan Alley”, which is correct</a:t>
            </a:r>
            <a:endParaRPr lang="en-US" sz="1500" dirty="0"/>
          </a:p>
        </p:txBody>
      </p:sp>
      <p:sp>
        <p:nvSpPr>
          <p:cNvPr id="41"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7D2FE"/>
                </a:solidFill>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lens"/>
          <p:cNvSpPr/>
          <p:nvPr/>
        </p:nvSpPr>
        <p:spPr>
          <a:xfrm>
            <a:off x="11841480" y="4023360"/>
            <a:ext cx="2743200" cy="274320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Results on 600 held-out lines per test set</a:t>
            </a:r>
            <a:endParaRPr lang="en-US" sz="3000" dirty="0"/>
          </a:p>
        </p:txBody>
      </p:sp>
      <p:graphicFrame>
        <p:nvGraphicFramePr>
          <p:cNvPr id="4" name="Chart 0"/>
          <p:cNvGraphicFramePr/>
          <p:nvPr/>
        </p:nvGraphicFramePr>
        <p:xfrm>
          <a:off x="548640" y="1325880"/>
          <a:ext cx="722376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tat-hw"/>
          <p:cNvSpPr txBox="1"/>
          <p:nvPr/>
        </p:nvSpPr>
        <p:spPr>
          <a:xfrm>
            <a:off x="8183880" y="1463040"/>
            <a:ext cx="3474720" cy="731520"/>
          </a:xfrm>
          <a:prstGeom prst="rect">
            <a:avLst/>
          </a:prstGeom>
          <a:noFill/>
          <a:ln/>
        </p:spPr>
        <p:txBody>
          <a:bodyPr wrap="square" lIns="0" tIns="0" rIns="0" bIns="0" rtlCol="0" anchor="t"/>
          <a:lstStyle/>
          <a:p>
            <a:pPr marL="0" indent="0">
              <a:buNone/>
            </a:pPr>
            <a:r>
              <a:rPr lang="en-US" sz="4400" b="1" dirty="0">
                <a:solidFill>
                  <a:schemeClr val="accent1"/>
                </a:solidFill>
                <a:latin typeface="Segoe UI Semibold" pitchFamily="34" charset="0"/>
                <a:ea typeface="Segoe UI Semibold" pitchFamily="34" charset="-122"/>
                <a:cs typeface="Segoe UI Semibold" pitchFamily="34" charset="-120"/>
              </a:rPr>
              <a:t>5.74%</a:t>
            </a:r>
            <a:endParaRPr lang="en-US" sz="4400" dirty="0"/>
          </a:p>
        </p:txBody>
      </p:sp>
      <p:sp>
        <p:nvSpPr>
          <p:cNvPr id="6" name="Text 3"/>
          <p:cNvSpPr txBox="1"/>
          <p:nvPr/>
        </p:nvSpPr>
        <p:spPr>
          <a:xfrm>
            <a:off x="8183880" y="2194560"/>
            <a:ext cx="3474720" cy="548640"/>
          </a:xfrm>
          <a:prstGeom prst="rect">
            <a:avLst/>
          </a:prstGeom>
          <a:noFill/>
          <a:ln/>
        </p:spPr>
        <p:txBody>
          <a:bodyPr wrap="square" lIns="0" tIns="0" rIns="0" bIns="0" rtlCol="0" anchor="t"/>
          <a:lstStyle/>
          <a:p>
            <a:pPr marL="0" indent="0">
              <a:buNone/>
            </a:pPr>
            <a:r>
              <a:rPr lang="en-US" sz="1400" dirty="0">
                <a:solidFill>
                  <a:schemeClr val="accent6"/>
                </a:solidFill>
              </a:rPr>
              <a:t>CER on handwriting from unseen writers (Consensus)</a:t>
            </a:r>
            <a:endParaRPr lang="en-US" sz="1400" dirty="0"/>
          </a:p>
        </p:txBody>
      </p:sp>
      <p:sp>
        <p:nvSpPr>
          <p:cNvPr id="7" name="!!stat-pr"/>
          <p:cNvSpPr txBox="1"/>
          <p:nvPr/>
        </p:nvSpPr>
        <p:spPr>
          <a:xfrm>
            <a:off x="8183880" y="3017520"/>
            <a:ext cx="3474720" cy="731520"/>
          </a:xfrm>
          <a:prstGeom prst="rect">
            <a:avLst/>
          </a:prstGeom>
          <a:noFill/>
          <a:ln/>
        </p:spPr>
        <p:txBody>
          <a:bodyPr wrap="square" lIns="0" tIns="0" rIns="0" bIns="0" rtlCol="0" anchor="t"/>
          <a:lstStyle/>
          <a:p>
            <a:pPr marL="0" indent="0">
              <a:buNone/>
            </a:pPr>
            <a:r>
              <a:rPr lang="en-US" sz="4400" b="1" dirty="0">
                <a:solidFill>
                  <a:schemeClr val="accent2"/>
                </a:solidFill>
                <a:latin typeface="Segoe UI Semibold" pitchFamily="34" charset="0"/>
                <a:ea typeface="Segoe UI Semibold" pitchFamily="34" charset="-122"/>
                <a:cs typeface="Segoe UI Semibold" pitchFamily="34" charset="-120"/>
              </a:rPr>
              <a:t>2.35%</a:t>
            </a:r>
            <a:endParaRPr lang="en-US" sz="4400" dirty="0"/>
          </a:p>
        </p:txBody>
      </p:sp>
      <p:sp>
        <p:nvSpPr>
          <p:cNvPr id="8" name="Text 5"/>
          <p:cNvSpPr txBox="1"/>
          <p:nvPr/>
        </p:nvSpPr>
        <p:spPr>
          <a:xfrm>
            <a:off x="8183880" y="3749040"/>
            <a:ext cx="3474720" cy="548640"/>
          </a:xfrm>
          <a:prstGeom prst="rect">
            <a:avLst/>
          </a:prstGeom>
          <a:noFill/>
          <a:ln/>
        </p:spPr>
        <p:txBody>
          <a:bodyPr wrap="square" lIns="0" tIns="0" rIns="0" bIns="0" rtlCol="0" anchor="t"/>
          <a:lstStyle/>
          <a:p>
            <a:pPr marL="0" indent="0">
              <a:buNone/>
            </a:pPr>
            <a:r>
              <a:rPr lang="en-US" sz="1400" dirty="0">
                <a:solidFill>
                  <a:schemeClr val="accent6"/>
                </a:solidFill>
              </a:rPr>
              <a:t>CER on printed and degraded text (Consensus)</a:t>
            </a:r>
            <a:endParaRPr lang="en-US" sz="1400" dirty="0"/>
          </a:p>
        </p:txBody>
      </p:sp>
      <p:sp>
        <p:nvSpPr>
          <p:cNvPr id="9" name="!!stat-sp"/>
          <p:cNvSpPr txBox="1"/>
          <p:nvPr/>
        </p:nvSpPr>
        <p:spPr>
          <a:xfrm>
            <a:off x="8183880" y="4572000"/>
            <a:ext cx="3474720" cy="731520"/>
          </a:xfrm>
          <a:prstGeom prst="rect">
            <a:avLst/>
          </a:prstGeom>
          <a:noFill/>
          <a:ln/>
        </p:spPr>
        <p:txBody>
          <a:bodyPr wrap="square" lIns="0" tIns="0" rIns="0" bIns="0" rtlCol="0" anchor="t"/>
          <a:lstStyle/>
          <a:p>
            <a:pPr marL="0" indent="0">
              <a:buNone/>
            </a:pPr>
            <a:r>
              <a:rPr lang="en-US" sz="4400" b="1" dirty="0">
                <a:solidFill>
                  <a:schemeClr val="tx1"/>
                </a:solidFill>
                <a:latin typeface="Segoe UI Semibold" pitchFamily="34" charset="0"/>
                <a:ea typeface="Segoe UI Semibold" pitchFamily="34" charset="-122"/>
                <a:cs typeface="Segoe UI Semibold" pitchFamily="34" charset="-120"/>
              </a:rPr>
              <a:t>12 ms</a:t>
            </a:r>
            <a:endParaRPr lang="en-US" sz="4400" dirty="0"/>
          </a:p>
        </p:txBody>
      </p:sp>
      <p:sp>
        <p:nvSpPr>
          <p:cNvPr id="10" name="Text 7"/>
          <p:cNvSpPr txBox="1"/>
          <p:nvPr/>
        </p:nvSpPr>
        <p:spPr>
          <a:xfrm>
            <a:off x="8183880" y="5303520"/>
            <a:ext cx="3474720" cy="548640"/>
          </a:xfrm>
          <a:prstGeom prst="rect">
            <a:avLst/>
          </a:prstGeom>
          <a:noFill/>
          <a:ln/>
        </p:spPr>
        <p:txBody>
          <a:bodyPr wrap="square" lIns="0" tIns="0" rIns="0" bIns="0" rtlCol="0" anchor="t"/>
          <a:lstStyle/>
          <a:p>
            <a:pPr marL="0" indent="0">
              <a:buNone/>
            </a:pPr>
            <a:r>
              <a:rPr lang="en-US" sz="1400" dirty="0">
                <a:solidFill>
                  <a:schemeClr val="accent6"/>
                </a:solidFill>
              </a:rPr>
              <a:t>per line with CNN‑BiLSTM, our fastest model</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ens"/>
          <p:cNvSpPr/>
          <p:nvPr/>
        </p:nvSpPr>
        <p:spPr>
          <a:xfrm>
            <a:off x="-2377440" y="3566160"/>
            <a:ext cx="2743200" cy="274320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Voting removes errors even the best model makes</a:t>
            </a:r>
            <a:endParaRPr lang="en-US" sz="3000" dirty="0"/>
          </a:p>
        </p:txBody>
      </p:sp>
      <p:sp>
        <p:nvSpPr>
          <p:cNvPr id="4" name="Shape 2"/>
          <p:cNvSpPr/>
          <p:nvPr/>
        </p:nvSpPr>
        <p:spPr>
          <a:xfrm>
            <a:off x="548640" y="1371600"/>
            <a:ext cx="3520440" cy="1965960"/>
          </a:xfrm>
          <a:prstGeom prst="roundRect">
            <a:avLst>
              <a:gd name="adj" fmla="val 5581"/>
            </a:avLst>
          </a:prstGeom>
          <a:solidFill>
            <a:schemeClr val="bg2"/>
          </a:solidFill>
          <a:ln/>
        </p:spPr>
      </p:sp>
      <p:sp>
        <p:nvSpPr>
          <p:cNvPr id="5" name="!!stat-hw"/>
          <p:cNvSpPr txBox="1"/>
          <p:nvPr/>
        </p:nvSpPr>
        <p:spPr>
          <a:xfrm>
            <a:off x="822960" y="1481328"/>
            <a:ext cx="3017520" cy="731520"/>
          </a:xfrm>
          <a:prstGeom prst="rect">
            <a:avLst/>
          </a:prstGeom>
          <a:noFill/>
          <a:ln/>
        </p:spPr>
        <p:txBody>
          <a:bodyPr wrap="square" lIns="0" tIns="0" rIns="0" bIns="0" rtlCol="0" anchor="t"/>
          <a:lstStyle/>
          <a:p>
            <a:pPr marL="0" indent="0">
              <a:buNone/>
            </a:pPr>
            <a:r>
              <a:rPr lang="en-US" sz="4000" b="1" dirty="0">
                <a:solidFill>
                  <a:schemeClr val="accent1"/>
                </a:solidFill>
                <a:latin typeface="Segoe UI Semibold" pitchFamily="34" charset="0"/>
                <a:ea typeface="Segoe UI Semibold" pitchFamily="34" charset="-122"/>
                <a:cs typeface="Segoe UI Semibold" pitchFamily="34" charset="-120"/>
              </a:rPr>
              <a:t>5.74%</a:t>
            </a:r>
            <a:endParaRPr lang="en-US" sz="4000" dirty="0"/>
          </a:p>
        </p:txBody>
      </p:sp>
      <p:sp>
        <p:nvSpPr>
          <p:cNvPr id="6" name="Text 4"/>
          <p:cNvSpPr txBox="1"/>
          <p:nvPr/>
        </p:nvSpPr>
        <p:spPr>
          <a:xfrm>
            <a:off x="822960" y="2240280"/>
            <a:ext cx="3017520" cy="960120"/>
          </a:xfrm>
          <a:prstGeom prst="rect">
            <a:avLst/>
          </a:prstGeom>
          <a:noFill/>
          <a:ln/>
        </p:spPr>
        <p:txBody>
          <a:bodyPr wrap="square" lIns="0" tIns="0" rIns="0" bIns="0" rtlCol="0" anchor="t"/>
          <a:lstStyle/>
          <a:p>
            <a:pPr marL="0" indent="0">
              <a:buNone/>
            </a:pPr>
            <a:r>
              <a:rPr lang="en-US" sz="1400" dirty="0">
                <a:solidFill>
                  <a:schemeClr val="accent6"/>
                </a:solidFill>
              </a:rPr>
              <a:t>handwriting CER: 15% fewer errors than the best single model (6.73%)</a:t>
            </a:r>
            <a:endParaRPr lang="en-US" sz="1400" dirty="0"/>
          </a:p>
        </p:txBody>
      </p:sp>
      <p:sp>
        <p:nvSpPr>
          <p:cNvPr id="7" name="Shape 5"/>
          <p:cNvSpPr/>
          <p:nvPr/>
        </p:nvSpPr>
        <p:spPr>
          <a:xfrm>
            <a:off x="4343400" y="1371600"/>
            <a:ext cx="3520440" cy="1965960"/>
          </a:xfrm>
          <a:prstGeom prst="roundRect">
            <a:avLst>
              <a:gd name="adj" fmla="val 5581"/>
            </a:avLst>
          </a:prstGeom>
          <a:solidFill>
            <a:schemeClr val="bg2"/>
          </a:solidFill>
          <a:ln/>
        </p:spPr>
      </p:sp>
      <p:sp>
        <p:nvSpPr>
          <p:cNvPr id="8" name="!!stat-wer"/>
          <p:cNvSpPr txBox="1"/>
          <p:nvPr/>
        </p:nvSpPr>
        <p:spPr>
          <a:xfrm>
            <a:off x="4617720" y="1481328"/>
            <a:ext cx="3017520" cy="731520"/>
          </a:xfrm>
          <a:prstGeom prst="rect">
            <a:avLst/>
          </a:prstGeom>
          <a:noFill/>
          <a:ln/>
        </p:spPr>
        <p:txBody>
          <a:bodyPr wrap="square" lIns="0" tIns="0" rIns="0" bIns="0" rtlCol="0" anchor="t"/>
          <a:lstStyle/>
          <a:p>
            <a:pPr marL="0" indent="0">
              <a:buNone/>
            </a:pPr>
            <a:r>
              <a:rPr lang="en-US" sz="4000" b="1" dirty="0">
                <a:solidFill>
                  <a:schemeClr val="accent2"/>
                </a:solidFill>
                <a:latin typeface="Segoe UI Semibold" pitchFamily="34" charset="0"/>
                <a:ea typeface="Segoe UI Semibold" pitchFamily="34" charset="-122"/>
                <a:cs typeface="Segoe UI Semibold" pitchFamily="34" charset="-120"/>
              </a:rPr>
              <a:t>5.86%</a:t>
            </a:r>
            <a:endParaRPr lang="en-US" sz="4000" dirty="0"/>
          </a:p>
        </p:txBody>
      </p:sp>
      <p:sp>
        <p:nvSpPr>
          <p:cNvPr id="9" name="Text 7"/>
          <p:cNvSpPr txBox="1"/>
          <p:nvPr/>
        </p:nvSpPr>
        <p:spPr>
          <a:xfrm>
            <a:off x="4617720" y="2240280"/>
            <a:ext cx="3017520" cy="960120"/>
          </a:xfrm>
          <a:prstGeom prst="rect">
            <a:avLst/>
          </a:prstGeom>
          <a:noFill/>
          <a:ln/>
        </p:spPr>
        <p:txBody>
          <a:bodyPr wrap="square" lIns="0" tIns="0" rIns="0" bIns="0" rtlCol="0" anchor="t"/>
          <a:lstStyle/>
          <a:p>
            <a:pPr marL="0" indent="0">
              <a:buNone/>
            </a:pPr>
            <a:r>
              <a:rPr lang="en-US" sz="1400" dirty="0">
                <a:solidFill>
                  <a:schemeClr val="accent6"/>
                </a:solidFill>
              </a:rPr>
              <a:t>printed-text WER: 46% fewer word errors than the best single model (10.81%)</a:t>
            </a:r>
            <a:endParaRPr lang="en-US" sz="1400" dirty="0"/>
          </a:p>
        </p:txBody>
      </p:sp>
      <p:sp>
        <p:nvSpPr>
          <p:cNvPr id="10" name="Shape 8"/>
          <p:cNvSpPr/>
          <p:nvPr/>
        </p:nvSpPr>
        <p:spPr>
          <a:xfrm>
            <a:off x="8138160" y="1371600"/>
            <a:ext cx="3520440" cy="1965960"/>
          </a:xfrm>
          <a:prstGeom prst="roundRect">
            <a:avLst>
              <a:gd name="adj" fmla="val 5581"/>
            </a:avLst>
          </a:prstGeom>
          <a:solidFill>
            <a:schemeClr val="bg2"/>
          </a:solidFill>
          <a:ln/>
        </p:spPr>
      </p:sp>
      <p:sp>
        <p:nvSpPr>
          <p:cNvPr id="11" name="!!stat-flag"/>
          <p:cNvSpPr txBox="1"/>
          <p:nvPr/>
        </p:nvSpPr>
        <p:spPr>
          <a:xfrm>
            <a:off x="8412480" y="1481328"/>
            <a:ext cx="3017520" cy="731520"/>
          </a:xfrm>
          <a:prstGeom prst="rect">
            <a:avLst/>
          </a:prstGeom>
          <a:noFill/>
          <a:ln/>
        </p:spPr>
        <p:txBody>
          <a:bodyPr wrap="square" lIns="0" tIns="0" rIns="0" bIns="0" rtlCol="0" anchor="t"/>
          <a:lstStyle/>
          <a:p>
            <a:pPr marL="0" indent="0">
              <a:buNone/>
            </a:pPr>
            <a:r>
              <a:rPr lang="en-US" sz="4000" b="1" dirty="0">
                <a:solidFill>
                  <a:schemeClr val="tx1"/>
                </a:solidFill>
                <a:latin typeface="Segoe UI Semibold" pitchFamily="34" charset="0"/>
                <a:ea typeface="Segoe UI Semibold" pitchFamily="34" charset="-122"/>
                <a:cs typeface="Segoe UI Semibold" pitchFamily="34" charset="-120"/>
              </a:rPr>
              <a:t>11 of 125</a:t>
            </a:r>
            <a:endParaRPr lang="en-US" sz="4000" dirty="0"/>
          </a:p>
        </p:txBody>
      </p:sp>
      <p:sp>
        <p:nvSpPr>
          <p:cNvPr id="12" name="Text 10"/>
          <p:cNvSpPr txBox="1"/>
          <p:nvPr/>
        </p:nvSpPr>
        <p:spPr>
          <a:xfrm>
            <a:off x="8412480" y="2240280"/>
            <a:ext cx="3017520" cy="960120"/>
          </a:xfrm>
          <a:prstGeom prst="rect">
            <a:avLst/>
          </a:prstGeom>
          <a:noFill/>
          <a:ln/>
        </p:spPr>
        <p:txBody>
          <a:bodyPr wrap="square" lIns="0" tIns="0" rIns="0" bIns="0" rtlCol="0" anchor="t"/>
          <a:lstStyle/>
          <a:p>
            <a:pPr marL="0" indent="0">
              <a:buNone/>
            </a:pPr>
            <a:r>
              <a:rPr lang="en-US" sz="1400" dirty="0">
                <a:solidFill>
                  <a:schemeClr val="accent6"/>
                </a:solidFill>
              </a:rPr>
              <a:t>words flagged as disputed on the handwritten demo page, where most errors are</a:t>
            </a:r>
            <a:endParaRPr lang="en-US" sz="1400" dirty="0"/>
          </a:p>
        </p:txBody>
      </p:sp>
      <p:graphicFrame>
        <p:nvGraphicFramePr>
          <p:cNvPr id="13" name="Chart 0"/>
          <p:cNvGraphicFramePr/>
          <p:nvPr/>
        </p:nvGraphicFramePr>
        <p:xfrm>
          <a:off x="548640" y="3566160"/>
          <a:ext cx="704088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1"/>
          <p:cNvSpPr/>
          <p:nvPr/>
        </p:nvSpPr>
        <p:spPr>
          <a:xfrm>
            <a:off x="7955280" y="3566160"/>
            <a:ext cx="3657600" cy="2514600"/>
          </a:xfrm>
          <a:prstGeom prst="roundRect">
            <a:avLst>
              <a:gd name="adj" fmla="val 4364"/>
            </a:avLst>
          </a:prstGeom>
          <a:solidFill>
            <a:schemeClr val="bg2"/>
          </a:solidFill>
          <a:ln/>
        </p:spPr>
      </p:sp>
      <p:sp>
        <p:nvSpPr>
          <p:cNvPr id="15" name="Text 12"/>
          <p:cNvSpPr txBox="1"/>
          <p:nvPr/>
        </p:nvSpPr>
        <p:spPr>
          <a:xfrm>
            <a:off x="8183880" y="3703320"/>
            <a:ext cx="3246120" cy="2240280"/>
          </a:xfrm>
          <a:prstGeom prst="rect">
            <a:avLst/>
          </a:prstGeom>
          <a:noFill/>
          <a:ln/>
        </p:spPr>
        <p:txBody>
          <a:bodyPr wrap="square" lIns="0" tIns="0" rIns="0" bIns="0" rtlCol="0" anchor="ctr"/>
          <a:lstStyle/>
          <a:p>
            <a:pPr marL="0" indent="0">
              <a:buNone/>
            </a:pPr>
            <a:r>
              <a:rPr lang="en-US" sz="1400" b="1" dirty="0">
                <a:solidFill>
                  <a:schemeClr val="tx1"/>
                </a:solidFill>
              </a:rPr>
              <a:t>Weights tuned by cross‑validation</a:t>
            </a:r>
            <a:endParaRPr lang="en-US" sz="1400" dirty="0"/>
          </a:p>
          <a:p>
            <a:pPr marL="0" indent="0">
              <a:buNone/>
            </a:pPr>
            <a:r>
              <a:rPr lang="en-US" sz="1400" dirty="0">
                <a:solidFill>
                  <a:schemeClr val="accent6"/>
                </a:solidFill>
              </a:rPr>
              <a:t>TrOCR-ft 3 · TrOCR 3 · PaddleOCR 2 · CNN‑BiLSTM 2 · CRNN 1</a:t>
            </a:r>
            <a:endParaRPr lang="en-US" sz="1400" dirty="0"/>
          </a:p>
          <a:p>
            <a:pPr marL="0" indent="0">
              <a:buNone/>
            </a:pPr>
            <a:r>
              <a:rPr lang="en-US" sz="800" dirty="0">
                <a:solidFill>
                  <a:schemeClr val="tx1"/>
                </a:solidFill>
              </a:rPr>
              <a:t> </a:t>
            </a:r>
            <a:endParaRPr lang="en-US" sz="1400" dirty="0"/>
          </a:p>
          <a:p>
            <a:pPr marL="0" indent="0">
              <a:buNone/>
            </a:pPr>
            <a:r>
              <a:rPr lang="en-US" sz="1400" b="1" dirty="0">
                <a:solidFill>
                  <a:schemeClr val="tx1"/>
                </a:solidFill>
              </a:rPr>
              <a:t>Cost</a:t>
            </a:r>
            <a:endParaRPr lang="en-US" sz="1400" dirty="0"/>
          </a:p>
          <a:p>
            <a:pPr marL="0" indent="0">
              <a:buNone/>
            </a:pPr>
            <a:r>
              <a:rPr lang="en-US" sz="1400" dirty="0">
                <a:solidFill>
                  <a:schemeClr val="accent6"/>
                </a:solidFill>
              </a:rPr>
              <a:t>About 1 s per line, because every model runs</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ens"/>
          <p:cNvSpPr/>
          <p:nvPr/>
        </p:nvSpPr>
        <p:spPr>
          <a:xfrm>
            <a:off x="10515600" y="-1737360"/>
            <a:ext cx="2926080" cy="292608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Robust to noise, and deskewing fixes rotation</a:t>
            </a:r>
            <a:endParaRPr lang="en-US" sz="3000" dirty="0"/>
          </a:p>
        </p:txBody>
      </p:sp>
      <p:graphicFrame>
        <p:nvGraphicFramePr>
          <p:cNvPr id="4" name="Chart 0"/>
          <p:cNvGraphicFramePr/>
          <p:nvPr/>
        </p:nvGraphicFramePr>
        <p:xfrm>
          <a:off x="548640" y="1325880"/>
          <a:ext cx="694944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863840" y="1417320"/>
            <a:ext cx="566928" cy="566928"/>
          </a:xfrm>
          <a:prstGeom prst="ellipse">
            <a:avLst/>
          </a:prstGeom>
          <a:solidFill>
            <a:schemeClr val="bg2"/>
          </a:solidFill>
          <a:ln/>
        </p:spPr>
      </p:sp>
      <p:pic>
        <p:nvPicPr>
          <p:cNvPr id="6" name="Image 0" descr="preencoded.png"/>
          <p:cNvPicPr>
            <a:picLocks noChangeAspect="1"/>
          </p:cNvPicPr>
          <p:nvPr/>
        </p:nvPicPr>
        <p:blipFill>
          <a:blip r:embed="rId4"/>
          <a:stretch>
            <a:fillRect/>
          </a:stretch>
        </p:blipFill>
        <p:spPr>
          <a:xfrm>
            <a:off x="7999903" y="1553383"/>
            <a:ext cx="294803" cy="294803"/>
          </a:xfrm>
          <a:prstGeom prst="rect">
            <a:avLst/>
          </a:prstGeom>
        </p:spPr>
      </p:pic>
      <p:sp>
        <p:nvSpPr>
          <p:cNvPr id="7" name="Text 3"/>
          <p:cNvSpPr txBox="1"/>
          <p:nvPr/>
        </p:nvSpPr>
        <p:spPr>
          <a:xfrm>
            <a:off x="8595360" y="1399032"/>
            <a:ext cx="30632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Tilt breaks CTC models</a:t>
            </a:r>
            <a:endParaRPr lang="en-US" sz="1600" dirty="0"/>
          </a:p>
        </p:txBody>
      </p:sp>
      <p:sp>
        <p:nvSpPr>
          <p:cNvPr id="8" name="Text 4"/>
          <p:cNvSpPr txBox="1"/>
          <p:nvPr/>
        </p:nvSpPr>
        <p:spPr>
          <a:xfrm>
            <a:off x="8595360" y="1746504"/>
            <a:ext cx="3063240" cy="685800"/>
          </a:xfrm>
          <a:prstGeom prst="rect">
            <a:avLst/>
          </a:prstGeom>
          <a:noFill/>
          <a:ln/>
        </p:spPr>
        <p:txBody>
          <a:bodyPr wrap="square" lIns="0" tIns="0" rIns="0" bIns="0" rtlCol="0" anchor="t"/>
          <a:lstStyle/>
          <a:p>
            <a:pPr marL="0" indent="0">
              <a:buNone/>
            </a:pPr>
            <a:r>
              <a:rPr lang="en-US" sz="1300" dirty="0">
                <a:solidFill>
                  <a:schemeClr val="accent6"/>
                </a:solidFill>
              </a:rPr>
              <a:t>CNN‑BiLSTM: 19.6% → 65.5% CER at 8°</a:t>
            </a:r>
            <a:endParaRPr lang="en-US" sz="1300" dirty="0"/>
          </a:p>
        </p:txBody>
      </p:sp>
      <p:sp>
        <p:nvSpPr>
          <p:cNvPr id="9" name="Shape 5"/>
          <p:cNvSpPr/>
          <p:nvPr/>
        </p:nvSpPr>
        <p:spPr>
          <a:xfrm>
            <a:off x="7863840" y="2578608"/>
            <a:ext cx="566928" cy="566928"/>
          </a:xfrm>
          <a:prstGeom prst="ellipse">
            <a:avLst/>
          </a:prstGeom>
          <a:solidFill>
            <a:schemeClr val="bg2"/>
          </a:solidFill>
          <a:ln/>
        </p:spPr>
      </p:sp>
      <p:pic>
        <p:nvPicPr>
          <p:cNvPr id="10" name="Image 1" descr="preencoded.png"/>
          <p:cNvPicPr>
            <a:picLocks noChangeAspect="1"/>
          </p:cNvPicPr>
          <p:nvPr/>
        </p:nvPicPr>
        <p:blipFill>
          <a:blip r:embed="rId5"/>
          <a:stretch>
            <a:fillRect/>
          </a:stretch>
        </p:blipFill>
        <p:spPr>
          <a:xfrm>
            <a:off x="7999903" y="2714671"/>
            <a:ext cx="294803" cy="294803"/>
          </a:xfrm>
          <a:prstGeom prst="rect">
            <a:avLst/>
          </a:prstGeom>
        </p:spPr>
      </p:pic>
      <p:sp>
        <p:nvSpPr>
          <p:cNvPr id="11" name="Text 6"/>
          <p:cNvSpPr txBox="1"/>
          <p:nvPr/>
        </p:nvSpPr>
        <p:spPr>
          <a:xfrm>
            <a:off x="8595360" y="2560320"/>
            <a:ext cx="30632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Deskew restores accuracy</a:t>
            </a:r>
            <a:endParaRPr lang="en-US" sz="1600" dirty="0"/>
          </a:p>
        </p:txBody>
      </p:sp>
      <p:sp>
        <p:nvSpPr>
          <p:cNvPr id="12" name="Text 7"/>
          <p:cNvSpPr txBox="1"/>
          <p:nvPr/>
        </p:nvSpPr>
        <p:spPr>
          <a:xfrm>
            <a:off x="8595360" y="2907792"/>
            <a:ext cx="3063240" cy="685800"/>
          </a:xfrm>
          <a:prstGeom prst="rect">
            <a:avLst/>
          </a:prstGeom>
          <a:noFill/>
          <a:ln/>
        </p:spPr>
        <p:txBody>
          <a:bodyPr wrap="square" lIns="0" tIns="0" rIns="0" bIns="0" rtlCol="0" anchor="t"/>
          <a:lstStyle/>
          <a:p>
            <a:pPr marL="0" indent="0">
              <a:buNone/>
            </a:pPr>
            <a:r>
              <a:rPr lang="en-US" sz="1300" dirty="0">
                <a:solidFill>
                  <a:schemeClr val="accent6"/>
                </a:solidFill>
              </a:rPr>
              <a:t>18.9% at 8° with our preprocessing</a:t>
            </a:r>
            <a:endParaRPr lang="en-US" sz="1300" dirty="0"/>
          </a:p>
        </p:txBody>
      </p:sp>
      <p:sp>
        <p:nvSpPr>
          <p:cNvPr id="13" name="Shape 8"/>
          <p:cNvSpPr/>
          <p:nvPr/>
        </p:nvSpPr>
        <p:spPr>
          <a:xfrm>
            <a:off x="7863840" y="3739896"/>
            <a:ext cx="566928" cy="566928"/>
          </a:xfrm>
          <a:prstGeom prst="ellipse">
            <a:avLst/>
          </a:prstGeom>
          <a:solidFill>
            <a:schemeClr val="bg2"/>
          </a:solidFill>
          <a:ln/>
        </p:spPr>
      </p:sp>
      <p:pic>
        <p:nvPicPr>
          <p:cNvPr id="14" name="Image 2" descr="preencoded.png"/>
          <p:cNvPicPr>
            <a:picLocks noChangeAspect="1"/>
          </p:cNvPicPr>
          <p:nvPr/>
        </p:nvPicPr>
        <p:blipFill>
          <a:blip r:embed="rId6"/>
          <a:stretch>
            <a:fillRect/>
          </a:stretch>
        </p:blipFill>
        <p:spPr>
          <a:xfrm>
            <a:off x="7999903" y="3875959"/>
            <a:ext cx="294803" cy="294803"/>
          </a:xfrm>
          <a:prstGeom prst="rect">
            <a:avLst/>
          </a:prstGeom>
        </p:spPr>
      </p:pic>
      <p:sp>
        <p:nvSpPr>
          <p:cNvPr id="15" name="Text 9"/>
          <p:cNvSpPr txBox="1"/>
          <p:nvPr/>
        </p:nvSpPr>
        <p:spPr>
          <a:xfrm>
            <a:off x="8595360" y="3721608"/>
            <a:ext cx="30632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Noise barely matters</a:t>
            </a:r>
            <a:endParaRPr lang="en-US" sz="1600" dirty="0"/>
          </a:p>
        </p:txBody>
      </p:sp>
      <p:sp>
        <p:nvSpPr>
          <p:cNvPr id="16" name="Text 10"/>
          <p:cNvSpPr txBox="1"/>
          <p:nvPr/>
        </p:nvSpPr>
        <p:spPr>
          <a:xfrm>
            <a:off x="8595360" y="4069080"/>
            <a:ext cx="3063240" cy="685800"/>
          </a:xfrm>
          <a:prstGeom prst="rect">
            <a:avLst/>
          </a:prstGeom>
          <a:noFill/>
          <a:ln/>
        </p:spPr>
        <p:txBody>
          <a:bodyPr wrap="square" lIns="0" tIns="0" rIns="0" bIns="0" rtlCol="0" anchor="t"/>
          <a:lstStyle/>
          <a:p>
            <a:pPr marL="0" indent="0">
              <a:buNone/>
            </a:pPr>
            <a:r>
              <a:rPr lang="en-US" sz="1300" dirty="0">
                <a:solidFill>
                  <a:schemeClr val="accent6"/>
                </a:solidFill>
              </a:rPr>
              <a:t>Heavy noise, 15% contrast or JPEG quality 8 change CER by under 0.2 points</a:t>
            </a:r>
            <a:endParaRPr lang="en-US" sz="1300" dirty="0"/>
          </a:p>
        </p:txBody>
      </p:sp>
      <p:sp>
        <p:nvSpPr>
          <p:cNvPr id="17" name="Shape 11"/>
          <p:cNvSpPr/>
          <p:nvPr/>
        </p:nvSpPr>
        <p:spPr>
          <a:xfrm>
            <a:off x="7863840" y="4901184"/>
            <a:ext cx="566928" cy="566928"/>
          </a:xfrm>
          <a:prstGeom prst="ellipse">
            <a:avLst/>
          </a:prstGeom>
          <a:solidFill>
            <a:schemeClr val="bg2"/>
          </a:solidFill>
          <a:ln/>
        </p:spPr>
      </p:sp>
      <p:pic>
        <p:nvPicPr>
          <p:cNvPr id="18" name="Image 3" descr="preencoded.png"/>
          <p:cNvPicPr>
            <a:picLocks noChangeAspect="1"/>
          </p:cNvPicPr>
          <p:nvPr/>
        </p:nvPicPr>
        <p:blipFill>
          <a:blip r:embed="rId7"/>
          <a:stretch>
            <a:fillRect/>
          </a:stretch>
        </p:blipFill>
        <p:spPr>
          <a:xfrm>
            <a:off x="7999903" y="5037247"/>
            <a:ext cx="294803" cy="294803"/>
          </a:xfrm>
          <a:prstGeom prst="rect">
            <a:avLst/>
          </a:prstGeom>
        </p:spPr>
      </p:pic>
      <p:sp>
        <p:nvSpPr>
          <p:cNvPr id="19" name="Text 12"/>
          <p:cNvSpPr txBox="1"/>
          <p:nvPr/>
        </p:nvSpPr>
        <p:spPr>
          <a:xfrm>
            <a:off x="8595360" y="4882896"/>
            <a:ext cx="30632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TrOCR is most tilt-robust</a:t>
            </a:r>
            <a:endParaRPr lang="en-US" sz="1600" dirty="0"/>
          </a:p>
        </p:txBody>
      </p:sp>
      <p:sp>
        <p:nvSpPr>
          <p:cNvPr id="20" name="Text 13"/>
          <p:cNvSpPr txBox="1"/>
          <p:nvPr/>
        </p:nvSpPr>
        <p:spPr>
          <a:xfrm>
            <a:off x="8595360" y="5230368"/>
            <a:ext cx="3063240" cy="685800"/>
          </a:xfrm>
          <a:prstGeom prst="rect">
            <a:avLst/>
          </a:prstGeom>
          <a:noFill/>
          <a:ln/>
        </p:spPr>
        <p:txBody>
          <a:bodyPr wrap="square" lIns="0" tIns="0" rIns="0" bIns="0" rtlCol="0" anchor="t"/>
          <a:lstStyle/>
          <a:p>
            <a:pPr marL="0" indent="0">
              <a:buNone/>
            </a:pPr>
            <a:r>
              <a:rPr lang="en-US" sz="1300" dirty="0">
                <a:solidFill>
                  <a:schemeClr val="accent6"/>
                </a:solidFill>
              </a:rPr>
              <a:t>6.5% at 8°, but most blur-sensitive</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lens"/>
          <p:cNvSpPr/>
          <p:nvPr/>
        </p:nvSpPr>
        <p:spPr>
          <a:xfrm>
            <a:off x="-2377440" y="3931920"/>
            <a:ext cx="2743200" cy="274320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Layout analysis: from page image to structure</a:t>
            </a:r>
            <a:endParaRPr lang="en-US" sz="3000" dirty="0"/>
          </a:p>
        </p:txBody>
      </p:sp>
      <p:pic>
        <p:nvPicPr>
          <p:cNvPr id="4" name="!!shot" descr="Application form with layout overlay"/>
          <p:cNvPicPr>
            <a:picLocks noChangeAspect="1"/>
          </p:cNvPicPr>
          <p:nvPr/>
        </p:nvPicPr>
        <p:blipFill>
          <a:blip r:embed="rId3"/>
          <a:stretch>
            <a:fillRect/>
          </a:stretch>
        </p:blipFill>
        <p:spPr>
          <a:xfrm>
            <a:off x="548640" y="1371600"/>
            <a:ext cx="7223760" cy="4514850"/>
          </a:xfrm>
          <a:prstGeom prst="rect">
            <a:avLst/>
          </a:prstGeom>
          <a:effectLst>
            <a:outerShdw blurRad="127000" dist="38100" dir="5400000" algn="bl" rotWithShape="0">
              <a:srgbClr val="101828">
                <a:alpha val="16000"/>
              </a:srgbClr>
            </a:outerShdw>
          </a:effectLst>
        </p:spPr>
      </p:pic>
      <p:sp>
        <p:nvSpPr>
          <p:cNvPr id="5" name="Shape 2"/>
          <p:cNvSpPr/>
          <p:nvPr/>
        </p:nvSpPr>
        <p:spPr>
          <a:xfrm>
            <a:off x="8183880" y="1490472"/>
            <a:ext cx="237744" cy="237744"/>
          </a:xfrm>
          <a:prstGeom prst="roundRect">
            <a:avLst>
              <a:gd name="adj" fmla="val 23077"/>
            </a:avLst>
          </a:prstGeom>
          <a:solidFill>
            <a:srgbClr val="7A5AF8"/>
          </a:solidFill>
          <a:ln/>
        </p:spPr>
      </p:sp>
      <p:sp>
        <p:nvSpPr>
          <p:cNvPr id="6" name="Text 3"/>
          <p:cNvSpPr txBox="1"/>
          <p:nvPr/>
        </p:nvSpPr>
        <p:spPr>
          <a:xfrm>
            <a:off x="8595360" y="1417320"/>
            <a:ext cx="30632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Titles and headings</a:t>
            </a:r>
            <a:endParaRPr lang="en-US" sz="1600" dirty="0"/>
          </a:p>
        </p:txBody>
      </p:sp>
      <p:sp>
        <p:nvSpPr>
          <p:cNvPr id="7" name="Text 4"/>
          <p:cNvSpPr txBox="1"/>
          <p:nvPr/>
        </p:nvSpPr>
        <p:spPr>
          <a:xfrm>
            <a:off x="8595360" y="1755648"/>
            <a:ext cx="3063240" cy="329184"/>
          </a:xfrm>
          <a:prstGeom prst="rect">
            <a:avLst/>
          </a:prstGeom>
          <a:noFill/>
          <a:ln/>
        </p:spPr>
        <p:txBody>
          <a:bodyPr wrap="square" lIns="0" tIns="0" rIns="0" bIns="0" rtlCol="0" anchor="t"/>
          <a:lstStyle/>
          <a:p>
            <a:pPr marL="0" indent="0">
              <a:buNone/>
            </a:pPr>
            <a:r>
              <a:rPr lang="en-US" sz="1300" dirty="0">
                <a:solidFill>
                  <a:schemeClr val="accent6"/>
                </a:solidFill>
              </a:rPr>
              <a:t>found from line height and stroke width</a:t>
            </a:r>
            <a:endParaRPr lang="en-US" sz="1300" dirty="0"/>
          </a:p>
        </p:txBody>
      </p:sp>
      <p:sp>
        <p:nvSpPr>
          <p:cNvPr id="8" name="Shape 5"/>
          <p:cNvSpPr/>
          <p:nvPr/>
        </p:nvSpPr>
        <p:spPr>
          <a:xfrm>
            <a:off x="8183880" y="2249424"/>
            <a:ext cx="237744" cy="237744"/>
          </a:xfrm>
          <a:prstGeom prst="roundRect">
            <a:avLst>
              <a:gd name="adj" fmla="val 23077"/>
            </a:avLst>
          </a:prstGeom>
          <a:solidFill>
            <a:srgbClr val="2E90FA"/>
          </a:solidFill>
          <a:ln/>
        </p:spPr>
      </p:sp>
      <p:sp>
        <p:nvSpPr>
          <p:cNvPr id="9" name="Text 6"/>
          <p:cNvSpPr txBox="1"/>
          <p:nvPr/>
        </p:nvSpPr>
        <p:spPr>
          <a:xfrm>
            <a:off x="8595360" y="2176272"/>
            <a:ext cx="30632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Text and key–value rows</a:t>
            </a:r>
            <a:endParaRPr lang="en-US" sz="1600" dirty="0"/>
          </a:p>
        </p:txBody>
      </p:sp>
      <p:sp>
        <p:nvSpPr>
          <p:cNvPr id="10" name="Text 7"/>
          <p:cNvSpPr txBox="1"/>
          <p:nvPr/>
        </p:nvSpPr>
        <p:spPr>
          <a:xfrm>
            <a:off x="8595360" y="2514600"/>
            <a:ext cx="3063240" cy="329184"/>
          </a:xfrm>
          <a:prstGeom prst="rect">
            <a:avLst/>
          </a:prstGeom>
          <a:noFill/>
          <a:ln/>
        </p:spPr>
        <p:txBody>
          <a:bodyPr wrap="square" lIns="0" tIns="0" rIns="0" bIns="0" rtlCol="0" anchor="t"/>
          <a:lstStyle/>
          <a:p>
            <a:pPr marL="0" indent="0">
              <a:buNone/>
            </a:pPr>
            <a:r>
              <a:rPr lang="en-US" sz="1300" dirty="0">
                <a:solidFill>
                  <a:schemeClr val="accent6"/>
                </a:solidFill>
              </a:rPr>
              <a:t>kept in reading order, column by column</a:t>
            </a:r>
            <a:endParaRPr lang="en-US" sz="1300" dirty="0"/>
          </a:p>
        </p:txBody>
      </p:sp>
      <p:sp>
        <p:nvSpPr>
          <p:cNvPr id="11" name="Shape 8"/>
          <p:cNvSpPr/>
          <p:nvPr/>
        </p:nvSpPr>
        <p:spPr>
          <a:xfrm>
            <a:off x="8183880" y="3008376"/>
            <a:ext cx="237744" cy="237744"/>
          </a:xfrm>
          <a:prstGeom prst="roundRect">
            <a:avLst>
              <a:gd name="adj" fmla="val 23077"/>
            </a:avLst>
          </a:prstGeom>
          <a:solidFill>
            <a:srgbClr val="16B364"/>
          </a:solidFill>
          <a:ln/>
        </p:spPr>
      </p:sp>
      <p:sp>
        <p:nvSpPr>
          <p:cNvPr id="12" name="Text 9"/>
          <p:cNvSpPr txBox="1"/>
          <p:nvPr/>
        </p:nvSpPr>
        <p:spPr>
          <a:xfrm>
            <a:off x="8595360" y="2935224"/>
            <a:ext cx="30632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Ruled tables</a:t>
            </a:r>
            <a:endParaRPr lang="en-US" sz="1600" dirty="0"/>
          </a:p>
        </p:txBody>
      </p:sp>
      <p:sp>
        <p:nvSpPr>
          <p:cNvPr id="13" name="Text 10"/>
          <p:cNvSpPr txBox="1"/>
          <p:nvPr/>
        </p:nvSpPr>
        <p:spPr>
          <a:xfrm>
            <a:off x="8595360" y="3273552"/>
            <a:ext cx="3063240" cy="329184"/>
          </a:xfrm>
          <a:prstGeom prst="rect">
            <a:avLst/>
          </a:prstGeom>
          <a:noFill/>
          <a:ln/>
        </p:spPr>
        <p:txBody>
          <a:bodyPr wrap="square" lIns="0" tIns="0" rIns="0" bIns="0" rtlCol="0" anchor="t"/>
          <a:lstStyle/>
          <a:p>
            <a:pPr marL="0" indent="0">
              <a:buNone/>
            </a:pPr>
            <a:r>
              <a:rPr lang="en-US" sz="1300" dirty="0">
                <a:solidFill>
                  <a:schemeClr val="accent6"/>
                </a:solidFill>
              </a:rPr>
              <a:t>rebuilt as Markdown tables</a:t>
            </a:r>
            <a:endParaRPr lang="en-US" sz="1300" dirty="0"/>
          </a:p>
        </p:txBody>
      </p:sp>
      <p:sp>
        <p:nvSpPr>
          <p:cNvPr id="14" name="Shape 11"/>
          <p:cNvSpPr/>
          <p:nvPr/>
        </p:nvSpPr>
        <p:spPr>
          <a:xfrm>
            <a:off x="8183880" y="3767328"/>
            <a:ext cx="237744" cy="237744"/>
          </a:xfrm>
          <a:prstGeom prst="roundRect">
            <a:avLst>
              <a:gd name="adj" fmla="val 23077"/>
            </a:avLst>
          </a:prstGeom>
          <a:solidFill>
            <a:srgbClr val="F79009"/>
          </a:solidFill>
          <a:ln/>
        </p:spPr>
      </p:sp>
      <p:sp>
        <p:nvSpPr>
          <p:cNvPr id="15" name="Text 12"/>
          <p:cNvSpPr txBox="1"/>
          <p:nvPr/>
        </p:nvSpPr>
        <p:spPr>
          <a:xfrm>
            <a:off x="8595360" y="3694176"/>
            <a:ext cx="30632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Checkboxes</a:t>
            </a:r>
            <a:endParaRPr lang="en-US" sz="1600" dirty="0"/>
          </a:p>
        </p:txBody>
      </p:sp>
      <p:sp>
        <p:nvSpPr>
          <p:cNvPr id="16" name="Text 13"/>
          <p:cNvSpPr txBox="1"/>
          <p:nvPr/>
        </p:nvSpPr>
        <p:spPr>
          <a:xfrm>
            <a:off x="8595360" y="4032504"/>
            <a:ext cx="3063240" cy="329184"/>
          </a:xfrm>
          <a:prstGeom prst="rect">
            <a:avLst/>
          </a:prstGeom>
          <a:noFill/>
          <a:ln/>
        </p:spPr>
        <p:txBody>
          <a:bodyPr wrap="square" lIns="0" tIns="0" rIns="0" bIns="0" rtlCol="0" anchor="t"/>
          <a:lstStyle/>
          <a:p>
            <a:pPr marL="0" indent="0">
              <a:buNone/>
            </a:pPr>
            <a:r>
              <a:rPr lang="en-US" sz="1300" dirty="0">
                <a:solidFill>
                  <a:schemeClr val="accent6"/>
                </a:solidFill>
              </a:rPr>
              <a:t>checked, empty or unsure</a:t>
            </a:r>
            <a:endParaRPr lang="en-US" sz="1300" dirty="0"/>
          </a:p>
        </p:txBody>
      </p:sp>
      <p:sp>
        <p:nvSpPr>
          <p:cNvPr id="17" name="Shape 14"/>
          <p:cNvSpPr/>
          <p:nvPr/>
        </p:nvSpPr>
        <p:spPr>
          <a:xfrm>
            <a:off x="8183880" y="4526280"/>
            <a:ext cx="237744" cy="237744"/>
          </a:xfrm>
          <a:prstGeom prst="roundRect">
            <a:avLst>
              <a:gd name="adj" fmla="val 23077"/>
            </a:avLst>
          </a:prstGeom>
          <a:solidFill>
            <a:srgbClr val="EE46BC"/>
          </a:solidFill>
          <a:ln/>
        </p:spPr>
      </p:sp>
      <p:sp>
        <p:nvSpPr>
          <p:cNvPr id="18" name="Text 15"/>
          <p:cNvSpPr txBox="1"/>
          <p:nvPr/>
        </p:nvSpPr>
        <p:spPr>
          <a:xfrm>
            <a:off x="8595360" y="4453128"/>
            <a:ext cx="30632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Signature fields</a:t>
            </a:r>
            <a:endParaRPr lang="en-US" sz="1600" dirty="0"/>
          </a:p>
        </p:txBody>
      </p:sp>
      <p:sp>
        <p:nvSpPr>
          <p:cNvPr id="19" name="Text 16"/>
          <p:cNvSpPr txBox="1"/>
          <p:nvPr/>
        </p:nvSpPr>
        <p:spPr>
          <a:xfrm>
            <a:off x="8595360" y="4791456"/>
            <a:ext cx="3063240" cy="329184"/>
          </a:xfrm>
          <a:prstGeom prst="rect">
            <a:avLst/>
          </a:prstGeom>
          <a:noFill/>
          <a:ln/>
        </p:spPr>
        <p:txBody>
          <a:bodyPr wrap="square" lIns="0" tIns="0" rIns="0" bIns="0" rtlCol="0" anchor="t"/>
          <a:lstStyle/>
          <a:p>
            <a:pPr marL="0" indent="0">
              <a:buNone/>
            </a:pPr>
            <a:r>
              <a:rPr lang="en-US" sz="1300" dirty="0">
                <a:solidFill>
                  <a:schemeClr val="accent6"/>
                </a:solidFill>
              </a:rPr>
              <a:t>from a printed label (not verification)</a:t>
            </a:r>
            <a:endParaRPr lang="en-US" sz="1300" dirty="0"/>
          </a:p>
        </p:txBody>
      </p:sp>
      <p:sp>
        <p:nvSpPr>
          <p:cNvPr id="20" name="Shape 17"/>
          <p:cNvSpPr/>
          <p:nvPr/>
        </p:nvSpPr>
        <p:spPr>
          <a:xfrm>
            <a:off x="8183880" y="5285232"/>
            <a:ext cx="237744" cy="237744"/>
          </a:xfrm>
          <a:prstGeom prst="roundRect">
            <a:avLst>
              <a:gd name="adj" fmla="val 23077"/>
            </a:avLst>
          </a:prstGeom>
          <a:solidFill>
            <a:srgbClr val="F04438"/>
          </a:solidFill>
          <a:ln/>
        </p:spPr>
      </p:sp>
      <p:sp>
        <p:nvSpPr>
          <p:cNvPr id="21" name="Text 18"/>
          <p:cNvSpPr txBox="1"/>
          <p:nvPr/>
        </p:nvSpPr>
        <p:spPr>
          <a:xfrm>
            <a:off x="8595360" y="5212080"/>
            <a:ext cx="30632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Low-confidence lines</a:t>
            </a:r>
            <a:endParaRPr lang="en-US" sz="1600" dirty="0"/>
          </a:p>
        </p:txBody>
      </p:sp>
      <p:sp>
        <p:nvSpPr>
          <p:cNvPr id="22" name="Text 19"/>
          <p:cNvSpPr txBox="1"/>
          <p:nvPr/>
        </p:nvSpPr>
        <p:spPr>
          <a:xfrm>
            <a:off x="8595360" y="5550408"/>
            <a:ext cx="3063240" cy="329184"/>
          </a:xfrm>
          <a:prstGeom prst="rect">
            <a:avLst/>
          </a:prstGeom>
          <a:noFill/>
          <a:ln/>
        </p:spPr>
        <p:txBody>
          <a:bodyPr wrap="square" lIns="0" tIns="0" rIns="0" bIns="0" rtlCol="0" anchor="t"/>
          <a:lstStyle/>
          <a:p>
            <a:pPr marL="0" indent="0">
              <a:buNone/>
            </a:pPr>
            <a:r>
              <a:rPr lang="en-US" sz="1300" dirty="0">
                <a:solidFill>
                  <a:schemeClr val="accent6"/>
                </a:solidFill>
              </a:rPr>
              <a:t>sent to the review queue</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ens"/>
          <p:cNvSpPr/>
          <p:nvPr/>
        </p:nvSpPr>
        <p:spPr>
          <a:xfrm>
            <a:off x="10515600" y="-1737360"/>
            <a:ext cx="2926080" cy="2926080"/>
          </a:xfrm>
          <a:prstGeom prst="ellipse">
            <a:avLst/>
          </a:prstGeom>
          <a:solidFill>
            <a:schemeClr val="accent1">
              <a:alpha val="10000"/>
            </a:schemeClr>
          </a:solidFill>
          <a:ln/>
        </p:spPr>
      </p:sp>
      <p:sp>
        <p:nvSpPr>
          <p:cNvPr id="3"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tx1"/>
                </a:solidFill>
              </a:rPr>
              <a:t>The DeepOCR studio: review instead of retyping</a:t>
            </a:r>
            <a:endParaRPr lang="en-US" sz="3000" dirty="0"/>
          </a:p>
        </p:txBody>
      </p:sp>
      <p:pic>
        <p:nvPicPr>
          <p:cNvPr id="4" name="!!shot" descr="Results workspace with a disputed word's alternatives"/>
          <p:cNvPicPr>
            <a:picLocks noChangeAspect="1"/>
          </p:cNvPicPr>
          <p:nvPr/>
        </p:nvPicPr>
        <p:blipFill>
          <a:blip r:embed="rId3"/>
          <a:stretch>
            <a:fillRect/>
          </a:stretch>
        </p:blipFill>
        <p:spPr>
          <a:xfrm>
            <a:off x="4343400" y="1371600"/>
            <a:ext cx="7269480" cy="4543425"/>
          </a:xfrm>
          <a:prstGeom prst="rect">
            <a:avLst/>
          </a:prstGeom>
          <a:effectLst>
            <a:outerShdw blurRad="127000" dist="38100" dir="5400000" algn="bl" rotWithShape="0">
              <a:srgbClr val="101828">
                <a:alpha val="16000"/>
              </a:srgbClr>
            </a:outerShdw>
          </a:effectLst>
        </p:spPr>
      </p:pic>
      <p:sp>
        <p:nvSpPr>
          <p:cNvPr id="5" name="Shape 2"/>
          <p:cNvSpPr/>
          <p:nvPr/>
        </p:nvSpPr>
        <p:spPr>
          <a:xfrm>
            <a:off x="548640" y="1417320"/>
            <a:ext cx="566928" cy="566928"/>
          </a:xfrm>
          <a:prstGeom prst="ellipse">
            <a:avLst/>
          </a:prstGeom>
          <a:solidFill>
            <a:schemeClr val="bg2"/>
          </a:solidFill>
          <a:ln/>
        </p:spPr>
      </p:sp>
      <p:pic>
        <p:nvPicPr>
          <p:cNvPr id="6" name="Image 1" descr="preencoded.png"/>
          <p:cNvPicPr>
            <a:picLocks noChangeAspect="1"/>
          </p:cNvPicPr>
          <p:nvPr/>
        </p:nvPicPr>
        <p:blipFill>
          <a:blip r:embed="rId4"/>
          <a:stretch>
            <a:fillRect/>
          </a:stretch>
        </p:blipFill>
        <p:spPr>
          <a:xfrm>
            <a:off x="684703" y="1553383"/>
            <a:ext cx="294803" cy="294803"/>
          </a:xfrm>
          <a:prstGeom prst="rect">
            <a:avLst/>
          </a:prstGeom>
        </p:spPr>
      </p:pic>
      <p:sp>
        <p:nvSpPr>
          <p:cNvPr id="7" name="Text 3"/>
          <p:cNvSpPr txBox="1"/>
          <p:nvPr/>
        </p:nvSpPr>
        <p:spPr>
          <a:xfrm>
            <a:off x="1280160" y="1399032"/>
            <a:ext cx="28346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Live progress</a:t>
            </a:r>
            <a:endParaRPr lang="en-US" sz="1600" dirty="0"/>
          </a:p>
        </p:txBody>
      </p:sp>
      <p:sp>
        <p:nvSpPr>
          <p:cNvPr id="8" name="Text 4"/>
          <p:cNvSpPr txBox="1"/>
          <p:nvPr/>
        </p:nvSpPr>
        <p:spPr>
          <a:xfrm>
            <a:off x="1280160" y="1746504"/>
            <a:ext cx="2834640" cy="640080"/>
          </a:xfrm>
          <a:prstGeom prst="rect">
            <a:avLst/>
          </a:prstGeom>
          <a:noFill/>
          <a:ln/>
        </p:spPr>
        <p:txBody>
          <a:bodyPr wrap="square" lIns="0" tIns="0" rIns="0" bIns="0" rtlCol="0" anchor="t"/>
          <a:lstStyle/>
          <a:p>
            <a:pPr marL="0" indent="0">
              <a:buNone/>
            </a:pPr>
            <a:r>
              <a:rPr lang="en-US" sz="1300" dirty="0">
                <a:solidFill>
                  <a:schemeClr val="accent6"/>
                </a:solidFill>
              </a:rPr>
              <a:t>Every stage and every model, with cancel</a:t>
            </a:r>
            <a:endParaRPr lang="en-US" sz="1300" dirty="0"/>
          </a:p>
        </p:txBody>
      </p:sp>
      <p:sp>
        <p:nvSpPr>
          <p:cNvPr id="9" name="Shape 5"/>
          <p:cNvSpPr/>
          <p:nvPr/>
        </p:nvSpPr>
        <p:spPr>
          <a:xfrm>
            <a:off x="548640" y="2532888"/>
            <a:ext cx="566928" cy="566928"/>
          </a:xfrm>
          <a:prstGeom prst="ellipse">
            <a:avLst/>
          </a:prstGeom>
          <a:solidFill>
            <a:schemeClr val="bg2"/>
          </a:solidFill>
          <a:ln/>
        </p:spPr>
      </p:sp>
      <p:pic>
        <p:nvPicPr>
          <p:cNvPr id="10" name="Image 2" descr="preencoded.png"/>
          <p:cNvPicPr>
            <a:picLocks noChangeAspect="1"/>
          </p:cNvPicPr>
          <p:nvPr/>
        </p:nvPicPr>
        <p:blipFill>
          <a:blip r:embed="rId5"/>
          <a:stretch>
            <a:fillRect/>
          </a:stretch>
        </p:blipFill>
        <p:spPr>
          <a:xfrm>
            <a:off x="684703" y="2668951"/>
            <a:ext cx="294803" cy="294803"/>
          </a:xfrm>
          <a:prstGeom prst="rect">
            <a:avLst/>
          </a:prstGeom>
        </p:spPr>
      </p:pic>
      <p:sp>
        <p:nvSpPr>
          <p:cNvPr id="11" name="Text 6"/>
          <p:cNvSpPr txBox="1"/>
          <p:nvPr/>
        </p:nvSpPr>
        <p:spPr>
          <a:xfrm>
            <a:off x="1280160" y="2514600"/>
            <a:ext cx="28346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Disputed words</a:t>
            </a:r>
            <a:endParaRPr lang="en-US" sz="1600" dirty="0"/>
          </a:p>
        </p:txBody>
      </p:sp>
      <p:sp>
        <p:nvSpPr>
          <p:cNvPr id="12" name="Text 7"/>
          <p:cNvSpPr txBox="1"/>
          <p:nvPr/>
        </p:nvSpPr>
        <p:spPr>
          <a:xfrm>
            <a:off x="1280160" y="2862072"/>
            <a:ext cx="2834640" cy="640080"/>
          </a:xfrm>
          <a:prstGeom prst="rect">
            <a:avLst/>
          </a:prstGeom>
          <a:noFill/>
          <a:ln/>
        </p:spPr>
        <p:txBody>
          <a:bodyPr wrap="square" lIns="0" tIns="0" rIns="0" bIns="0" rtlCol="0" anchor="t"/>
          <a:lstStyle/>
          <a:p>
            <a:pPr marL="0" indent="0">
              <a:buNone/>
            </a:pPr>
            <a:r>
              <a:rPr lang="en-US" sz="1300" dirty="0">
                <a:solidFill>
                  <a:schemeClr val="accent6"/>
                </a:solidFill>
              </a:rPr>
              <a:t>One click swaps in another model's reading</a:t>
            </a:r>
            <a:endParaRPr lang="en-US" sz="1300" dirty="0"/>
          </a:p>
        </p:txBody>
      </p:sp>
      <p:sp>
        <p:nvSpPr>
          <p:cNvPr id="13" name="Shape 8"/>
          <p:cNvSpPr/>
          <p:nvPr/>
        </p:nvSpPr>
        <p:spPr>
          <a:xfrm>
            <a:off x="548640" y="3648456"/>
            <a:ext cx="566928" cy="566928"/>
          </a:xfrm>
          <a:prstGeom prst="ellipse">
            <a:avLst/>
          </a:prstGeom>
          <a:solidFill>
            <a:schemeClr val="bg2"/>
          </a:solidFill>
          <a:ln/>
        </p:spPr>
      </p:sp>
      <p:pic>
        <p:nvPicPr>
          <p:cNvPr id="14" name="Image 3" descr="preencoded.png"/>
          <p:cNvPicPr>
            <a:picLocks noChangeAspect="1"/>
          </p:cNvPicPr>
          <p:nvPr/>
        </p:nvPicPr>
        <p:blipFill>
          <a:blip r:embed="rId6"/>
          <a:stretch>
            <a:fillRect/>
          </a:stretch>
        </p:blipFill>
        <p:spPr>
          <a:xfrm>
            <a:off x="684703" y="3784519"/>
            <a:ext cx="294803" cy="294803"/>
          </a:xfrm>
          <a:prstGeom prst="rect">
            <a:avLst/>
          </a:prstGeom>
        </p:spPr>
      </p:pic>
      <p:sp>
        <p:nvSpPr>
          <p:cNvPr id="15" name="Text 9"/>
          <p:cNvSpPr txBox="1"/>
          <p:nvPr/>
        </p:nvSpPr>
        <p:spPr>
          <a:xfrm>
            <a:off x="1280160" y="3630168"/>
            <a:ext cx="28346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Review queue</a:t>
            </a:r>
            <a:endParaRPr lang="en-US" sz="1600" dirty="0"/>
          </a:p>
        </p:txBody>
      </p:sp>
      <p:sp>
        <p:nvSpPr>
          <p:cNvPr id="16" name="Text 10"/>
          <p:cNvSpPr txBox="1"/>
          <p:nvPr/>
        </p:nvSpPr>
        <p:spPr>
          <a:xfrm>
            <a:off x="1280160" y="3977640"/>
            <a:ext cx="2834640" cy="640080"/>
          </a:xfrm>
          <a:prstGeom prst="rect">
            <a:avLst/>
          </a:prstGeom>
          <a:noFill/>
          <a:ln/>
        </p:spPr>
        <p:txBody>
          <a:bodyPr wrap="square" lIns="0" tIns="0" rIns="0" bIns="0" rtlCol="0" anchor="t"/>
          <a:lstStyle/>
          <a:p>
            <a:pPr marL="0" indent="0">
              <a:buNone/>
            </a:pPr>
            <a:r>
              <a:rPr lang="en-US" sz="1300" dirty="0">
                <a:solidFill>
                  <a:schemeClr val="accent6"/>
                </a:solidFill>
              </a:rPr>
              <a:t>Unclear lines, tables, checkboxes, signatures</a:t>
            </a:r>
            <a:endParaRPr lang="en-US" sz="1300" dirty="0"/>
          </a:p>
        </p:txBody>
      </p:sp>
      <p:sp>
        <p:nvSpPr>
          <p:cNvPr id="17" name="Shape 11"/>
          <p:cNvSpPr/>
          <p:nvPr/>
        </p:nvSpPr>
        <p:spPr>
          <a:xfrm>
            <a:off x="548640" y="4764024"/>
            <a:ext cx="566928" cy="566928"/>
          </a:xfrm>
          <a:prstGeom prst="ellipse">
            <a:avLst/>
          </a:prstGeom>
          <a:solidFill>
            <a:schemeClr val="bg2"/>
          </a:solidFill>
          <a:ln/>
        </p:spPr>
      </p:sp>
      <p:pic>
        <p:nvPicPr>
          <p:cNvPr id="18" name="Image 4" descr="preencoded.png"/>
          <p:cNvPicPr>
            <a:picLocks noChangeAspect="1"/>
          </p:cNvPicPr>
          <p:nvPr/>
        </p:nvPicPr>
        <p:blipFill>
          <a:blip r:embed="rId7"/>
          <a:stretch>
            <a:fillRect/>
          </a:stretch>
        </p:blipFill>
        <p:spPr>
          <a:xfrm>
            <a:off x="684703" y="4900087"/>
            <a:ext cx="294803" cy="294803"/>
          </a:xfrm>
          <a:prstGeom prst="rect">
            <a:avLst/>
          </a:prstGeom>
        </p:spPr>
      </p:pic>
      <p:sp>
        <p:nvSpPr>
          <p:cNvPr id="19" name="Text 12"/>
          <p:cNvSpPr txBox="1"/>
          <p:nvPr/>
        </p:nvSpPr>
        <p:spPr>
          <a:xfrm>
            <a:off x="1280160" y="4745736"/>
            <a:ext cx="2834640" cy="347472"/>
          </a:xfrm>
          <a:prstGeom prst="rect">
            <a:avLst/>
          </a:prstGeom>
          <a:noFill/>
          <a:ln/>
        </p:spPr>
        <p:txBody>
          <a:bodyPr wrap="square" lIns="0" tIns="0" rIns="0" bIns="0" rtlCol="0" anchor="t"/>
          <a:lstStyle/>
          <a:p>
            <a:pPr marL="0" indent="0">
              <a:buNone/>
            </a:pPr>
            <a:r>
              <a:rPr lang="en-US" sz="1600" dirty="0">
                <a:solidFill>
                  <a:schemeClr val="tx1"/>
                </a:solidFill>
                <a:latin typeface="Segoe UI Semibold" pitchFamily="34" charset="0"/>
                <a:ea typeface="Segoe UI Semibold" pitchFamily="34" charset="-122"/>
                <a:cs typeface="Segoe UI Semibold" pitchFamily="34" charset="-120"/>
              </a:rPr>
              <a:t>Export</a:t>
            </a:r>
            <a:endParaRPr lang="en-US" sz="1600" dirty="0"/>
          </a:p>
        </p:txBody>
      </p:sp>
      <p:sp>
        <p:nvSpPr>
          <p:cNvPr id="20" name="Text 13"/>
          <p:cNvSpPr txBox="1"/>
          <p:nvPr/>
        </p:nvSpPr>
        <p:spPr>
          <a:xfrm>
            <a:off x="1280160" y="5093208"/>
            <a:ext cx="2834640" cy="640080"/>
          </a:xfrm>
          <a:prstGeom prst="rect">
            <a:avLst/>
          </a:prstGeom>
          <a:noFill/>
          <a:ln/>
        </p:spPr>
        <p:txBody>
          <a:bodyPr wrap="square" lIns="0" tIns="0" rIns="0" bIns="0" rtlCol="0" anchor="t"/>
          <a:lstStyle/>
          <a:p>
            <a:pPr marL="0" indent="0">
              <a:buNone/>
            </a:pPr>
            <a:r>
              <a:rPr lang="en-US" sz="1300" dirty="0">
                <a:solidFill>
                  <a:schemeClr val="accent6"/>
                </a:solidFill>
              </a:rPr>
              <a:t>Markdown, plain text or JSON with coordinates</a:t>
            </a:r>
            <a:endParaRPr lang="en-US" sz="1300" dirty="0"/>
          </a:p>
        </p:txBody>
      </p:sp>
      <p:sp>
        <p:nvSpPr>
          <p:cNvPr id="21" name="Text 14"/>
          <p:cNvSpPr txBox="1"/>
          <p:nvPr/>
        </p:nvSpPr>
        <p:spPr>
          <a:xfrm>
            <a:off x="548640" y="5943600"/>
            <a:ext cx="3657600" cy="365760"/>
          </a:xfrm>
          <a:prstGeom prst="rect">
            <a:avLst/>
          </a:prstGeom>
          <a:noFill/>
          <a:ln/>
        </p:spPr>
        <p:txBody>
          <a:bodyPr wrap="square" lIns="0" tIns="0" rIns="0" bIns="0" rtlCol="0" anchor="t"/>
          <a:lstStyle/>
          <a:p>
            <a:pPr marL="0" indent="0">
              <a:buNone/>
            </a:pPr>
            <a:r>
              <a:rPr lang="en-US" sz="1100" dirty="0">
                <a:solidFill>
                  <a:schemeClr val="accent6"/>
                </a:solidFill>
              </a:rPr>
              <a:t>Also: Compare engines side by side, the Research results page, and a phone layout</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ens"/>
          <p:cNvSpPr/>
          <p:nvPr/>
        </p:nvSpPr>
        <p:spPr>
          <a:xfrm>
            <a:off x="7543800" y="777240"/>
            <a:ext cx="5303520" cy="5303520"/>
          </a:xfrm>
          <a:prstGeom prst="ellipse">
            <a:avLst/>
          </a:prstGeom>
          <a:solidFill>
            <a:schemeClr val="accent1"/>
          </a:solidFill>
          <a:ln/>
        </p:spPr>
      </p:sp>
      <p:sp>
        <p:nvSpPr>
          <p:cNvPr id="3" name="!!mark1"/>
          <p:cNvSpPr/>
          <p:nvPr/>
        </p:nvSpPr>
        <p:spPr>
          <a:xfrm>
            <a:off x="9052560" y="2240280"/>
            <a:ext cx="2286000" cy="219456"/>
          </a:xfrm>
          <a:prstGeom prst="roundRect">
            <a:avLst>
              <a:gd name="adj" fmla="val 50000"/>
            </a:avLst>
          </a:prstGeom>
          <a:solidFill>
            <a:schemeClr val="bg1"/>
          </a:solidFill>
          <a:ln/>
        </p:spPr>
      </p:sp>
      <p:sp>
        <p:nvSpPr>
          <p:cNvPr id="4" name="!!mark2"/>
          <p:cNvSpPr/>
          <p:nvPr/>
        </p:nvSpPr>
        <p:spPr>
          <a:xfrm>
            <a:off x="9052560" y="2624328"/>
            <a:ext cx="1600200" cy="219456"/>
          </a:xfrm>
          <a:prstGeom prst="roundRect">
            <a:avLst>
              <a:gd name="adj" fmla="val 50000"/>
            </a:avLst>
          </a:prstGeom>
          <a:solidFill>
            <a:schemeClr val="bg1">
              <a:alpha val="85000"/>
            </a:schemeClr>
          </a:solidFill>
          <a:ln/>
        </p:spPr>
      </p:sp>
      <p:sp>
        <p:nvSpPr>
          <p:cNvPr id="5" name="!!mark3"/>
          <p:cNvSpPr/>
          <p:nvPr/>
        </p:nvSpPr>
        <p:spPr>
          <a:xfrm>
            <a:off x="9052560" y="3008376"/>
            <a:ext cx="1920240" cy="219456"/>
          </a:xfrm>
          <a:prstGeom prst="roundRect">
            <a:avLst>
              <a:gd name="adj" fmla="val 50000"/>
            </a:avLst>
          </a:prstGeom>
          <a:solidFill>
            <a:schemeClr val="bg1">
              <a:alpha val="70000"/>
            </a:schemeClr>
          </a:solidFill>
          <a:ln/>
        </p:spPr>
      </p:sp>
      <p:sp>
        <p:nvSpPr>
          <p:cNvPr id="6" name="Text 4"/>
          <p:cNvSpPr txBox="1"/>
          <p:nvPr/>
        </p:nvSpPr>
        <p:spPr>
          <a:xfrm>
            <a:off x="7543800" y="3566160"/>
            <a:ext cx="5303520" cy="731520"/>
          </a:xfrm>
          <a:prstGeom prst="rect">
            <a:avLst/>
          </a:prstGeom>
          <a:noFill/>
          <a:ln/>
        </p:spPr>
        <p:txBody>
          <a:bodyPr wrap="square" lIns="0" tIns="0" rIns="0" bIns="0" rtlCol="0" anchor="t"/>
          <a:lstStyle/>
          <a:p>
            <a:pPr marL="0" indent="0" algn="ctr">
              <a:buNone/>
            </a:pPr>
            <a:r>
              <a:rPr lang="en-US" sz="4000" b="1" dirty="0">
                <a:solidFill>
                  <a:schemeClr val="bg1"/>
                </a:solidFill>
                <a:latin typeface="Segoe UI Semibold" pitchFamily="34" charset="0"/>
                <a:ea typeface="Segoe UI Semibold" pitchFamily="34" charset="-122"/>
                <a:cs typeface="Segoe UI Semibold" pitchFamily="34" charset="-120"/>
              </a:rPr>
              <a:t>Thank you</a:t>
            </a:r>
            <a:endParaRPr lang="en-US" sz="4000" dirty="0"/>
          </a:p>
        </p:txBody>
      </p:sp>
      <p:sp>
        <p:nvSpPr>
          <p:cNvPr id="7" name="Text 5"/>
          <p:cNvSpPr txBox="1"/>
          <p:nvPr/>
        </p:nvSpPr>
        <p:spPr>
          <a:xfrm>
            <a:off x="7543800" y="4297680"/>
            <a:ext cx="5303520" cy="457200"/>
          </a:xfrm>
          <a:prstGeom prst="rect">
            <a:avLst/>
          </a:prstGeom>
          <a:noFill/>
          <a:ln/>
        </p:spPr>
        <p:txBody>
          <a:bodyPr wrap="square" lIns="0" tIns="0" rIns="0" bIns="0" rtlCol="0" anchor="t"/>
          <a:lstStyle/>
          <a:p>
            <a:pPr marL="0" indent="0" algn="ctr">
              <a:buNone/>
            </a:pPr>
            <a:r>
              <a:rPr lang="en-US" sz="2000" dirty="0">
                <a:solidFill>
                  <a:srgbClr val="C7D2FE"/>
                </a:solidFill>
              </a:rPr>
              <a:t>Questions?</a:t>
            </a:r>
            <a:endParaRPr lang="en-US" sz="2000" dirty="0"/>
          </a:p>
        </p:txBody>
      </p:sp>
      <p:sp>
        <p:nvSpPr>
          <p:cNvPr id="8" name="Text 0"/>
          <p:cNvSpPr>
            <a:spLocks noGrp="1"/>
          </p:cNvSpPr>
          <p:nvPr>
            <p:ph type="title" idx="100" hasCustomPrompt="1"/>
          </p:nvPr>
        </p:nvSpPr>
        <p:spPr>
          <a:xfrm>
            <a:off x="548640" y="384048"/>
            <a:ext cx="9509760" cy="777240"/>
          </a:xfrm>
          <a:prstGeom prst="rect">
            <a:avLst/>
          </a:prstGeom>
          <a:noFill/>
          <a:ln/>
        </p:spPr>
        <p:txBody>
          <a:bodyPr wrap="square" lIns="0" tIns="0" rIns="0" bIns="0" rtlCol="0" anchor="ctr"/>
          <a:lstStyle/>
          <a:p>
            <a:pPr marL="0" indent="0" algn="l">
              <a:buNone/>
            </a:pPr>
            <a:r>
              <a:rPr lang="en-US" sz="3000" dirty="0">
                <a:solidFill>
                  <a:schemeClr val="bg1"/>
                </a:solidFill>
              </a:rPr>
              <a:t>Conclusion and future work</a:t>
            </a:r>
            <a:endParaRPr lang="en-US" sz="3000" dirty="0"/>
          </a:p>
        </p:txBody>
      </p:sp>
      <p:sp>
        <p:nvSpPr>
          <p:cNvPr id="9" name="Text 7"/>
          <p:cNvSpPr txBox="1"/>
          <p:nvPr/>
        </p:nvSpPr>
        <p:spPr>
          <a:xfrm>
            <a:off x="548640" y="1325880"/>
            <a:ext cx="6583680" cy="411480"/>
          </a:xfrm>
          <a:prstGeom prst="rect">
            <a:avLst/>
          </a:prstGeom>
          <a:noFill/>
          <a:ln/>
        </p:spPr>
        <p:txBody>
          <a:bodyPr wrap="square" lIns="0" tIns="0" rIns="0" bIns="0" rtlCol="0" anchor="t"/>
          <a:lstStyle/>
          <a:p>
            <a:pPr marL="0" indent="0">
              <a:buNone/>
            </a:pPr>
            <a:r>
              <a:rPr lang="en-US" sz="1800" b="1" dirty="0">
                <a:solidFill>
                  <a:srgbClr val="C7D2FE"/>
                </a:solidFill>
              </a:rPr>
              <a:t>All eight proposal objectives met</a:t>
            </a:r>
            <a:endParaRPr lang="en-US" sz="1800" dirty="0"/>
          </a:p>
        </p:txBody>
      </p:sp>
      <p:sp>
        <p:nvSpPr>
          <p:cNvPr id="10" name="Text 8"/>
          <p:cNvSpPr txBox="1"/>
          <p:nvPr/>
        </p:nvSpPr>
        <p:spPr>
          <a:xfrm>
            <a:off x="548640" y="1828800"/>
            <a:ext cx="6583680" cy="1828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Two CTC models trained from scratch on a CPU; TrOCR fine‑tuned (print CER 20.4% → 2.6%)</a:t>
            </a:r>
            <a:endParaRPr lang="en-US" sz="1600" dirty="0"/>
          </a:p>
          <a:p>
            <a:pPr marL="342900" indent="-342900">
              <a:spcAft>
                <a:spcPts val="1000"/>
              </a:spcAft>
              <a:buSzPct val="100000"/>
              <a:buChar char="•"/>
            </a:pPr>
            <a:r>
              <a:rPr lang="en-US" sz="1600" dirty="0">
                <a:solidFill>
                  <a:schemeClr val="bg1"/>
                </a:solidFill>
              </a:rPr>
              <a:t>Consensus vote: best accuracy (5.74% / 2.35% CER) and a guide for human review</a:t>
            </a:r>
            <a:endParaRPr lang="en-US" sz="1600" dirty="0"/>
          </a:p>
          <a:p>
            <a:pPr marL="342900" indent="-342900">
              <a:spcAft>
                <a:spcPts val="1000"/>
              </a:spcAft>
              <a:buSzPct val="100000"/>
              <a:buChar char="•"/>
            </a:pPr>
            <a:r>
              <a:rPr lang="en-US" sz="1600" dirty="0">
                <a:solidFill>
                  <a:schemeClr val="bg1"/>
                </a:solidFill>
              </a:rPr>
              <a:t>Complete pipeline and web studio, covered by 135 automated tests</a:t>
            </a:r>
            <a:endParaRPr lang="en-US" sz="1600" dirty="0"/>
          </a:p>
        </p:txBody>
      </p:sp>
      <p:sp>
        <p:nvSpPr>
          <p:cNvPr id="11" name="Text 9"/>
          <p:cNvSpPr txBox="1"/>
          <p:nvPr/>
        </p:nvSpPr>
        <p:spPr>
          <a:xfrm>
            <a:off x="548640" y="3977640"/>
            <a:ext cx="6583680" cy="365760"/>
          </a:xfrm>
          <a:prstGeom prst="rect">
            <a:avLst/>
          </a:prstGeom>
          <a:noFill/>
          <a:ln/>
        </p:spPr>
        <p:txBody>
          <a:bodyPr wrap="square" lIns="0" tIns="0" rIns="0" bIns="0" rtlCol="0" anchor="t"/>
          <a:lstStyle/>
          <a:p>
            <a:pPr marL="0" indent="0">
              <a:buNone/>
            </a:pPr>
            <a:r>
              <a:rPr lang="en-US" sz="1600" b="1" dirty="0">
                <a:solidFill>
                  <a:srgbClr val="C7D2FE"/>
                </a:solidFill>
              </a:rPr>
              <a:t>Future work</a:t>
            </a:r>
            <a:endParaRPr lang="en-US" sz="1600" dirty="0"/>
          </a:p>
        </p:txBody>
      </p:sp>
      <p:sp>
        <p:nvSpPr>
          <p:cNvPr id="12" name="Shape 10"/>
          <p:cNvSpPr/>
          <p:nvPr/>
        </p:nvSpPr>
        <p:spPr>
          <a:xfrm>
            <a:off x="548640" y="4434840"/>
            <a:ext cx="3154680" cy="475488"/>
          </a:xfrm>
          <a:prstGeom prst="roundRect">
            <a:avLst>
              <a:gd name="adj" fmla="val 50000"/>
            </a:avLst>
          </a:prstGeom>
          <a:solidFill>
            <a:schemeClr val="bg1">
              <a:alpha val="12000"/>
            </a:schemeClr>
          </a:solidFill>
          <a:ln w="9525">
            <a:solidFill>
              <a:srgbClr val="C7D2FE"/>
            </a:solidFill>
            <a:prstDash val="solid"/>
          </a:ln>
        </p:spPr>
      </p:sp>
      <p:sp>
        <p:nvSpPr>
          <p:cNvPr id="13" name="Text 11"/>
          <p:cNvSpPr txBox="1"/>
          <p:nvPr/>
        </p:nvSpPr>
        <p:spPr>
          <a:xfrm>
            <a:off x="548640" y="4434840"/>
            <a:ext cx="3154680" cy="475488"/>
          </a:xfrm>
          <a:prstGeom prst="rect">
            <a:avLst/>
          </a:prstGeom>
          <a:noFill/>
          <a:ln/>
        </p:spPr>
        <p:txBody>
          <a:bodyPr wrap="square" lIns="0" tIns="0" rIns="0" bIns="0" rtlCol="0" anchor="ctr"/>
          <a:lstStyle/>
          <a:p>
            <a:pPr marL="0" indent="0" algn="ctr">
              <a:buNone/>
            </a:pPr>
            <a:r>
              <a:rPr lang="en-US" sz="1400" dirty="0">
                <a:solidFill>
                  <a:schemeClr val="bg1"/>
                </a:solidFill>
              </a:rPr>
              <a:t>Hindi &amp; multilingual</a:t>
            </a:r>
            <a:endParaRPr lang="en-US" sz="1400" dirty="0"/>
          </a:p>
        </p:txBody>
      </p:sp>
      <p:sp>
        <p:nvSpPr>
          <p:cNvPr id="14" name="Shape 12"/>
          <p:cNvSpPr/>
          <p:nvPr/>
        </p:nvSpPr>
        <p:spPr>
          <a:xfrm>
            <a:off x="3886200" y="4434840"/>
            <a:ext cx="3154680" cy="475488"/>
          </a:xfrm>
          <a:prstGeom prst="roundRect">
            <a:avLst>
              <a:gd name="adj" fmla="val 50000"/>
            </a:avLst>
          </a:prstGeom>
          <a:solidFill>
            <a:schemeClr val="bg1">
              <a:alpha val="12000"/>
            </a:schemeClr>
          </a:solidFill>
          <a:ln w="9525">
            <a:solidFill>
              <a:srgbClr val="C7D2FE"/>
            </a:solidFill>
            <a:prstDash val="solid"/>
          </a:ln>
        </p:spPr>
      </p:sp>
      <p:sp>
        <p:nvSpPr>
          <p:cNvPr id="15" name="Text 13"/>
          <p:cNvSpPr txBox="1"/>
          <p:nvPr/>
        </p:nvSpPr>
        <p:spPr>
          <a:xfrm>
            <a:off x="3886200" y="4434840"/>
            <a:ext cx="3154680" cy="475488"/>
          </a:xfrm>
          <a:prstGeom prst="rect">
            <a:avLst/>
          </a:prstGeom>
          <a:noFill/>
          <a:ln/>
        </p:spPr>
        <p:txBody>
          <a:bodyPr wrap="square" lIns="0" tIns="0" rIns="0" bIns="0" rtlCol="0" anchor="ctr"/>
          <a:lstStyle/>
          <a:p>
            <a:pPr marL="0" indent="0" algn="ctr">
              <a:buNone/>
            </a:pPr>
            <a:r>
              <a:rPr lang="en-US" sz="1400" dirty="0">
                <a:solidFill>
                  <a:schemeClr val="bg1"/>
                </a:solidFill>
              </a:rPr>
              <a:t>Learned layout (LayoutLM)</a:t>
            </a:r>
            <a:endParaRPr lang="en-US" sz="1400" dirty="0"/>
          </a:p>
        </p:txBody>
      </p:sp>
      <p:sp>
        <p:nvSpPr>
          <p:cNvPr id="16" name="Shape 14"/>
          <p:cNvSpPr/>
          <p:nvPr/>
        </p:nvSpPr>
        <p:spPr>
          <a:xfrm>
            <a:off x="548640" y="5056632"/>
            <a:ext cx="3154680" cy="475488"/>
          </a:xfrm>
          <a:prstGeom prst="roundRect">
            <a:avLst>
              <a:gd name="adj" fmla="val 50000"/>
            </a:avLst>
          </a:prstGeom>
          <a:solidFill>
            <a:schemeClr val="bg1">
              <a:alpha val="12000"/>
            </a:schemeClr>
          </a:solidFill>
          <a:ln w="9525">
            <a:solidFill>
              <a:srgbClr val="C7D2FE"/>
            </a:solidFill>
            <a:prstDash val="solid"/>
          </a:ln>
        </p:spPr>
      </p:sp>
      <p:sp>
        <p:nvSpPr>
          <p:cNvPr id="17" name="Text 15"/>
          <p:cNvSpPr txBox="1"/>
          <p:nvPr/>
        </p:nvSpPr>
        <p:spPr>
          <a:xfrm>
            <a:off x="548640" y="5056632"/>
            <a:ext cx="3154680" cy="475488"/>
          </a:xfrm>
          <a:prstGeom prst="rect">
            <a:avLst/>
          </a:prstGeom>
          <a:noFill/>
          <a:ln/>
        </p:spPr>
        <p:txBody>
          <a:bodyPr wrap="square" lIns="0" tIns="0" rIns="0" bIns="0" rtlCol="0" anchor="ctr"/>
          <a:lstStyle/>
          <a:p>
            <a:pPr marL="0" indent="0" algn="ctr">
              <a:buNone/>
            </a:pPr>
            <a:r>
              <a:rPr lang="en-US" sz="1400" dirty="0">
                <a:solidFill>
                  <a:schemeClr val="bg1"/>
                </a:solidFill>
              </a:rPr>
              <a:t>Faster, parallel voting</a:t>
            </a:r>
            <a:endParaRPr lang="en-US" sz="1400" dirty="0"/>
          </a:p>
        </p:txBody>
      </p:sp>
      <p:sp>
        <p:nvSpPr>
          <p:cNvPr id="18" name="Shape 16"/>
          <p:cNvSpPr/>
          <p:nvPr/>
        </p:nvSpPr>
        <p:spPr>
          <a:xfrm>
            <a:off x="3886200" y="5056632"/>
            <a:ext cx="3154680" cy="475488"/>
          </a:xfrm>
          <a:prstGeom prst="roundRect">
            <a:avLst>
              <a:gd name="adj" fmla="val 50000"/>
            </a:avLst>
          </a:prstGeom>
          <a:solidFill>
            <a:schemeClr val="bg1">
              <a:alpha val="12000"/>
            </a:schemeClr>
          </a:solidFill>
          <a:ln w="9525">
            <a:solidFill>
              <a:srgbClr val="C7D2FE"/>
            </a:solidFill>
            <a:prstDash val="solid"/>
          </a:ln>
        </p:spPr>
      </p:sp>
      <p:sp>
        <p:nvSpPr>
          <p:cNvPr id="19" name="Text 17"/>
          <p:cNvSpPr txBox="1"/>
          <p:nvPr/>
        </p:nvSpPr>
        <p:spPr>
          <a:xfrm>
            <a:off x="3886200" y="5056632"/>
            <a:ext cx="3154680" cy="475488"/>
          </a:xfrm>
          <a:prstGeom prst="rect">
            <a:avLst/>
          </a:prstGeom>
          <a:noFill/>
          <a:ln/>
        </p:spPr>
        <p:txBody>
          <a:bodyPr wrap="square" lIns="0" tIns="0" rIns="0" bIns="0" rtlCol="0" anchor="ctr"/>
          <a:lstStyle/>
          <a:p>
            <a:pPr marL="0" indent="0" algn="ctr">
              <a:buNone/>
            </a:pPr>
            <a:r>
              <a:rPr lang="en-US" sz="1400" dirty="0">
                <a:solidFill>
                  <a:schemeClr val="bg1"/>
                </a:solidFill>
              </a:rPr>
              <a:t>Mobile camera OCR</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7D2FE"/>
                </a:solidFill>
              </a:defRPr>
            </a:lvl1pPr>
          </a:lstStyle>
          <a:p>
            <a:pPr algn="r"/>
            <a:fld id="{F7021451-1387-4CA6-816F-3879F97B5CBC}" type="slidenum">
              <a:rPr lang="en-US" b="0"/>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theme/theme1.xml><?xml version="1.0" encoding="utf-8"?>
<a:theme xmlns:a="http://schemas.openxmlformats.org/drawingml/2006/main" name="DeepOCR">
  <a:themeElements>
    <a:clrScheme name="DeepOCR">
      <a:dk1>
        <a:srgbClr val="101828"/>
      </a:dk1>
      <a:lt1>
        <a:srgbClr val="FFFFFF"/>
      </a:lt1>
      <a:dk2>
        <a:srgbClr val="1E1B4B"/>
      </a:dk2>
      <a:lt2>
        <a:srgbClr val="F4F5F8"/>
      </a:lt2>
      <a:accent1>
        <a:srgbClr val="4F46E5"/>
      </a:accent1>
      <a:accent2>
        <a:srgbClr val="F79009"/>
      </a:accent2>
      <a:accent3>
        <a:srgbClr val="16B364"/>
      </a:accent3>
      <a:accent4>
        <a:srgbClr val="7A5AF8"/>
      </a:accent4>
      <a:accent5>
        <a:srgbClr val="0BA5EC"/>
      </a:accent5>
      <a:accent6>
        <a:srgbClr val="667085"/>
      </a:accent6>
      <a:hlink>
        <a:srgbClr val="4F46E5"/>
      </a:hlink>
      <a:folHlink>
        <a:srgbClr val="7A5AF8"/>
      </a:folHlink>
    </a:clrScheme>
    <a:fontScheme name="DeepOCR">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2044</Words>
  <Application>Microsoft Office PowerPoint</Application>
  <PresentationFormat>Widescreen</PresentationFormat>
  <Paragraphs>254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Segoe UI</vt:lpstr>
      <vt:lpstr>Segoe UI Semibold</vt:lpstr>
      <vt:lpstr>DeepOCR</vt:lpstr>
      <vt:lpstr>DeepOCR</vt:lpstr>
      <vt:lpstr>Why OCR still fails on real documents</vt:lpstr>
      <vt:lpstr>Objectives from the project proposal</vt:lpstr>
      <vt:lpstr>System overview: an eight-stage pipeline</vt:lpstr>
      <vt:lpstr>Data: real handwriting plus synthetic print</vt:lpstr>
      <vt:lpstr>Cleaning the page before reading it</vt:lpstr>
      <vt:lpstr>Three models, from baseline to Transformer</vt:lpstr>
      <vt:lpstr>Training and fine-tuning on a laptop CPU</vt:lpstr>
      <vt:lpstr>Key idea: let five models vote on every word</vt:lpstr>
      <vt:lpstr>Results on 600 held-out lines per test set</vt:lpstr>
      <vt:lpstr>Voting removes errors even the best model makes</vt:lpstr>
      <vt:lpstr>Robust to noise, and deskewing fixes rotation</vt:lpstr>
      <vt:lpstr>Layout analysis: from page image to structure</vt:lpstr>
      <vt:lpstr>The DeepOCR studio: review instead of retyping</vt:lpstr>
      <vt:lpstr>Conclusion and future 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DeepOCR: Deep Learning-Based Intelligent OCR System</dc:title>
  <dc:subject>Project presentation</dc:subject>
  <dc:creator>PptxGenJS</dc:creator>
  <cp:lastModifiedBy>Nalin Sharma</cp:lastModifiedBy>
  <cp:revision>2</cp:revision>
  <dcterms:created xsi:type="dcterms:W3CDTF">2026-10-26T16:36:36Z</dcterms:created>
  <dcterms:modified xsi:type="dcterms:W3CDTF">2026-10-26T16:36:37Z</dcterms:modified>
</cp:coreProperties>
</file>